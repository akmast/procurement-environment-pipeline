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title slide. The project connects three open European datasets — public procurement (TED), air quality (EEA), and regional agriculture (Eurostat) — for Germany and Poland, built and deployed on AWS. The core problem: public money is supposed to respond to regional environmental and economic needs, but the evidence needed to check that lives in three unrelated systems, each with its own API, format, region granularity, and update cadence. The goal of this project is a reproducible cloud pipeline that joins these into one queryable, regionally-comparable dataset — not to prove causation, but to make the evidence comparable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kinds of users benefit from combining these datasets: public authorities doing regional planning, environmental agencies tracking pollution, agricultural analysts, procurement teams, cross-domain researchers, and NGOs doing public oversight. Together they ask four recurring questions: where air quality is worse, where farm activity is strongest, where green-labeled spending actually goes, and whether spending lines up with regional need. The important caveat, worth stating out loud: this dashboard shows regional patterns side by side — it does not prove that one variable caused another. A region with both high spending and poor air quality is a pattern worth investigating, not proof of failure or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Answering the four questions from the previous slide means pulling from three genuinely different systems. EEA publishes air-quality measurements as day-by-station-by-pollutant Parquet files behind a file-URL API — we request PM10 and PM2.5 for Germany and Poland. TED, the EU's public procurement portal, returns one JSON notice per contract award via a search API; we flatten that into JSONL. Eurostat's regional agriculture accounts come back as a JSON-stat 2.0 data cube — a flat value array plus dimension sizes that have to be decoded into row coordinates before they're usable, shown in the code sample as size/value. Each source also differs in region granularity, update cadence, and how 'the same data' is versioned. The statistics shown are the current ingested snapshot for DE/PL, not the full extent of either API — some national-only or broad-region data, and older archived releases, are deliberately out of scope for this MVP. The visible request/response samples here are shortened for space; exact field names are verified against the ingestion code in docs/pipelines/*.md.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source moves through the same four-layer model before it reaches the dashboard. Raw keeps exactly what the API returned, for fidelity and replay. Normalized renames fields and fixes types so every source looks structurally similar. Transformed joins in reference data — for EEA that means station location and NUTS1 through NUTS3 codes; for TED it means NUTS and CPV labels. Gold is the layer the dashboard actually queries: one fixed, documented schema per source, in S3 as Parquet. Eurostat skips the Transformed step entirely — its normalization step already produces analysis-ready rows, so its Gold build reads straight from Normalized; that's a real property of this pipeline, not a simplification for the slide. Everything left of Dashboard is plain Python running in Docker on AWS, deployed by Terraform through GitHub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deploy.yml workflow, triggered on every push to main after a PR merges — never on a schedule, and it never starts an actual pipeline run. GitHub Actions authenticates to AWS using OIDC — no long-lived access keys stored anywhere. It runs terraform fmt/validate/plan for a preview, ensures the ECR repository exists, builds and pushes the Docker image tagged by the 12-character short Git commit SHA, applies the GitHub deploy role's own IAM policy first to avoid a permission race on IAM cleanup, then runs the real terraform apply, which registers a new ECS task definition revision pointing at that exact image tag and creates or updates every other AWS resource. It's important the audience understands the distinction: this workflow only deploys infrastructure and code. Running Bootstrap, Historical, or Update — the pipelines that actually download and process data — is a separate, manual step covered on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runtime contract every single stage in this pipeline follows, no matter which source or stage it is. Step Functions doesn't run any Python itself — it calls ecs:RunTask.sync, which starts one temporary Fargate task, pulls the versioned image from ECR, and overrides its command to run main.py stage with exactly one source, one stage, and the run's run_id. That Python module reads its input from S3 (often via the previous stage's own manifest), processes it, and writes its output back to S3 — the large data itself never touches Step Functions or passes through any orchestration layer. What comes back is a StageResult, written to S3 as a small JSON manifest at runs/&lt;run_id&gt;/&lt;source&gt;/&lt;stage&gt;.json — this is the field names actually used in the code: written_paths is what the next stage reads to know exactly which files changed. The container then exits and Step Functions moves to the next state. There's no persistent compute anywhere in this design — no EC2, no Lambda, no long-running ECS service — and the network is outbound-only: public subnet, public IP only for the few minutes the task runs, zero inbound rules, no NAT Gateway, which is a deliberate cost trade-off documented in the architecture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Historical or Update can process any real data, three pieces of shared reference data must exist: NUTS3 region boundaries, TED's eForms codelists (notice type, CPV, NUTS, currency, country and others), and EEA station metadata enriched with those same NUTS boundaries. BootstrapReferenceStateMachine runs these three branches in parallel, manually, only when needed — this is rare, since reference data changes infrequently. NUTS and codelist ingestion use content-hash comparison: download, validate, hash, and only promote the file if its content actually changed. Station transformation is the one step here that mirrors the main data pipeline's own Transformed layer — it joins station coordinates against the NUTS boundaries to add location and NUTS1 through NUTS3. At the end, WriteBootstrapManifest re-checks the real S3 state — not just whether each branch reported success — and writes system/bootstrap/reference/latest.json with status COMPLETE or INCOMPLETE. Historical and Update both refuse to run at all if this manifest isn't COMPLETE, which is why this has to happen first. Every RUN module name is shown once, in each lane's own header, since the same file runs every stage in that 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HistoricalStateMachine is the manual backfill controller. Its input names which source families to run, the country list, and the year range; it first confirms bootstrap is COMPLETE, then either generates a fresh run_id or reuses one supplied for a resume. The three source branches run fully in parallel and are independent — one failing doesn't stop the others. Each branch's stages are exactly the sequence from the architecture slide: EEA and TED both run ingestion, normalization, transformation, then Gold; Eurostat skips transformation entirely and goes straight from normalization to Gold, since its normalized rows are already analysis-ready — that's a real, current property of the code, not a placeholder. Gold at the end of each branch is invoked with --discover, meaning it rebuilds that source's whole Gold table from every currently normalized/transformed file — this is the historical backfill path, so a full rebuild is what's wanted. Every stage writes its own manifest to S3 keyed by run_id, source, and stage name; that manifest is exactly what makes the resume feature on the next slide's operational sibling possible. The branch merges into EvaluateOverallStatus, which fails the whole run if any one branch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is what the monthly schedule runs, and it's the slide that shows these three sources are not interchangeable. EEA and Eurostat both redownload a bounded set of years and compare content by SHA-256 hash against a stored state file — identical content is skipped, changed content replaces the file in place. EEA's refresh window follows the real reporting deadline: the current year is always re-checked, and the prior year stays in scope only until its own 30 September reporting deadline passes. TED works completely differently, because it's an append-only notice stream, not a redownloadable snapshot: it reads a per-country cursor, last_successful_run_date, and queries strictly for publication-date greater than or equal to that cursor — deliberately inclusive, so overlap is expected and handled by deduplicating on publication-number, never by trusting the cursor to be exact. The cursor itself only advances after a fully successful run; a failed run leaves it untouched so nothing is silently skipped next time. In every lane, the same rule governs Gold: no changed paths this run means Gold is skipped for that source; any changed paths trigger the same automatic Gold rebuild used in Historical — never a separate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is the layer the dashboard actually touches — one fixed, documented schema per source, always in S3 as Parquet. Each source's own Gold builder reads its own precursor: EEA and TED read their Transformed output, Eurostat reads Normalized directly since it has no Transformed layer. Every Gold table is one schema, required columns only, stable names and types, with exact duplicate rows removed — that's what makes it dashboard-ready rather than just 'the latest processed data.' The columns shown here are the real columns from the current Gold tables, not illustrative examples — verified against the Terraform Glue table definitions. One thing worth saying explicitly, since it surprises people who've seen other versions of this architecture: there is no separate Gold state machine. Gold always runs as the last automatic step inside HistoricalStateMachine and UpdateStateMachine, right after each source's last data stage — never a separate orchestration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Glue and Athena turn the Gold Parquet files into ordinary SQL tables without ever moving or copying the data. Terraform defines the Glue Catalog explicitly — one database, procurement_gold by default, and three external tables, one per source, each pointing straight at that source's Gold folder in S3. This is a deliberate choice over a Glue Crawler: every Gold build already produces one fixed, fully-documented schema, so a crawler would only add ongoing cost and IAM surface for schema inference this project doesn't need. If a Gold column ever changes, the matching Glue table has to be updated in the same change, or queries silently return nulls or wrong types instead of erroring. Athena is a single serverless workgroup over that catalog — no cluster to provision or pay for when nobody's querying. Query results land in the same data bucket, under athena-results/, with a lifecycle rule that expires them automatically. Cost is purely pay-per-query, based on how much data that query actually scans.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Metabase runs entirely locally, in Docker — this is the boundary between the AWS-hosted analytics stack and the visualization layer on someone's own machine. It authenticates to Athena using the operator's existing local AWS CLI or SSO profile, mounted into the container read-only; there are no static access keys baked into the image or the compose file, just the standard AWS credentials provider chain. The dashboard mockup shown here is illustrative — a single Country filter driving four views that are each backed directly by one Gold table's own columns: air quality by month and pollutant from EEA, tender count and procurement value by month from TED, and top agricultural items or NUTS2 regions from Eurostat. Nothing about Metabase changes the data itself — Gold stays in S3 exactly as Historical/Update wrote it; Metabase only reads it through Athena. It's started and stopped manually, has no public endpoint, and its own state — saved questions, dashboards — lives in a Docker volume, separate from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current numbers in this dataset, not projections. 54,099 EEA measurement rows, 61,794 TED notices, 27,585 Eurostat rows, and zero duplicate rows across all three Gold tables — that's the exact-duplicate check working as designed. Coverage is genuinely uneven: Poland's EEA coverage is much thinner than Germany's, since fewer stations are currently ingested there; Eurostat is missing 2022 for Poland specifically, not for Germany. TED's 41,231 rows with a null somewhere is expected, not a pipeline failure — those are almost entirely the contract_total_value/contract_currency_code fields, and TED notices genuinely omit contract value information often (about a third of TED rows have a missing currency, PLN and EUR dominate what is filled in). The EEA Gold table currently holds only PM10 and PM2.5, not NO2/O3/SO2 yet, even though those pollutants exist in the source API — that's a scope decision for this MVP, not a bug. And to repeat the caveat from earlier: everything here supports pattern comparison across regions, never a causal claim about what drove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project takes open EU data and turns it into a reproducible cloud pipeline, adds regional analytical context by joining NUTS geography across all three sources, and surfaces that through a local dashboard. What exists today is a real, working MVP for Germany and Poland — not a mockup. The honest next steps: more countries, the remaining EEA pollutants (NO2, O3, SO2 are in the source API but not yet in Gold), map-based NUTS visualizations instead of just tables, stronger automated data-quality monitoring, testing whether the three sources actually agree with each other at a regional level, and eventually adding water and soil indicators alongside air quality. The QR codes are placeholders — swap them for real links to the repository and profile before sharing this deck externally. The closing line is deliberately the takeaway, not a generic thank-you: better evidence, for better regional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D96C4F"/>
                </a:solidFill>
                <a:latin typeface="Courier New" pitchFamily="34" charset="0"/>
                <a:ea typeface="Courier New" pitchFamily="34" charset="-122"/>
                <a:cs typeface="Courier New" pitchFamily="34" charset="-120"/>
              </a:rPr>
              <a:t>01</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84048"/>
            <a:ext cx="11430000" cy="685800"/>
          </a:xfrm>
          <a:prstGeom prst="rect">
            <a:avLst/>
          </a:prstGeom>
          <a:noFill/>
          <a:ln/>
        </p:spPr>
        <p:txBody>
          <a:bodyPr wrap="square" lIns="0" tIns="0" rIns="0" bIns="0" rtlCol="0" anchor="ctr"/>
          <a:lstStyle/>
          <a:p>
            <a:pPr indent="0" marL="0">
              <a:buNone/>
            </a:pPr>
            <a:r>
              <a:rPr lang="en-US" sz="5000" b="1" dirty="0">
                <a:solidFill>
                  <a:srgbClr val="26352F"/>
                </a:solidFill>
                <a:latin typeface="Calibri" pitchFamily="34" charset="0"/>
                <a:ea typeface="Calibri" pitchFamily="34" charset="-122"/>
                <a:cs typeface="Calibri" pitchFamily="34" charset="-120"/>
              </a:rPr>
              <a:t>Procurement &amp; Environment</a:t>
            </a:r>
            <a:endParaRPr lang="en-US" sz="5000" dirty="0"/>
          </a:p>
        </p:txBody>
      </p:sp>
      <p:sp>
        <p:nvSpPr>
          <p:cNvPr id="5" name="Text 3"/>
          <p:cNvSpPr txBox="1"/>
          <p:nvPr/>
        </p:nvSpPr>
        <p:spPr>
          <a:xfrm>
            <a:off x="365760" y="1024128"/>
            <a:ext cx="11430000" cy="685800"/>
          </a:xfrm>
          <a:prstGeom prst="rect">
            <a:avLst/>
          </a:prstGeom>
          <a:noFill/>
          <a:ln/>
        </p:spPr>
        <p:txBody>
          <a:bodyPr wrap="square" lIns="0" tIns="0" rIns="0" bIns="0" rtlCol="0" anchor="ctr"/>
          <a:lstStyle/>
          <a:p>
            <a:pPr indent="0" marL="0">
              <a:buNone/>
            </a:pPr>
            <a:r>
              <a:rPr lang="en-US" sz="5000" b="1" dirty="0">
                <a:solidFill>
                  <a:srgbClr val="D96C4F"/>
                </a:solidFill>
                <a:latin typeface="Calibri" pitchFamily="34" charset="0"/>
                <a:ea typeface="Calibri" pitchFamily="34" charset="-122"/>
                <a:cs typeface="Calibri" pitchFamily="34" charset="-120"/>
              </a:rPr>
              <a:t>Data Pipeline</a:t>
            </a:r>
            <a:endParaRPr lang="en-US" sz="5000" dirty="0"/>
          </a:p>
        </p:txBody>
      </p:sp>
      <p:sp>
        <p:nvSpPr>
          <p:cNvPr id="6" name="Text 4"/>
          <p:cNvSpPr txBox="1"/>
          <p:nvPr/>
        </p:nvSpPr>
        <p:spPr>
          <a:xfrm>
            <a:off x="365760" y="1755648"/>
            <a:ext cx="11430000" cy="329184"/>
          </a:xfrm>
          <a:prstGeom prst="rect">
            <a:avLst/>
          </a:prstGeom>
          <a:noFill/>
          <a:ln/>
        </p:spPr>
        <p:txBody>
          <a:bodyPr wrap="square" lIns="0" tIns="0" rIns="0" bIns="0" rtlCol="0" anchor="ctr"/>
          <a:lstStyle/>
          <a:p>
            <a:pPr indent="0" marL="0">
              <a:buNone/>
            </a:pPr>
            <a:r>
              <a:rPr lang="en-US" sz="1800" dirty="0">
                <a:solidFill>
                  <a:srgbClr val="26352F"/>
                </a:solidFill>
                <a:latin typeface="Calibri" pitchFamily="34" charset="0"/>
                <a:ea typeface="Calibri" pitchFamily="34" charset="-122"/>
                <a:cs typeface="Calibri" pitchFamily="34" charset="-120"/>
              </a:rPr>
              <a:t>Public spending  ·  Air quality  ·  Agriculture</a:t>
            </a:r>
            <a:endParaRPr lang="en-US" sz="1800" dirty="0"/>
          </a:p>
        </p:txBody>
      </p:sp>
      <p:sp>
        <p:nvSpPr>
          <p:cNvPr id="7" name="Text 5"/>
          <p:cNvSpPr txBox="1"/>
          <p:nvPr/>
        </p:nvSpPr>
        <p:spPr>
          <a:xfrm>
            <a:off x="365760" y="2066544"/>
            <a:ext cx="11430000" cy="310896"/>
          </a:xfrm>
          <a:prstGeom prst="rect">
            <a:avLst/>
          </a:prstGeom>
          <a:noFill/>
          <a:ln/>
        </p:spPr>
        <p:txBody>
          <a:bodyPr wrap="square" lIns="0" tIns="0" rIns="0" bIns="0" rtlCol="0" anchor="ctr"/>
          <a:lstStyle/>
          <a:p>
            <a:pPr indent="0" marL="0">
              <a:buNone/>
            </a:pPr>
            <a:r>
              <a:rPr lang="en-US" sz="1800" dirty="0">
                <a:solidFill>
                  <a:srgbClr val="5B6C64"/>
                </a:solidFill>
                <a:latin typeface="Calibri" pitchFamily="34" charset="0"/>
                <a:ea typeface="Calibri" pitchFamily="34" charset="-122"/>
                <a:cs typeface="Calibri" pitchFamily="34" charset="-120"/>
              </a:rPr>
              <a:t>Germany  ·  Poland  ·  AWS</a:t>
            </a:r>
            <a:endParaRPr lang="en-US" sz="1800" dirty="0"/>
          </a:p>
        </p:txBody>
      </p:sp>
      <p:sp>
        <p:nvSpPr>
          <p:cNvPr id="8" name="Shape 6"/>
          <p:cNvSpPr/>
          <p:nvPr/>
        </p:nvSpPr>
        <p:spPr>
          <a:xfrm>
            <a:off x="365760" y="2606040"/>
            <a:ext cx="3429000" cy="716280"/>
          </a:xfrm>
          <a:prstGeom prst="roundRect">
            <a:avLst>
              <a:gd name="adj" fmla="val 12766"/>
            </a:avLst>
          </a:prstGeom>
          <a:solidFill>
            <a:srgbClr val="D7F4DE"/>
          </a:solidFill>
          <a:ln/>
        </p:spPr>
      </p:sp>
      <p:sp>
        <p:nvSpPr>
          <p:cNvPr id="9" name="Shape 7"/>
          <p:cNvSpPr/>
          <p:nvPr/>
        </p:nvSpPr>
        <p:spPr>
          <a:xfrm>
            <a:off x="530352" y="2770632"/>
            <a:ext cx="3099816" cy="0"/>
          </a:xfrm>
          <a:prstGeom prst="line">
            <a:avLst/>
          </a:prstGeom>
          <a:noFill/>
          <a:ln w="19050">
            <a:solidFill>
              <a:srgbClr val="9CC79F"/>
            </a:solidFill>
            <a:prstDash val="solid"/>
          </a:ln>
        </p:spPr>
      </p:sp>
      <p:sp>
        <p:nvSpPr>
          <p:cNvPr id="10" name="Shape 8"/>
          <p:cNvSpPr/>
          <p:nvPr/>
        </p:nvSpPr>
        <p:spPr>
          <a:xfrm>
            <a:off x="530352" y="2898648"/>
            <a:ext cx="3099816" cy="0"/>
          </a:xfrm>
          <a:prstGeom prst="line">
            <a:avLst/>
          </a:prstGeom>
          <a:noFill/>
          <a:ln w="19050">
            <a:solidFill>
              <a:srgbClr val="9CC79F"/>
            </a:solidFill>
            <a:prstDash val="solid"/>
          </a:ln>
        </p:spPr>
      </p:sp>
      <p:sp>
        <p:nvSpPr>
          <p:cNvPr id="11" name="Shape 9"/>
          <p:cNvSpPr/>
          <p:nvPr/>
        </p:nvSpPr>
        <p:spPr>
          <a:xfrm>
            <a:off x="530352" y="3026664"/>
            <a:ext cx="3099816" cy="0"/>
          </a:xfrm>
          <a:prstGeom prst="line">
            <a:avLst/>
          </a:prstGeom>
          <a:noFill/>
          <a:ln w="19050">
            <a:solidFill>
              <a:srgbClr val="9CC79F"/>
            </a:solidFill>
            <a:prstDash val="solid"/>
          </a:ln>
        </p:spPr>
      </p:sp>
      <p:sp>
        <p:nvSpPr>
          <p:cNvPr id="12" name="Shape 10"/>
          <p:cNvSpPr/>
          <p:nvPr/>
        </p:nvSpPr>
        <p:spPr>
          <a:xfrm>
            <a:off x="530352" y="3154680"/>
            <a:ext cx="3099816" cy="0"/>
          </a:xfrm>
          <a:prstGeom prst="line">
            <a:avLst/>
          </a:prstGeom>
          <a:noFill/>
          <a:ln w="19050">
            <a:solidFill>
              <a:srgbClr val="9CC79F"/>
            </a:solidFill>
            <a:prstDash val="solid"/>
          </a:ln>
        </p:spPr>
      </p:sp>
      <p:sp>
        <p:nvSpPr>
          <p:cNvPr id="13" name="Text 11"/>
          <p:cNvSpPr txBox="1"/>
          <p:nvPr/>
        </p:nvSpPr>
        <p:spPr>
          <a:xfrm>
            <a:off x="475488" y="2993136"/>
            <a:ext cx="3209544" cy="256032"/>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Dry field</a:t>
            </a:r>
            <a:endParaRPr lang="en-US" sz="1600" dirty="0"/>
          </a:p>
        </p:txBody>
      </p:sp>
      <p:sp>
        <p:nvSpPr>
          <p:cNvPr id="14" name="Shape 12"/>
          <p:cNvSpPr/>
          <p:nvPr/>
        </p:nvSpPr>
        <p:spPr>
          <a:xfrm>
            <a:off x="365760" y="3413760"/>
            <a:ext cx="3429000" cy="716280"/>
          </a:xfrm>
          <a:prstGeom prst="roundRect">
            <a:avLst>
              <a:gd name="adj" fmla="val 12766"/>
            </a:avLst>
          </a:prstGeom>
          <a:solidFill>
            <a:srgbClr val="FFD9B8"/>
          </a:solidFill>
          <a:ln/>
        </p:spPr>
      </p:sp>
      <p:sp>
        <p:nvSpPr>
          <p:cNvPr id="15" name="Shape 13"/>
          <p:cNvSpPr/>
          <p:nvPr/>
        </p:nvSpPr>
        <p:spPr>
          <a:xfrm>
            <a:off x="548640" y="3690976"/>
            <a:ext cx="237744" cy="109880"/>
          </a:xfrm>
          <a:prstGeom prst="rect">
            <a:avLst/>
          </a:prstGeom>
          <a:solidFill>
            <a:srgbClr val="F2B98A"/>
          </a:solidFill>
          <a:ln/>
        </p:spPr>
      </p:sp>
      <p:sp>
        <p:nvSpPr>
          <p:cNvPr id="16" name="Shape 14"/>
          <p:cNvSpPr/>
          <p:nvPr/>
        </p:nvSpPr>
        <p:spPr>
          <a:xfrm>
            <a:off x="841248" y="3628187"/>
            <a:ext cx="237744" cy="172669"/>
          </a:xfrm>
          <a:prstGeom prst="rect">
            <a:avLst/>
          </a:prstGeom>
          <a:solidFill>
            <a:srgbClr val="F2B98A"/>
          </a:solidFill>
          <a:ln/>
        </p:spPr>
      </p:sp>
      <p:sp>
        <p:nvSpPr>
          <p:cNvPr id="17" name="Shape 15"/>
          <p:cNvSpPr/>
          <p:nvPr/>
        </p:nvSpPr>
        <p:spPr>
          <a:xfrm>
            <a:off x="1133856" y="3565398"/>
            <a:ext cx="237744" cy="235458"/>
          </a:xfrm>
          <a:prstGeom prst="rect">
            <a:avLst/>
          </a:prstGeom>
          <a:solidFill>
            <a:srgbClr val="F2B98A"/>
          </a:solidFill>
          <a:ln/>
        </p:spPr>
      </p:sp>
      <p:sp>
        <p:nvSpPr>
          <p:cNvPr id="18" name="Shape 16"/>
          <p:cNvSpPr/>
          <p:nvPr/>
        </p:nvSpPr>
        <p:spPr>
          <a:xfrm>
            <a:off x="1426464" y="3486912"/>
            <a:ext cx="237744" cy="313944"/>
          </a:xfrm>
          <a:prstGeom prst="rect">
            <a:avLst/>
          </a:prstGeom>
          <a:solidFill>
            <a:srgbClr val="F2B98A"/>
          </a:solidFill>
          <a:ln/>
        </p:spPr>
      </p:sp>
      <p:sp>
        <p:nvSpPr>
          <p:cNvPr id="19" name="Shape 17"/>
          <p:cNvSpPr/>
          <p:nvPr/>
        </p:nvSpPr>
        <p:spPr>
          <a:xfrm>
            <a:off x="502920" y="3560064"/>
            <a:ext cx="3154680" cy="0"/>
          </a:xfrm>
          <a:prstGeom prst="line">
            <a:avLst/>
          </a:prstGeom>
          <a:noFill/>
          <a:ln w="38100">
            <a:solidFill>
              <a:srgbClr val="F2E3D2"/>
            </a:solidFill>
            <a:prstDash val="sysDot"/>
          </a:ln>
        </p:spPr>
      </p:sp>
      <p:sp>
        <p:nvSpPr>
          <p:cNvPr id="20" name="Text 18"/>
          <p:cNvSpPr txBox="1"/>
          <p:nvPr/>
        </p:nvSpPr>
        <p:spPr>
          <a:xfrm>
            <a:off x="475488" y="3800856"/>
            <a:ext cx="3209544" cy="256032"/>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City haze</a:t>
            </a:r>
            <a:endParaRPr lang="en-US" sz="1600" dirty="0"/>
          </a:p>
        </p:txBody>
      </p:sp>
      <p:sp>
        <p:nvSpPr>
          <p:cNvPr id="21" name="Shape 19"/>
          <p:cNvSpPr/>
          <p:nvPr/>
        </p:nvSpPr>
        <p:spPr>
          <a:xfrm>
            <a:off x="365760" y="4221480"/>
            <a:ext cx="3429000" cy="716280"/>
          </a:xfrm>
          <a:prstGeom prst="roundRect">
            <a:avLst>
              <a:gd name="adj" fmla="val 12766"/>
            </a:avLst>
          </a:prstGeom>
          <a:solidFill>
            <a:srgbClr val="CFE8FF"/>
          </a:solidFill>
          <a:ln/>
        </p:spPr>
      </p:sp>
      <p:sp>
        <p:nvSpPr>
          <p:cNvPr id="22" name="Shape 20"/>
          <p:cNvSpPr/>
          <p:nvPr/>
        </p:nvSpPr>
        <p:spPr>
          <a:xfrm>
            <a:off x="2080260" y="4404360"/>
            <a:ext cx="0" cy="259080"/>
          </a:xfrm>
          <a:prstGeom prst="line">
            <a:avLst/>
          </a:prstGeom>
          <a:noFill/>
          <a:ln w="25400">
            <a:solidFill>
              <a:srgbClr val="315B4C"/>
            </a:solidFill>
            <a:prstDash val="solid"/>
          </a:ln>
        </p:spPr>
      </p:sp>
      <p:sp>
        <p:nvSpPr>
          <p:cNvPr id="23" name="Shape 21"/>
          <p:cNvSpPr/>
          <p:nvPr/>
        </p:nvSpPr>
        <p:spPr>
          <a:xfrm>
            <a:off x="1970532" y="4312920"/>
            <a:ext cx="219456" cy="219456"/>
          </a:xfrm>
          <a:prstGeom prst="ellipse">
            <a:avLst/>
          </a:prstGeom>
          <a:solidFill>
            <a:srgbClr val="315B4C"/>
          </a:solidFill>
          <a:ln/>
        </p:spPr>
      </p:sp>
      <p:sp>
        <p:nvSpPr>
          <p:cNvPr id="24" name="Text 22"/>
          <p:cNvSpPr txBox="1"/>
          <p:nvPr/>
        </p:nvSpPr>
        <p:spPr>
          <a:xfrm>
            <a:off x="475488" y="4608576"/>
            <a:ext cx="3209544" cy="256032"/>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Monitoring station</a:t>
            </a:r>
            <a:endParaRPr lang="en-US" sz="1600" dirty="0"/>
          </a:p>
        </p:txBody>
      </p:sp>
      <p:sp>
        <p:nvSpPr>
          <p:cNvPr id="25" name="Shape 23"/>
          <p:cNvSpPr/>
          <p:nvPr/>
        </p:nvSpPr>
        <p:spPr>
          <a:xfrm>
            <a:off x="4023360" y="2606040"/>
            <a:ext cx="3886200" cy="2331720"/>
          </a:xfrm>
          <a:prstGeom prst="roundRect">
            <a:avLst>
              <a:gd name="adj" fmla="val 4706"/>
            </a:avLst>
          </a:prstGeom>
          <a:solidFill>
            <a:srgbClr val="FFFFFF"/>
          </a:solidFill>
          <a:ln w="12700">
            <a:solidFill>
              <a:srgbClr val="D8D3C6"/>
            </a:solidFill>
            <a:prstDash val="solid"/>
          </a:ln>
          <a:effectLst>
            <a:outerShdw sx="100000" sy="100000" kx="0" ky="0" algn="bl" rotWithShape="0" blurRad="76200" dist="25400" dir="5400000">
              <a:srgbClr val="999999">
                <a:alpha val="18000"/>
              </a:srgbClr>
            </a:outerShdw>
          </a:effectLst>
        </p:spPr>
      </p:sp>
      <p:sp>
        <p:nvSpPr>
          <p:cNvPr id="26" name="Text 24"/>
          <p:cNvSpPr txBox="1"/>
          <p:nvPr/>
        </p:nvSpPr>
        <p:spPr>
          <a:xfrm>
            <a:off x="4279392" y="2825496"/>
            <a:ext cx="3429000" cy="292608"/>
          </a:xfrm>
          <a:prstGeom prst="rect">
            <a:avLst/>
          </a:prstGeom>
          <a:noFill/>
          <a:ln/>
        </p:spPr>
        <p:txBody>
          <a:bodyPr wrap="square" lIns="0" tIns="0" rIns="0" bIns="0" rtlCol="0" anchor="ctr"/>
          <a:lstStyle/>
          <a:p>
            <a:pPr indent="0" marL="0">
              <a:buNone/>
            </a:pPr>
            <a:r>
              <a:rPr lang="en-US" sz="1600" b="1" spc="150" kern="0" dirty="0">
                <a:solidFill>
                  <a:srgbClr val="D96C4F"/>
                </a:solidFill>
                <a:latin typeface="Calibri" pitchFamily="34" charset="0"/>
                <a:ea typeface="Calibri" pitchFamily="34" charset="-122"/>
                <a:cs typeface="Calibri" pitchFamily="34" charset="-120"/>
              </a:rPr>
              <a:t>THE PROBLEM</a:t>
            </a:r>
            <a:endParaRPr lang="en-US" sz="1600" dirty="0"/>
          </a:p>
        </p:txBody>
      </p:sp>
      <p:sp>
        <p:nvSpPr>
          <p:cNvPr id="27" name="Text 25"/>
          <p:cNvSpPr txBox="1"/>
          <p:nvPr/>
        </p:nvSpPr>
        <p:spPr>
          <a:xfrm>
            <a:off x="4279392" y="3227832"/>
            <a:ext cx="3429000" cy="777240"/>
          </a:xfrm>
          <a:prstGeom prst="rect">
            <a:avLst/>
          </a:prstGeom>
          <a:noFill/>
          <a:ln/>
        </p:spPr>
        <p:txBody>
          <a:bodyPr wrap="square" lIns="0" tIns="0" rIns="0" bIns="0" rtlCol="0" anchor="t"/>
          <a:lstStyle/>
          <a:p>
            <a:pPr algn="l" indent="0" marL="0">
              <a:lnSpc>
                <a:spcPct val="115000"/>
              </a:lnSpc>
              <a:buNone/>
            </a:pPr>
            <a:r>
              <a:rPr lang="en-US" sz="2000" b="1" dirty="0">
                <a:solidFill>
                  <a:srgbClr val="26352F"/>
                </a:solidFill>
                <a:latin typeface="Calibri" pitchFamily="34" charset="0"/>
                <a:ea typeface="Calibri" pitchFamily="34" charset="-122"/>
                <a:cs typeface="Calibri" pitchFamily="34" charset="-120"/>
              </a:rPr>
              <a:t>Public money must meet regional needs.</a:t>
            </a:r>
            <a:endParaRPr lang="en-US" sz="2000" dirty="0"/>
          </a:p>
        </p:txBody>
      </p:sp>
      <p:sp>
        <p:nvSpPr>
          <p:cNvPr id="28" name="Text 26"/>
          <p:cNvSpPr txBox="1"/>
          <p:nvPr/>
        </p:nvSpPr>
        <p:spPr>
          <a:xfrm>
            <a:off x="4279392" y="4114800"/>
            <a:ext cx="3429000" cy="777240"/>
          </a:xfrm>
          <a:prstGeom prst="rect">
            <a:avLst/>
          </a:prstGeom>
          <a:noFill/>
          <a:ln/>
        </p:spPr>
        <p:txBody>
          <a:bodyPr wrap="square" lIns="0" tIns="0" rIns="0" bIns="0" rtlCol="0" anchor="t"/>
          <a:lstStyle/>
          <a:p>
            <a:pPr algn="l" indent="0" marL="0">
              <a:lnSpc>
                <a:spcPct val="115000"/>
              </a:lnSpc>
              <a:buNone/>
            </a:pPr>
            <a:r>
              <a:rPr lang="en-US" sz="2000" b="1" dirty="0">
                <a:solidFill>
                  <a:srgbClr val="D96C4F"/>
                </a:solidFill>
                <a:latin typeface="Calibri" pitchFamily="34" charset="0"/>
                <a:ea typeface="Calibri" pitchFamily="34" charset="-122"/>
                <a:cs typeface="Calibri" pitchFamily="34" charset="-120"/>
              </a:rPr>
              <a:t>The evidence is split across systems.</a:t>
            </a:r>
            <a:endParaRPr lang="en-US" sz="2000" dirty="0"/>
          </a:p>
        </p:txBody>
      </p:sp>
      <p:sp>
        <p:nvSpPr>
          <p:cNvPr id="29" name="Shape 27"/>
          <p:cNvSpPr/>
          <p:nvPr/>
        </p:nvSpPr>
        <p:spPr>
          <a:xfrm>
            <a:off x="8503920" y="2606040"/>
            <a:ext cx="3429000" cy="716280"/>
          </a:xfrm>
          <a:prstGeom prst="roundRect">
            <a:avLst>
              <a:gd name="adj" fmla="val 12766"/>
            </a:avLst>
          </a:prstGeom>
          <a:solidFill>
            <a:srgbClr val="DDD8FF"/>
          </a:solidFill>
          <a:ln/>
        </p:spPr>
      </p:sp>
      <p:sp>
        <p:nvSpPr>
          <p:cNvPr id="30" name="Shape 28"/>
          <p:cNvSpPr/>
          <p:nvPr/>
        </p:nvSpPr>
        <p:spPr>
          <a:xfrm>
            <a:off x="9925812" y="2734056"/>
            <a:ext cx="585216" cy="310896"/>
          </a:xfrm>
          <a:prstGeom prst="triangle">
            <a:avLst/>
          </a:prstGeom>
          <a:solidFill>
            <a:srgbClr val="B7B0EA"/>
          </a:solidFill>
          <a:ln/>
        </p:spPr>
      </p:sp>
      <p:sp>
        <p:nvSpPr>
          <p:cNvPr id="31" name="Shape 29"/>
          <p:cNvSpPr/>
          <p:nvPr/>
        </p:nvSpPr>
        <p:spPr>
          <a:xfrm>
            <a:off x="9925812" y="3044952"/>
            <a:ext cx="585216" cy="274320"/>
          </a:xfrm>
          <a:prstGeom prst="rect">
            <a:avLst/>
          </a:prstGeom>
          <a:solidFill>
            <a:srgbClr val="C9C4EF"/>
          </a:solidFill>
          <a:ln/>
        </p:spPr>
      </p:sp>
      <p:sp>
        <p:nvSpPr>
          <p:cNvPr id="32" name="Text 30"/>
          <p:cNvSpPr txBox="1"/>
          <p:nvPr/>
        </p:nvSpPr>
        <p:spPr>
          <a:xfrm>
            <a:off x="8613648" y="2993136"/>
            <a:ext cx="3209544" cy="256032"/>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Institution</a:t>
            </a:r>
            <a:endParaRPr lang="en-US" sz="1600" dirty="0"/>
          </a:p>
        </p:txBody>
      </p:sp>
      <p:sp>
        <p:nvSpPr>
          <p:cNvPr id="33" name="Shape 31"/>
          <p:cNvSpPr/>
          <p:nvPr/>
        </p:nvSpPr>
        <p:spPr>
          <a:xfrm>
            <a:off x="8503920" y="3413760"/>
            <a:ext cx="3429000" cy="716280"/>
          </a:xfrm>
          <a:prstGeom prst="roundRect">
            <a:avLst>
              <a:gd name="adj" fmla="val 12766"/>
            </a:avLst>
          </a:prstGeom>
          <a:solidFill>
            <a:srgbClr val="FFF0B8"/>
          </a:solidFill>
          <a:ln/>
        </p:spPr>
      </p:sp>
      <p:sp>
        <p:nvSpPr>
          <p:cNvPr id="34" name="Shape 32"/>
          <p:cNvSpPr/>
          <p:nvPr/>
        </p:nvSpPr>
        <p:spPr>
          <a:xfrm>
            <a:off x="9998964" y="3541776"/>
            <a:ext cx="438912" cy="530352"/>
          </a:xfrm>
          <a:prstGeom prst="rect">
            <a:avLst/>
          </a:prstGeom>
          <a:solidFill>
            <a:srgbClr val="FFFFFF"/>
          </a:solidFill>
          <a:ln w="12700">
            <a:solidFill>
              <a:srgbClr val="E6D68F"/>
            </a:solidFill>
            <a:prstDash val="solid"/>
          </a:ln>
        </p:spPr>
      </p:sp>
      <p:sp>
        <p:nvSpPr>
          <p:cNvPr id="35" name="Shape 33"/>
          <p:cNvSpPr/>
          <p:nvPr/>
        </p:nvSpPr>
        <p:spPr>
          <a:xfrm>
            <a:off x="10072116" y="3651504"/>
            <a:ext cx="292608" cy="0"/>
          </a:xfrm>
          <a:prstGeom prst="line">
            <a:avLst/>
          </a:prstGeom>
          <a:noFill/>
          <a:ln w="19050">
            <a:solidFill>
              <a:srgbClr val="D8C471"/>
            </a:solidFill>
            <a:prstDash val="solid"/>
          </a:ln>
        </p:spPr>
      </p:sp>
      <p:sp>
        <p:nvSpPr>
          <p:cNvPr id="36" name="Shape 34"/>
          <p:cNvSpPr/>
          <p:nvPr/>
        </p:nvSpPr>
        <p:spPr>
          <a:xfrm>
            <a:off x="10072116" y="3742944"/>
            <a:ext cx="292608" cy="0"/>
          </a:xfrm>
          <a:prstGeom prst="line">
            <a:avLst/>
          </a:prstGeom>
          <a:noFill/>
          <a:ln w="19050">
            <a:solidFill>
              <a:srgbClr val="D8C471"/>
            </a:solidFill>
            <a:prstDash val="solid"/>
          </a:ln>
        </p:spPr>
      </p:sp>
      <p:sp>
        <p:nvSpPr>
          <p:cNvPr id="37" name="Shape 35"/>
          <p:cNvSpPr/>
          <p:nvPr/>
        </p:nvSpPr>
        <p:spPr>
          <a:xfrm>
            <a:off x="10072116" y="3834384"/>
            <a:ext cx="292608" cy="0"/>
          </a:xfrm>
          <a:prstGeom prst="line">
            <a:avLst/>
          </a:prstGeom>
          <a:noFill/>
          <a:ln w="19050">
            <a:solidFill>
              <a:srgbClr val="D8C471"/>
            </a:solidFill>
            <a:prstDash val="solid"/>
          </a:ln>
        </p:spPr>
      </p:sp>
      <p:sp>
        <p:nvSpPr>
          <p:cNvPr id="38" name="Text 36"/>
          <p:cNvSpPr txBox="1"/>
          <p:nvPr/>
        </p:nvSpPr>
        <p:spPr>
          <a:xfrm>
            <a:off x="8613648" y="3800856"/>
            <a:ext cx="3209544" cy="256032"/>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Contract</a:t>
            </a:r>
            <a:endParaRPr lang="en-US" sz="1600" dirty="0"/>
          </a:p>
        </p:txBody>
      </p:sp>
      <p:sp>
        <p:nvSpPr>
          <p:cNvPr id="39" name="Shape 37"/>
          <p:cNvSpPr/>
          <p:nvPr/>
        </p:nvSpPr>
        <p:spPr>
          <a:xfrm>
            <a:off x="8503920" y="4221480"/>
            <a:ext cx="3429000" cy="716280"/>
          </a:xfrm>
          <a:prstGeom prst="roundRect">
            <a:avLst>
              <a:gd name="adj" fmla="val 12766"/>
            </a:avLst>
          </a:prstGeom>
          <a:solidFill>
            <a:srgbClr val="BFE6C8"/>
          </a:solidFill>
          <a:ln/>
        </p:spPr>
      </p:sp>
      <p:sp>
        <p:nvSpPr>
          <p:cNvPr id="40" name="Shape 38"/>
          <p:cNvSpPr/>
          <p:nvPr/>
        </p:nvSpPr>
        <p:spPr>
          <a:xfrm>
            <a:off x="10017252" y="4724400"/>
            <a:ext cx="402336" cy="-320040"/>
          </a:xfrm>
          <a:prstGeom prst="line">
            <a:avLst/>
          </a:prstGeom>
          <a:noFill/>
          <a:ln w="38100">
            <a:solidFill>
              <a:srgbClr val="6FA97D"/>
            </a:solidFill>
            <a:prstDash val="solid"/>
            <a:tailEnd type="triangle"/>
          </a:ln>
        </p:spPr>
      </p:sp>
      <p:sp>
        <p:nvSpPr>
          <p:cNvPr id="41" name="Text 39"/>
          <p:cNvSpPr txBox="1"/>
          <p:nvPr/>
        </p:nvSpPr>
        <p:spPr>
          <a:xfrm>
            <a:off x="8613648" y="4608576"/>
            <a:ext cx="3209544" cy="256032"/>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Green investment</a:t>
            </a:r>
            <a:endParaRPr lang="en-US" sz="1600" dirty="0"/>
          </a:p>
        </p:txBody>
      </p:sp>
      <p:sp>
        <p:nvSpPr>
          <p:cNvPr id="42" name="Shape 40"/>
          <p:cNvSpPr/>
          <p:nvPr/>
        </p:nvSpPr>
        <p:spPr>
          <a:xfrm>
            <a:off x="502920" y="5138928"/>
            <a:ext cx="2651760" cy="457200"/>
          </a:xfrm>
          <a:prstGeom prst="roundRect">
            <a:avLst>
              <a:gd name="adj" fmla="val 50000"/>
            </a:avLst>
          </a:prstGeom>
          <a:solidFill>
            <a:srgbClr val="E8E5DF"/>
          </a:solidFill>
          <a:ln/>
        </p:spPr>
      </p:sp>
      <p:sp>
        <p:nvSpPr>
          <p:cNvPr id="43" name="Text 41"/>
          <p:cNvSpPr txBox="1"/>
          <p:nvPr/>
        </p:nvSpPr>
        <p:spPr>
          <a:xfrm>
            <a:off x="548640" y="5138928"/>
            <a:ext cx="2560320" cy="457200"/>
          </a:xfrm>
          <a:prstGeom prst="rect">
            <a:avLst/>
          </a:prstGeom>
          <a:noFill/>
          <a:ln/>
        </p:spPr>
        <p:txBody>
          <a:bodyPr wrap="square" lIns="0" tIns="0" rIns="0" bIns="0" rtlCol="0" anchor="ctr"/>
          <a:lstStyle/>
          <a:p>
            <a:pPr algn="ctr" indent="0" marL="0">
              <a:buNone/>
            </a:pPr>
            <a:r>
              <a:rPr lang="en-US" sz="1600" b="1" dirty="0">
                <a:solidFill>
                  <a:srgbClr val="26352F"/>
                </a:solidFill>
                <a:latin typeface="Calibri" pitchFamily="34" charset="0"/>
                <a:ea typeface="Calibri" pitchFamily="34" charset="-122"/>
                <a:cs typeface="Calibri" pitchFamily="34" charset="-120"/>
              </a:rPr>
              <a:t>Separate APIs</a:t>
            </a:r>
            <a:endParaRPr lang="en-US" sz="1600" dirty="0"/>
          </a:p>
        </p:txBody>
      </p:sp>
      <p:sp>
        <p:nvSpPr>
          <p:cNvPr id="44" name="Shape 42"/>
          <p:cNvSpPr/>
          <p:nvPr/>
        </p:nvSpPr>
        <p:spPr>
          <a:xfrm>
            <a:off x="3337560" y="5138928"/>
            <a:ext cx="2651760" cy="457200"/>
          </a:xfrm>
          <a:prstGeom prst="roundRect">
            <a:avLst>
              <a:gd name="adj" fmla="val 50000"/>
            </a:avLst>
          </a:prstGeom>
          <a:solidFill>
            <a:srgbClr val="E8E5DF"/>
          </a:solidFill>
          <a:ln/>
        </p:spPr>
      </p:sp>
      <p:sp>
        <p:nvSpPr>
          <p:cNvPr id="45" name="Text 43"/>
          <p:cNvSpPr txBox="1"/>
          <p:nvPr/>
        </p:nvSpPr>
        <p:spPr>
          <a:xfrm>
            <a:off x="3383280" y="5138928"/>
            <a:ext cx="2560320" cy="457200"/>
          </a:xfrm>
          <a:prstGeom prst="rect">
            <a:avLst/>
          </a:prstGeom>
          <a:noFill/>
          <a:ln/>
        </p:spPr>
        <p:txBody>
          <a:bodyPr wrap="square" lIns="0" tIns="0" rIns="0" bIns="0" rtlCol="0" anchor="ctr"/>
          <a:lstStyle/>
          <a:p>
            <a:pPr algn="ctr" indent="0" marL="0">
              <a:buNone/>
            </a:pPr>
            <a:r>
              <a:rPr lang="en-US" sz="1600" b="1" dirty="0">
                <a:solidFill>
                  <a:srgbClr val="26352F"/>
                </a:solidFill>
                <a:latin typeface="Calibri" pitchFamily="34" charset="0"/>
                <a:ea typeface="Calibri" pitchFamily="34" charset="-122"/>
                <a:cs typeface="Calibri" pitchFamily="34" charset="-120"/>
              </a:rPr>
              <a:t>Different formats</a:t>
            </a:r>
            <a:endParaRPr lang="en-US" sz="1600" dirty="0"/>
          </a:p>
        </p:txBody>
      </p:sp>
      <p:sp>
        <p:nvSpPr>
          <p:cNvPr id="46" name="Shape 44"/>
          <p:cNvSpPr/>
          <p:nvPr/>
        </p:nvSpPr>
        <p:spPr>
          <a:xfrm>
            <a:off x="6172200" y="5138928"/>
            <a:ext cx="2651760" cy="457200"/>
          </a:xfrm>
          <a:prstGeom prst="roundRect">
            <a:avLst>
              <a:gd name="adj" fmla="val 50000"/>
            </a:avLst>
          </a:prstGeom>
          <a:solidFill>
            <a:srgbClr val="E8E5DF"/>
          </a:solidFill>
          <a:ln/>
        </p:spPr>
      </p:sp>
      <p:sp>
        <p:nvSpPr>
          <p:cNvPr id="47" name="Text 45"/>
          <p:cNvSpPr txBox="1"/>
          <p:nvPr/>
        </p:nvSpPr>
        <p:spPr>
          <a:xfrm>
            <a:off x="6217920" y="5138928"/>
            <a:ext cx="2560320" cy="457200"/>
          </a:xfrm>
          <a:prstGeom prst="rect">
            <a:avLst/>
          </a:prstGeom>
          <a:noFill/>
          <a:ln/>
        </p:spPr>
        <p:txBody>
          <a:bodyPr wrap="square" lIns="0" tIns="0" rIns="0" bIns="0" rtlCol="0" anchor="ctr"/>
          <a:lstStyle/>
          <a:p>
            <a:pPr algn="ctr" indent="0" marL="0">
              <a:buNone/>
            </a:pPr>
            <a:r>
              <a:rPr lang="en-US" sz="1600" b="1" dirty="0">
                <a:solidFill>
                  <a:srgbClr val="26352F"/>
                </a:solidFill>
                <a:latin typeface="Calibri" pitchFamily="34" charset="0"/>
                <a:ea typeface="Calibri" pitchFamily="34" charset="-122"/>
                <a:cs typeface="Calibri" pitchFamily="34" charset="-120"/>
              </a:rPr>
              <a:t>Different regions</a:t>
            </a:r>
            <a:endParaRPr lang="en-US" sz="1600" dirty="0"/>
          </a:p>
        </p:txBody>
      </p:sp>
      <p:sp>
        <p:nvSpPr>
          <p:cNvPr id="48" name="Shape 46"/>
          <p:cNvSpPr/>
          <p:nvPr/>
        </p:nvSpPr>
        <p:spPr>
          <a:xfrm>
            <a:off x="9006840" y="5138928"/>
            <a:ext cx="2651760" cy="457200"/>
          </a:xfrm>
          <a:prstGeom prst="roundRect">
            <a:avLst>
              <a:gd name="adj" fmla="val 50000"/>
            </a:avLst>
          </a:prstGeom>
          <a:solidFill>
            <a:srgbClr val="E8E5DF"/>
          </a:solidFill>
          <a:ln/>
        </p:spPr>
      </p:sp>
      <p:sp>
        <p:nvSpPr>
          <p:cNvPr id="49" name="Text 47"/>
          <p:cNvSpPr txBox="1"/>
          <p:nvPr/>
        </p:nvSpPr>
        <p:spPr>
          <a:xfrm>
            <a:off x="9052560" y="5138928"/>
            <a:ext cx="2560320" cy="457200"/>
          </a:xfrm>
          <a:prstGeom prst="rect">
            <a:avLst/>
          </a:prstGeom>
          <a:noFill/>
          <a:ln/>
        </p:spPr>
        <p:txBody>
          <a:bodyPr wrap="square" lIns="0" tIns="0" rIns="0" bIns="0" rtlCol="0" anchor="ctr"/>
          <a:lstStyle/>
          <a:p>
            <a:pPr algn="ctr" indent="0" marL="0">
              <a:buNone/>
            </a:pPr>
            <a:r>
              <a:rPr lang="en-US" sz="1600" b="1" dirty="0">
                <a:solidFill>
                  <a:srgbClr val="26352F"/>
                </a:solidFill>
                <a:latin typeface="Calibri" pitchFamily="34" charset="0"/>
                <a:ea typeface="Calibri" pitchFamily="34" charset="-122"/>
                <a:cs typeface="Calibri" pitchFamily="34" charset="-120"/>
              </a:rPr>
              <a:t>Different updates</a:t>
            </a:r>
            <a:endParaRPr lang="en-US" sz="1600" dirty="0"/>
          </a:p>
        </p:txBody>
      </p:sp>
      <p:sp>
        <p:nvSpPr>
          <p:cNvPr id="50" name="Shape 48"/>
          <p:cNvSpPr/>
          <p:nvPr/>
        </p:nvSpPr>
        <p:spPr>
          <a:xfrm>
            <a:off x="365760" y="5779008"/>
            <a:ext cx="11430000" cy="713232"/>
          </a:xfrm>
          <a:prstGeom prst="roundRect">
            <a:avLst>
              <a:gd name="adj" fmla="val 15385"/>
            </a:avLst>
          </a:prstGeom>
          <a:solidFill>
            <a:srgbClr val="D96C4F"/>
          </a:solidFill>
          <a:ln/>
        </p:spPr>
      </p:sp>
      <p:sp>
        <p:nvSpPr>
          <p:cNvPr id="51" name="Text 49"/>
          <p:cNvSpPr txBox="1"/>
          <p:nvPr/>
        </p:nvSpPr>
        <p:spPr>
          <a:xfrm>
            <a:off x="594360" y="5870448"/>
            <a:ext cx="1463040" cy="53035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GOAL</a:t>
            </a:r>
            <a:endParaRPr lang="en-US" sz="1600" dirty="0"/>
          </a:p>
        </p:txBody>
      </p:sp>
      <p:sp>
        <p:nvSpPr>
          <p:cNvPr id="52" name="Text 50"/>
          <p:cNvSpPr txBox="1"/>
          <p:nvPr/>
        </p:nvSpPr>
        <p:spPr>
          <a:xfrm>
            <a:off x="2011680" y="5779008"/>
            <a:ext cx="9509760" cy="71323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Connect public spending, air quality and agriculture.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D96C4F"/>
                </a:solidFill>
                <a:latin typeface="Courier New" pitchFamily="34" charset="0"/>
                <a:ea typeface="Courier New" pitchFamily="34" charset="-122"/>
                <a:cs typeface="Courier New" pitchFamily="34" charset="-120"/>
              </a:rPr>
              <a:t>02</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600" b="1" dirty="0">
                <a:solidFill>
                  <a:srgbClr val="26352F"/>
                </a:solidFill>
                <a:latin typeface="Calibri" pitchFamily="34" charset="0"/>
                <a:ea typeface="Calibri" pitchFamily="34" charset="-122"/>
                <a:cs typeface="Calibri" pitchFamily="34" charset="-120"/>
              </a:rPr>
              <a:t>Who Needs the Answer?</a:t>
            </a:r>
            <a:endParaRPr lang="en-US" sz="3600" dirty="0"/>
          </a:p>
        </p:txBody>
      </p:sp>
      <p:sp>
        <p:nvSpPr>
          <p:cNvPr id="5" name="Shape 3"/>
          <p:cNvSpPr/>
          <p:nvPr/>
        </p:nvSpPr>
        <p:spPr>
          <a:xfrm>
            <a:off x="365760" y="1298448"/>
            <a:ext cx="3657600" cy="1371600"/>
          </a:xfrm>
          <a:prstGeom prst="roundRect">
            <a:avLst>
              <a:gd name="adj" fmla="val 6667"/>
            </a:avLst>
          </a:prstGeom>
          <a:solidFill>
            <a:srgbClr val="FFFFFF"/>
          </a:solidFill>
          <a:ln w="12700">
            <a:solidFill>
              <a:srgbClr val="D8D3C6"/>
            </a:solidFill>
            <a:prstDash val="solid"/>
          </a:ln>
        </p:spPr>
      </p:sp>
      <p:sp>
        <p:nvSpPr>
          <p:cNvPr id="6" name="Shape 4"/>
          <p:cNvSpPr/>
          <p:nvPr/>
        </p:nvSpPr>
        <p:spPr>
          <a:xfrm>
            <a:off x="548640" y="1463040"/>
            <a:ext cx="329184" cy="329184"/>
          </a:xfrm>
          <a:prstGeom prst="ellipse">
            <a:avLst/>
          </a:prstGeom>
          <a:solidFill>
            <a:srgbClr val="CFE8FF"/>
          </a:solidFill>
          <a:ln/>
        </p:spPr>
      </p:sp>
      <p:sp>
        <p:nvSpPr>
          <p:cNvPr id="7" name="Text 5"/>
          <p:cNvSpPr txBox="1"/>
          <p:nvPr/>
        </p:nvSpPr>
        <p:spPr>
          <a:xfrm>
            <a:off x="969264" y="1408176"/>
            <a:ext cx="2871216" cy="640080"/>
          </a:xfrm>
          <a:prstGeom prst="rect">
            <a:avLst/>
          </a:prstGeom>
          <a:noFill/>
          <a:ln/>
        </p:spPr>
        <p:txBody>
          <a:bodyPr wrap="square" lIns="0" tIns="0" rIns="0" bIns="0" rtlCol="0" anchor="t"/>
          <a:lstStyle/>
          <a:p>
            <a:pPr indent="0" marL="0">
              <a:lnSpc>
                <a:spcPct val="98000"/>
              </a:lnSpc>
              <a:buNone/>
            </a:pPr>
            <a:r>
              <a:rPr lang="en-US" sz="2400" b="1" dirty="0">
                <a:solidFill>
                  <a:srgbClr val="26352F"/>
                </a:solidFill>
                <a:latin typeface="Calibri" pitchFamily="34" charset="0"/>
                <a:ea typeface="Calibri" pitchFamily="34" charset="-122"/>
                <a:cs typeface="Calibri" pitchFamily="34" charset="-120"/>
              </a:rPr>
              <a:t>Public Authorities</a:t>
            </a:r>
            <a:endParaRPr lang="en-US" sz="2400" dirty="0"/>
          </a:p>
        </p:txBody>
      </p:sp>
      <p:sp>
        <p:nvSpPr>
          <p:cNvPr id="8" name="Text 6"/>
          <p:cNvSpPr txBox="1"/>
          <p:nvPr/>
        </p:nvSpPr>
        <p:spPr>
          <a:xfrm>
            <a:off x="548640" y="2139696"/>
            <a:ext cx="3291840" cy="457200"/>
          </a:xfrm>
          <a:prstGeom prst="rect">
            <a:avLst/>
          </a:prstGeom>
          <a:noFill/>
          <a:ln/>
        </p:spPr>
        <p:txBody>
          <a:bodyPr wrap="square" lIns="0" tIns="0" rIns="0" bIns="0" rtlCol="0" anchor="t"/>
          <a:lstStyle/>
          <a:p>
            <a:pPr indent="0" marL="0">
              <a:buNone/>
            </a:pPr>
            <a:r>
              <a:rPr lang="en-US" sz="1600" dirty="0">
                <a:solidFill>
                  <a:srgbClr val="56655D"/>
                </a:solidFill>
                <a:latin typeface="Calibri" pitchFamily="34" charset="0"/>
                <a:ea typeface="Calibri" pitchFamily="34" charset="-122"/>
                <a:cs typeface="Calibri" pitchFamily="34" charset="-120"/>
              </a:rPr>
              <a:t>Regional planning · Policy checks</a:t>
            </a:r>
            <a:endParaRPr lang="en-US" sz="1600" dirty="0"/>
          </a:p>
        </p:txBody>
      </p:sp>
      <p:sp>
        <p:nvSpPr>
          <p:cNvPr id="9" name="Shape 7"/>
          <p:cNvSpPr/>
          <p:nvPr/>
        </p:nvSpPr>
        <p:spPr>
          <a:xfrm>
            <a:off x="4178808" y="1298448"/>
            <a:ext cx="3657600" cy="1371600"/>
          </a:xfrm>
          <a:prstGeom prst="roundRect">
            <a:avLst>
              <a:gd name="adj" fmla="val 6667"/>
            </a:avLst>
          </a:prstGeom>
          <a:solidFill>
            <a:srgbClr val="FFFFFF"/>
          </a:solidFill>
          <a:ln w="12700">
            <a:solidFill>
              <a:srgbClr val="D8D3C6"/>
            </a:solidFill>
            <a:prstDash val="solid"/>
          </a:ln>
        </p:spPr>
      </p:sp>
      <p:sp>
        <p:nvSpPr>
          <p:cNvPr id="10" name="Shape 8"/>
          <p:cNvSpPr/>
          <p:nvPr/>
        </p:nvSpPr>
        <p:spPr>
          <a:xfrm>
            <a:off x="4361688" y="1463040"/>
            <a:ext cx="329184" cy="329184"/>
          </a:xfrm>
          <a:prstGeom prst="ellipse">
            <a:avLst/>
          </a:prstGeom>
          <a:solidFill>
            <a:srgbClr val="D7F4DE"/>
          </a:solidFill>
          <a:ln/>
        </p:spPr>
      </p:sp>
      <p:sp>
        <p:nvSpPr>
          <p:cNvPr id="11" name="Text 9"/>
          <p:cNvSpPr txBox="1"/>
          <p:nvPr/>
        </p:nvSpPr>
        <p:spPr>
          <a:xfrm>
            <a:off x="4782312" y="1408176"/>
            <a:ext cx="2871216" cy="640080"/>
          </a:xfrm>
          <a:prstGeom prst="rect">
            <a:avLst/>
          </a:prstGeom>
          <a:noFill/>
          <a:ln/>
        </p:spPr>
        <p:txBody>
          <a:bodyPr wrap="square" lIns="0" tIns="0" rIns="0" bIns="0" rtlCol="0" anchor="t"/>
          <a:lstStyle/>
          <a:p>
            <a:pPr indent="0" marL="0">
              <a:lnSpc>
                <a:spcPct val="98000"/>
              </a:lnSpc>
              <a:buNone/>
            </a:pPr>
            <a:r>
              <a:rPr lang="en-US" sz="2400" b="1" dirty="0">
                <a:solidFill>
                  <a:srgbClr val="26352F"/>
                </a:solidFill>
                <a:latin typeface="Calibri" pitchFamily="34" charset="0"/>
                <a:ea typeface="Calibri" pitchFamily="34" charset="-122"/>
                <a:cs typeface="Calibri" pitchFamily="34" charset="-120"/>
              </a:rPr>
              <a:t>Environmental Agencies</a:t>
            </a:r>
            <a:endParaRPr lang="en-US" sz="2400" dirty="0"/>
          </a:p>
        </p:txBody>
      </p:sp>
      <p:sp>
        <p:nvSpPr>
          <p:cNvPr id="12" name="Text 10"/>
          <p:cNvSpPr txBox="1"/>
          <p:nvPr/>
        </p:nvSpPr>
        <p:spPr>
          <a:xfrm>
            <a:off x="4361688" y="2139696"/>
            <a:ext cx="3291840" cy="457200"/>
          </a:xfrm>
          <a:prstGeom prst="rect">
            <a:avLst/>
          </a:prstGeom>
          <a:noFill/>
          <a:ln/>
        </p:spPr>
        <p:txBody>
          <a:bodyPr wrap="square" lIns="0" tIns="0" rIns="0" bIns="0" rtlCol="0" anchor="t"/>
          <a:lstStyle/>
          <a:p>
            <a:pPr indent="0" marL="0">
              <a:buNone/>
            </a:pPr>
            <a:r>
              <a:rPr lang="en-US" sz="1600" dirty="0">
                <a:solidFill>
                  <a:srgbClr val="56655D"/>
                </a:solidFill>
                <a:latin typeface="Calibri" pitchFamily="34" charset="0"/>
                <a:ea typeface="Calibri" pitchFamily="34" charset="-122"/>
                <a:cs typeface="Calibri" pitchFamily="34" charset="-120"/>
              </a:rPr>
              <a:t>Pollution trends · Regional pressure</a:t>
            </a:r>
            <a:endParaRPr lang="en-US" sz="1600" dirty="0"/>
          </a:p>
        </p:txBody>
      </p:sp>
      <p:sp>
        <p:nvSpPr>
          <p:cNvPr id="13" name="Shape 11"/>
          <p:cNvSpPr/>
          <p:nvPr/>
        </p:nvSpPr>
        <p:spPr>
          <a:xfrm>
            <a:off x="7991856" y="1298448"/>
            <a:ext cx="3657600" cy="1371600"/>
          </a:xfrm>
          <a:prstGeom prst="roundRect">
            <a:avLst>
              <a:gd name="adj" fmla="val 6667"/>
            </a:avLst>
          </a:prstGeom>
          <a:solidFill>
            <a:srgbClr val="FFFFFF"/>
          </a:solidFill>
          <a:ln w="12700">
            <a:solidFill>
              <a:srgbClr val="D8D3C6"/>
            </a:solidFill>
            <a:prstDash val="solid"/>
          </a:ln>
        </p:spPr>
      </p:sp>
      <p:sp>
        <p:nvSpPr>
          <p:cNvPr id="14" name="Shape 12"/>
          <p:cNvSpPr/>
          <p:nvPr/>
        </p:nvSpPr>
        <p:spPr>
          <a:xfrm>
            <a:off x="8174736" y="1463040"/>
            <a:ext cx="329184" cy="329184"/>
          </a:xfrm>
          <a:prstGeom prst="ellipse">
            <a:avLst/>
          </a:prstGeom>
          <a:solidFill>
            <a:srgbClr val="F5D46F"/>
          </a:solidFill>
          <a:ln/>
        </p:spPr>
      </p:sp>
      <p:sp>
        <p:nvSpPr>
          <p:cNvPr id="15" name="Text 13"/>
          <p:cNvSpPr txBox="1"/>
          <p:nvPr/>
        </p:nvSpPr>
        <p:spPr>
          <a:xfrm>
            <a:off x="8595360" y="1408176"/>
            <a:ext cx="2871216" cy="640080"/>
          </a:xfrm>
          <a:prstGeom prst="rect">
            <a:avLst/>
          </a:prstGeom>
          <a:noFill/>
          <a:ln/>
        </p:spPr>
        <p:txBody>
          <a:bodyPr wrap="square" lIns="0" tIns="0" rIns="0" bIns="0" rtlCol="0" anchor="t"/>
          <a:lstStyle/>
          <a:p>
            <a:pPr indent="0" marL="0">
              <a:lnSpc>
                <a:spcPct val="98000"/>
              </a:lnSpc>
              <a:buNone/>
            </a:pPr>
            <a:r>
              <a:rPr lang="en-US" sz="2400" b="1" dirty="0">
                <a:solidFill>
                  <a:srgbClr val="26352F"/>
                </a:solidFill>
                <a:latin typeface="Calibri" pitchFamily="34" charset="0"/>
                <a:ea typeface="Calibri" pitchFamily="34" charset="-122"/>
                <a:cs typeface="Calibri" pitchFamily="34" charset="-120"/>
              </a:rPr>
              <a:t>Agricultural Analysts</a:t>
            </a:r>
            <a:endParaRPr lang="en-US" sz="2400" dirty="0"/>
          </a:p>
        </p:txBody>
      </p:sp>
      <p:sp>
        <p:nvSpPr>
          <p:cNvPr id="16" name="Text 14"/>
          <p:cNvSpPr txBox="1"/>
          <p:nvPr/>
        </p:nvSpPr>
        <p:spPr>
          <a:xfrm>
            <a:off x="8174736" y="2139696"/>
            <a:ext cx="3291840" cy="457200"/>
          </a:xfrm>
          <a:prstGeom prst="rect">
            <a:avLst/>
          </a:prstGeom>
          <a:noFill/>
          <a:ln/>
        </p:spPr>
        <p:txBody>
          <a:bodyPr wrap="square" lIns="0" tIns="0" rIns="0" bIns="0" rtlCol="0" anchor="t"/>
          <a:lstStyle/>
          <a:p>
            <a:pPr indent="0" marL="0">
              <a:buNone/>
            </a:pPr>
            <a:r>
              <a:rPr lang="en-US" sz="1600" dirty="0">
                <a:solidFill>
                  <a:srgbClr val="56655D"/>
                </a:solidFill>
                <a:latin typeface="Calibri" pitchFamily="34" charset="0"/>
                <a:ea typeface="Calibri" pitchFamily="34" charset="-122"/>
                <a:cs typeface="Calibri" pitchFamily="34" charset="-120"/>
              </a:rPr>
              <a:t>Farm activity · Regional output</a:t>
            </a:r>
            <a:endParaRPr lang="en-US" sz="1600" dirty="0"/>
          </a:p>
        </p:txBody>
      </p:sp>
      <p:sp>
        <p:nvSpPr>
          <p:cNvPr id="17" name="Shape 15"/>
          <p:cNvSpPr/>
          <p:nvPr/>
        </p:nvSpPr>
        <p:spPr>
          <a:xfrm>
            <a:off x="365760" y="2798064"/>
            <a:ext cx="3657600" cy="1371600"/>
          </a:xfrm>
          <a:prstGeom prst="roundRect">
            <a:avLst>
              <a:gd name="adj" fmla="val 6667"/>
            </a:avLst>
          </a:prstGeom>
          <a:solidFill>
            <a:srgbClr val="FFFFFF"/>
          </a:solidFill>
          <a:ln w="12700">
            <a:solidFill>
              <a:srgbClr val="D8D3C6"/>
            </a:solidFill>
            <a:prstDash val="solid"/>
          </a:ln>
        </p:spPr>
      </p:sp>
      <p:sp>
        <p:nvSpPr>
          <p:cNvPr id="18" name="Shape 16"/>
          <p:cNvSpPr/>
          <p:nvPr/>
        </p:nvSpPr>
        <p:spPr>
          <a:xfrm>
            <a:off x="548640" y="2962656"/>
            <a:ext cx="329184" cy="329184"/>
          </a:xfrm>
          <a:prstGeom prst="ellipse">
            <a:avLst/>
          </a:prstGeom>
          <a:solidFill>
            <a:srgbClr val="FFF0B8"/>
          </a:solidFill>
          <a:ln/>
        </p:spPr>
      </p:sp>
      <p:sp>
        <p:nvSpPr>
          <p:cNvPr id="19" name="Text 17"/>
          <p:cNvSpPr txBox="1"/>
          <p:nvPr/>
        </p:nvSpPr>
        <p:spPr>
          <a:xfrm>
            <a:off x="969264" y="2907792"/>
            <a:ext cx="2871216" cy="640080"/>
          </a:xfrm>
          <a:prstGeom prst="rect">
            <a:avLst/>
          </a:prstGeom>
          <a:noFill/>
          <a:ln/>
        </p:spPr>
        <p:txBody>
          <a:bodyPr wrap="square" lIns="0" tIns="0" rIns="0" bIns="0" rtlCol="0" anchor="t"/>
          <a:lstStyle/>
          <a:p>
            <a:pPr indent="0" marL="0">
              <a:lnSpc>
                <a:spcPct val="98000"/>
              </a:lnSpc>
              <a:buNone/>
            </a:pPr>
            <a:r>
              <a:rPr lang="en-US" sz="2400" b="1" dirty="0">
                <a:solidFill>
                  <a:srgbClr val="26352F"/>
                </a:solidFill>
                <a:latin typeface="Calibri" pitchFamily="34" charset="0"/>
                <a:ea typeface="Calibri" pitchFamily="34" charset="-122"/>
                <a:cs typeface="Calibri" pitchFamily="34" charset="-120"/>
              </a:rPr>
              <a:t>Procurement Teams</a:t>
            </a:r>
            <a:endParaRPr lang="en-US" sz="2400" dirty="0"/>
          </a:p>
        </p:txBody>
      </p:sp>
      <p:sp>
        <p:nvSpPr>
          <p:cNvPr id="20" name="Text 18"/>
          <p:cNvSpPr txBox="1"/>
          <p:nvPr/>
        </p:nvSpPr>
        <p:spPr>
          <a:xfrm>
            <a:off x="548640" y="3639312"/>
            <a:ext cx="3291840" cy="457200"/>
          </a:xfrm>
          <a:prstGeom prst="rect">
            <a:avLst/>
          </a:prstGeom>
          <a:noFill/>
          <a:ln/>
        </p:spPr>
        <p:txBody>
          <a:bodyPr wrap="square" lIns="0" tIns="0" rIns="0" bIns="0" rtlCol="0" anchor="t"/>
          <a:lstStyle/>
          <a:p>
            <a:pPr indent="0" marL="0">
              <a:buNone/>
            </a:pPr>
            <a:r>
              <a:rPr lang="en-US" sz="1600" dirty="0">
                <a:solidFill>
                  <a:srgbClr val="56655D"/>
                </a:solidFill>
                <a:latin typeface="Calibri" pitchFamily="34" charset="0"/>
                <a:ea typeface="Calibri" pitchFamily="34" charset="-122"/>
                <a:cs typeface="Calibri" pitchFamily="34" charset="-120"/>
              </a:rPr>
              <a:t>Tender activity · Public spending</a:t>
            </a:r>
            <a:endParaRPr lang="en-US" sz="1600" dirty="0"/>
          </a:p>
        </p:txBody>
      </p:sp>
      <p:sp>
        <p:nvSpPr>
          <p:cNvPr id="21" name="Shape 19"/>
          <p:cNvSpPr/>
          <p:nvPr/>
        </p:nvSpPr>
        <p:spPr>
          <a:xfrm>
            <a:off x="4178808" y="2798064"/>
            <a:ext cx="3657600" cy="1371600"/>
          </a:xfrm>
          <a:prstGeom prst="roundRect">
            <a:avLst>
              <a:gd name="adj" fmla="val 6667"/>
            </a:avLst>
          </a:prstGeom>
          <a:solidFill>
            <a:srgbClr val="FFFFFF"/>
          </a:solidFill>
          <a:ln w="12700">
            <a:solidFill>
              <a:srgbClr val="D8D3C6"/>
            </a:solidFill>
            <a:prstDash val="solid"/>
          </a:ln>
        </p:spPr>
      </p:sp>
      <p:sp>
        <p:nvSpPr>
          <p:cNvPr id="22" name="Shape 20"/>
          <p:cNvSpPr/>
          <p:nvPr/>
        </p:nvSpPr>
        <p:spPr>
          <a:xfrm>
            <a:off x="4361688" y="2962656"/>
            <a:ext cx="329184" cy="329184"/>
          </a:xfrm>
          <a:prstGeom prst="ellipse">
            <a:avLst/>
          </a:prstGeom>
          <a:solidFill>
            <a:srgbClr val="DDD8FF"/>
          </a:solidFill>
          <a:ln/>
        </p:spPr>
      </p:sp>
      <p:sp>
        <p:nvSpPr>
          <p:cNvPr id="23" name="Text 21"/>
          <p:cNvSpPr txBox="1"/>
          <p:nvPr/>
        </p:nvSpPr>
        <p:spPr>
          <a:xfrm>
            <a:off x="4782312" y="2907792"/>
            <a:ext cx="2871216" cy="640080"/>
          </a:xfrm>
          <a:prstGeom prst="rect">
            <a:avLst/>
          </a:prstGeom>
          <a:noFill/>
          <a:ln/>
        </p:spPr>
        <p:txBody>
          <a:bodyPr wrap="square" lIns="0" tIns="0" rIns="0" bIns="0" rtlCol="0" anchor="t"/>
          <a:lstStyle/>
          <a:p>
            <a:pPr indent="0" marL="0">
              <a:lnSpc>
                <a:spcPct val="98000"/>
              </a:lnSpc>
              <a:buNone/>
            </a:pPr>
            <a:r>
              <a:rPr lang="en-US" sz="2400" b="1" dirty="0">
                <a:solidFill>
                  <a:srgbClr val="26352F"/>
                </a:solidFill>
                <a:latin typeface="Calibri" pitchFamily="34" charset="0"/>
                <a:ea typeface="Calibri" pitchFamily="34" charset="-122"/>
                <a:cs typeface="Calibri" pitchFamily="34" charset="-120"/>
              </a:rPr>
              <a:t>Researchers</a:t>
            </a:r>
            <a:endParaRPr lang="en-US" sz="2400" dirty="0"/>
          </a:p>
        </p:txBody>
      </p:sp>
      <p:sp>
        <p:nvSpPr>
          <p:cNvPr id="24" name="Text 22"/>
          <p:cNvSpPr txBox="1"/>
          <p:nvPr/>
        </p:nvSpPr>
        <p:spPr>
          <a:xfrm>
            <a:off x="4361688" y="3639312"/>
            <a:ext cx="3291840" cy="457200"/>
          </a:xfrm>
          <a:prstGeom prst="rect">
            <a:avLst/>
          </a:prstGeom>
          <a:noFill/>
          <a:ln/>
        </p:spPr>
        <p:txBody>
          <a:bodyPr wrap="square" lIns="0" tIns="0" rIns="0" bIns="0" rtlCol="0" anchor="t"/>
          <a:lstStyle/>
          <a:p>
            <a:pPr indent="0" marL="0">
              <a:buNone/>
            </a:pPr>
            <a:r>
              <a:rPr lang="en-US" sz="1600" dirty="0">
                <a:solidFill>
                  <a:srgbClr val="56655D"/>
                </a:solidFill>
                <a:latin typeface="Calibri" pitchFamily="34" charset="0"/>
                <a:ea typeface="Calibri" pitchFamily="34" charset="-122"/>
                <a:cs typeface="Calibri" pitchFamily="34" charset="-120"/>
              </a:rPr>
              <a:t>Cross-domain analysis · Regional patterns</a:t>
            </a:r>
            <a:endParaRPr lang="en-US" sz="1600" dirty="0"/>
          </a:p>
        </p:txBody>
      </p:sp>
      <p:sp>
        <p:nvSpPr>
          <p:cNvPr id="25" name="Shape 23"/>
          <p:cNvSpPr/>
          <p:nvPr/>
        </p:nvSpPr>
        <p:spPr>
          <a:xfrm>
            <a:off x="7991856" y="2798064"/>
            <a:ext cx="3657600" cy="1371600"/>
          </a:xfrm>
          <a:prstGeom prst="roundRect">
            <a:avLst>
              <a:gd name="adj" fmla="val 6667"/>
            </a:avLst>
          </a:prstGeom>
          <a:solidFill>
            <a:srgbClr val="FFFFFF"/>
          </a:solidFill>
          <a:ln w="12700">
            <a:solidFill>
              <a:srgbClr val="D8D3C6"/>
            </a:solidFill>
            <a:prstDash val="solid"/>
          </a:ln>
        </p:spPr>
      </p:sp>
      <p:sp>
        <p:nvSpPr>
          <p:cNvPr id="26" name="Shape 24"/>
          <p:cNvSpPr/>
          <p:nvPr/>
        </p:nvSpPr>
        <p:spPr>
          <a:xfrm>
            <a:off x="8174736" y="2962656"/>
            <a:ext cx="329184" cy="329184"/>
          </a:xfrm>
          <a:prstGeom prst="ellipse">
            <a:avLst/>
          </a:prstGeom>
          <a:solidFill>
            <a:srgbClr val="D9C7F2"/>
          </a:solidFill>
          <a:ln/>
        </p:spPr>
      </p:sp>
      <p:sp>
        <p:nvSpPr>
          <p:cNvPr id="27" name="Text 25"/>
          <p:cNvSpPr txBox="1"/>
          <p:nvPr/>
        </p:nvSpPr>
        <p:spPr>
          <a:xfrm>
            <a:off x="8595360" y="2907792"/>
            <a:ext cx="2871216" cy="640080"/>
          </a:xfrm>
          <a:prstGeom prst="rect">
            <a:avLst/>
          </a:prstGeom>
          <a:noFill/>
          <a:ln/>
        </p:spPr>
        <p:txBody>
          <a:bodyPr wrap="square" lIns="0" tIns="0" rIns="0" bIns="0" rtlCol="0" anchor="t"/>
          <a:lstStyle/>
          <a:p>
            <a:pPr indent="0" marL="0">
              <a:lnSpc>
                <a:spcPct val="98000"/>
              </a:lnSpc>
              <a:buNone/>
            </a:pPr>
            <a:r>
              <a:rPr lang="en-US" sz="2400" b="1" dirty="0">
                <a:solidFill>
                  <a:srgbClr val="26352F"/>
                </a:solidFill>
                <a:latin typeface="Calibri" pitchFamily="34" charset="0"/>
                <a:ea typeface="Calibri" pitchFamily="34" charset="-122"/>
                <a:cs typeface="Calibri" pitchFamily="34" charset="-120"/>
              </a:rPr>
              <a:t>NGOs</a:t>
            </a:r>
            <a:endParaRPr lang="en-US" sz="2400" dirty="0"/>
          </a:p>
        </p:txBody>
      </p:sp>
      <p:sp>
        <p:nvSpPr>
          <p:cNvPr id="28" name="Text 26"/>
          <p:cNvSpPr txBox="1"/>
          <p:nvPr/>
        </p:nvSpPr>
        <p:spPr>
          <a:xfrm>
            <a:off x="8174736" y="3639312"/>
            <a:ext cx="3291840" cy="457200"/>
          </a:xfrm>
          <a:prstGeom prst="rect">
            <a:avLst/>
          </a:prstGeom>
          <a:noFill/>
          <a:ln/>
        </p:spPr>
        <p:txBody>
          <a:bodyPr wrap="square" lIns="0" tIns="0" rIns="0" bIns="0" rtlCol="0" anchor="t"/>
          <a:lstStyle/>
          <a:p>
            <a:pPr indent="0" marL="0">
              <a:buNone/>
            </a:pPr>
            <a:r>
              <a:rPr lang="en-US" sz="1600" dirty="0">
                <a:solidFill>
                  <a:srgbClr val="56655D"/>
                </a:solidFill>
                <a:latin typeface="Calibri" pitchFamily="34" charset="0"/>
                <a:ea typeface="Calibri" pitchFamily="34" charset="-122"/>
                <a:cs typeface="Calibri" pitchFamily="34" charset="-120"/>
              </a:rPr>
              <a:t>Public oversight · Sustainability tracking</a:t>
            </a:r>
            <a:endParaRPr lang="en-US" sz="1600" dirty="0"/>
          </a:p>
        </p:txBody>
      </p:sp>
      <p:sp>
        <p:nvSpPr>
          <p:cNvPr id="29" name="Shape 27"/>
          <p:cNvSpPr/>
          <p:nvPr/>
        </p:nvSpPr>
        <p:spPr>
          <a:xfrm>
            <a:off x="365760" y="4407408"/>
            <a:ext cx="2734056" cy="749808"/>
          </a:xfrm>
          <a:prstGeom prst="roundRect">
            <a:avLst>
              <a:gd name="adj" fmla="val 12195"/>
            </a:avLst>
          </a:prstGeom>
          <a:solidFill>
            <a:srgbClr val="D96C4F"/>
          </a:solidFill>
          <a:ln/>
        </p:spPr>
      </p:sp>
      <p:sp>
        <p:nvSpPr>
          <p:cNvPr id="30" name="Text 28"/>
          <p:cNvSpPr txBox="1"/>
          <p:nvPr/>
        </p:nvSpPr>
        <p:spPr>
          <a:xfrm>
            <a:off x="512064" y="4407408"/>
            <a:ext cx="2441448" cy="749808"/>
          </a:xfrm>
          <a:prstGeom prst="rect">
            <a:avLst/>
          </a:prstGeom>
          <a:noFill/>
          <a:ln/>
        </p:spPr>
        <p:txBody>
          <a:bodyPr wrap="square" lIns="0" tIns="0" rIns="0" bIns="0" rtlCol="0" anchor="ctr"/>
          <a:lstStyle/>
          <a:p>
            <a:pPr indent="0" marL="0">
              <a:lnSpc>
                <a:spcPct val="100000"/>
              </a:lnSpc>
              <a:buNone/>
            </a:pPr>
            <a:r>
              <a:rPr lang="en-US" sz="1600" b="1" dirty="0">
                <a:solidFill>
                  <a:srgbClr val="FFFFFF"/>
                </a:solidFill>
                <a:latin typeface="Calibri" pitchFamily="34" charset="0"/>
                <a:ea typeface="Calibri" pitchFamily="34" charset="-122"/>
                <a:cs typeface="Calibri" pitchFamily="34" charset="-120"/>
              </a:rPr>
              <a:t>Where is air quality worse?</a:t>
            </a:r>
            <a:endParaRPr lang="en-US" sz="1600" dirty="0"/>
          </a:p>
        </p:txBody>
      </p:sp>
      <p:sp>
        <p:nvSpPr>
          <p:cNvPr id="31" name="Shape 29"/>
          <p:cNvSpPr/>
          <p:nvPr/>
        </p:nvSpPr>
        <p:spPr>
          <a:xfrm>
            <a:off x="3255264" y="4407408"/>
            <a:ext cx="2734056" cy="749808"/>
          </a:xfrm>
          <a:prstGeom prst="roundRect">
            <a:avLst>
              <a:gd name="adj" fmla="val 12195"/>
            </a:avLst>
          </a:prstGeom>
          <a:solidFill>
            <a:srgbClr val="D96C4F"/>
          </a:solidFill>
          <a:ln/>
        </p:spPr>
      </p:sp>
      <p:sp>
        <p:nvSpPr>
          <p:cNvPr id="32" name="Text 30"/>
          <p:cNvSpPr txBox="1"/>
          <p:nvPr/>
        </p:nvSpPr>
        <p:spPr>
          <a:xfrm>
            <a:off x="3401568" y="4407408"/>
            <a:ext cx="2441448" cy="749808"/>
          </a:xfrm>
          <a:prstGeom prst="rect">
            <a:avLst/>
          </a:prstGeom>
          <a:noFill/>
          <a:ln/>
        </p:spPr>
        <p:txBody>
          <a:bodyPr wrap="square" lIns="0" tIns="0" rIns="0" bIns="0" rtlCol="0" anchor="ctr"/>
          <a:lstStyle/>
          <a:p>
            <a:pPr indent="0" marL="0">
              <a:lnSpc>
                <a:spcPct val="100000"/>
              </a:lnSpc>
              <a:buNone/>
            </a:pPr>
            <a:r>
              <a:rPr lang="en-US" sz="1600" b="1" dirty="0">
                <a:solidFill>
                  <a:srgbClr val="FFFFFF"/>
                </a:solidFill>
                <a:latin typeface="Calibri" pitchFamily="34" charset="0"/>
                <a:ea typeface="Calibri" pitchFamily="34" charset="-122"/>
                <a:cs typeface="Calibri" pitchFamily="34" charset="-120"/>
              </a:rPr>
              <a:t>Where is farm activity strongest?</a:t>
            </a:r>
            <a:endParaRPr lang="en-US" sz="1600" dirty="0"/>
          </a:p>
        </p:txBody>
      </p:sp>
      <p:sp>
        <p:nvSpPr>
          <p:cNvPr id="33" name="Shape 31"/>
          <p:cNvSpPr/>
          <p:nvPr/>
        </p:nvSpPr>
        <p:spPr>
          <a:xfrm>
            <a:off x="6144768" y="4407408"/>
            <a:ext cx="2734056" cy="749808"/>
          </a:xfrm>
          <a:prstGeom prst="roundRect">
            <a:avLst>
              <a:gd name="adj" fmla="val 12195"/>
            </a:avLst>
          </a:prstGeom>
          <a:solidFill>
            <a:srgbClr val="D96C4F"/>
          </a:solidFill>
          <a:ln/>
        </p:spPr>
      </p:sp>
      <p:sp>
        <p:nvSpPr>
          <p:cNvPr id="34" name="Text 32"/>
          <p:cNvSpPr txBox="1"/>
          <p:nvPr/>
        </p:nvSpPr>
        <p:spPr>
          <a:xfrm>
            <a:off x="6291072" y="4407408"/>
            <a:ext cx="2441448" cy="749808"/>
          </a:xfrm>
          <a:prstGeom prst="rect">
            <a:avLst/>
          </a:prstGeom>
          <a:noFill/>
          <a:ln/>
        </p:spPr>
        <p:txBody>
          <a:bodyPr wrap="square" lIns="0" tIns="0" rIns="0" bIns="0" rtlCol="0" anchor="ctr"/>
          <a:lstStyle/>
          <a:p>
            <a:pPr indent="0" marL="0">
              <a:lnSpc>
                <a:spcPct val="100000"/>
              </a:lnSpc>
              <a:buNone/>
            </a:pPr>
            <a:r>
              <a:rPr lang="en-US" sz="1600" b="1" dirty="0">
                <a:solidFill>
                  <a:srgbClr val="FFFFFF"/>
                </a:solidFill>
                <a:latin typeface="Calibri" pitchFamily="34" charset="0"/>
                <a:ea typeface="Calibri" pitchFamily="34" charset="-122"/>
                <a:cs typeface="Calibri" pitchFamily="34" charset="-120"/>
              </a:rPr>
              <a:t>Where does green spending go?</a:t>
            </a:r>
            <a:endParaRPr lang="en-US" sz="1600" dirty="0"/>
          </a:p>
        </p:txBody>
      </p:sp>
      <p:sp>
        <p:nvSpPr>
          <p:cNvPr id="35" name="Shape 33"/>
          <p:cNvSpPr/>
          <p:nvPr/>
        </p:nvSpPr>
        <p:spPr>
          <a:xfrm>
            <a:off x="9034272" y="4407408"/>
            <a:ext cx="2734056" cy="749808"/>
          </a:xfrm>
          <a:prstGeom prst="roundRect">
            <a:avLst>
              <a:gd name="adj" fmla="val 12195"/>
            </a:avLst>
          </a:prstGeom>
          <a:solidFill>
            <a:srgbClr val="D96C4F"/>
          </a:solidFill>
          <a:ln/>
        </p:spPr>
      </p:sp>
      <p:sp>
        <p:nvSpPr>
          <p:cNvPr id="36" name="Text 34"/>
          <p:cNvSpPr txBox="1"/>
          <p:nvPr/>
        </p:nvSpPr>
        <p:spPr>
          <a:xfrm>
            <a:off x="9180576" y="4407408"/>
            <a:ext cx="2441448" cy="749808"/>
          </a:xfrm>
          <a:prstGeom prst="rect">
            <a:avLst/>
          </a:prstGeom>
          <a:noFill/>
          <a:ln/>
        </p:spPr>
        <p:txBody>
          <a:bodyPr wrap="square" lIns="0" tIns="0" rIns="0" bIns="0" rtlCol="0" anchor="ctr"/>
          <a:lstStyle/>
          <a:p>
            <a:pPr indent="0" marL="0">
              <a:lnSpc>
                <a:spcPct val="100000"/>
              </a:lnSpc>
              <a:buNone/>
            </a:pPr>
            <a:r>
              <a:rPr lang="en-US" sz="1600" b="1" dirty="0">
                <a:solidFill>
                  <a:srgbClr val="FFFFFF"/>
                </a:solidFill>
                <a:latin typeface="Calibri" pitchFamily="34" charset="0"/>
                <a:ea typeface="Calibri" pitchFamily="34" charset="-122"/>
                <a:cs typeface="Calibri" pitchFamily="34" charset="-120"/>
              </a:rPr>
              <a:t>Do spending and needs align?</a:t>
            </a:r>
            <a:endParaRPr lang="en-US" sz="1600" dirty="0"/>
          </a:p>
        </p:txBody>
      </p:sp>
      <p:sp>
        <p:nvSpPr>
          <p:cNvPr id="37" name="Shape 35"/>
          <p:cNvSpPr/>
          <p:nvPr/>
        </p:nvSpPr>
        <p:spPr>
          <a:xfrm>
            <a:off x="365760" y="5303520"/>
            <a:ext cx="11430000" cy="457200"/>
          </a:xfrm>
          <a:prstGeom prst="roundRect">
            <a:avLst>
              <a:gd name="adj" fmla="val 20000"/>
            </a:avLst>
          </a:prstGeom>
          <a:solidFill>
            <a:srgbClr val="E8E5DF"/>
          </a:solidFill>
          <a:ln w="12700">
            <a:solidFill>
              <a:srgbClr val="D8D3C6"/>
            </a:solidFill>
            <a:prstDash val="solid"/>
          </a:ln>
        </p:spPr>
      </p:sp>
      <p:sp>
        <p:nvSpPr>
          <p:cNvPr id="38" name="Text 36"/>
          <p:cNvSpPr txBox="1"/>
          <p:nvPr/>
        </p:nvSpPr>
        <p:spPr>
          <a:xfrm>
            <a:off x="594360" y="5303520"/>
            <a:ext cx="10972800" cy="45720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  Pattern, not causation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7EA66A"/>
                </a:solidFill>
                <a:latin typeface="Courier New" pitchFamily="34" charset="0"/>
                <a:ea typeface="Courier New" pitchFamily="34" charset="-122"/>
                <a:cs typeface="Courier New" pitchFamily="34" charset="-120"/>
              </a:rPr>
              <a:t>03</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Three Sources, Three Structures</a:t>
            </a:r>
            <a:endParaRPr lang="en-US" sz="3500" dirty="0"/>
          </a:p>
        </p:txBody>
      </p:sp>
      <p:sp>
        <p:nvSpPr>
          <p:cNvPr id="5" name="Shape 3"/>
          <p:cNvSpPr/>
          <p:nvPr/>
        </p:nvSpPr>
        <p:spPr>
          <a:xfrm>
            <a:off x="365760" y="1234440"/>
            <a:ext cx="3657600" cy="530352"/>
          </a:xfrm>
          <a:prstGeom prst="roundRect">
            <a:avLst>
              <a:gd name="adj" fmla="val 17241"/>
            </a:avLst>
          </a:prstGeom>
          <a:solidFill>
            <a:srgbClr val="CFE8FF"/>
          </a:solidFill>
          <a:ln/>
        </p:spPr>
      </p:sp>
      <p:sp>
        <p:nvSpPr>
          <p:cNvPr id="6" name="Text 4"/>
          <p:cNvSpPr txBox="1"/>
          <p:nvPr/>
        </p:nvSpPr>
        <p:spPr>
          <a:xfrm>
            <a:off x="548640" y="1271016"/>
            <a:ext cx="3291840" cy="292608"/>
          </a:xfrm>
          <a:prstGeom prst="rect">
            <a:avLst/>
          </a:prstGeom>
          <a:noFill/>
          <a:ln/>
        </p:spPr>
        <p:txBody>
          <a:bodyPr wrap="square" lIns="0" tIns="0" rIns="0" bIns="0" rtlCol="0" anchor="ctr"/>
          <a:lstStyle/>
          <a:p>
            <a:pPr indent="0" marL="0">
              <a:buNone/>
            </a:pPr>
            <a:r>
              <a:rPr lang="en-US" sz="2200" b="1" dirty="0">
                <a:solidFill>
                  <a:srgbClr val="26352F"/>
                </a:solidFill>
                <a:latin typeface="Calibri" pitchFamily="34" charset="0"/>
                <a:ea typeface="Calibri" pitchFamily="34" charset="-122"/>
                <a:cs typeface="Calibri" pitchFamily="34" charset="-120"/>
              </a:rPr>
              <a:t>EEA</a:t>
            </a:r>
            <a:endParaRPr lang="en-US" sz="2200" dirty="0"/>
          </a:p>
        </p:txBody>
      </p:sp>
      <p:sp>
        <p:nvSpPr>
          <p:cNvPr id="7" name="Text 5"/>
          <p:cNvSpPr txBox="1"/>
          <p:nvPr/>
        </p:nvSpPr>
        <p:spPr>
          <a:xfrm>
            <a:off x="548640" y="1536192"/>
            <a:ext cx="3291840" cy="219456"/>
          </a:xfrm>
          <a:prstGeom prst="rect">
            <a:avLst/>
          </a:prstGeom>
          <a:noFill/>
          <a:ln/>
        </p:spPr>
        <p:txBody>
          <a:bodyPr wrap="square" lIns="0" tIns="0" rIns="0" bIns="0" rtlCol="0" anchor="ctr"/>
          <a:lstStyle/>
          <a:p>
            <a:pPr indent="0" marL="0">
              <a:buNone/>
            </a:pPr>
            <a:r>
              <a:rPr lang="en-US" sz="1600" dirty="0">
                <a:solidFill>
                  <a:srgbClr val="3F4E47"/>
                </a:solidFill>
                <a:latin typeface="Calibri" pitchFamily="34" charset="0"/>
                <a:ea typeface="Calibri" pitchFamily="34" charset="-122"/>
                <a:cs typeface="Calibri" pitchFamily="34" charset="-120"/>
              </a:rPr>
              <a:t>Air Quality</a:t>
            </a:r>
            <a:endParaRPr lang="en-US" sz="1600" dirty="0"/>
          </a:p>
        </p:txBody>
      </p:sp>
      <p:sp>
        <p:nvSpPr>
          <p:cNvPr id="8" name="Text 6"/>
          <p:cNvSpPr txBox="1"/>
          <p:nvPr/>
        </p:nvSpPr>
        <p:spPr>
          <a:xfrm>
            <a:off x="365760" y="1856232"/>
            <a:ext cx="3657600" cy="731520"/>
          </a:xfrm>
          <a:prstGeom prst="rect">
            <a:avLst/>
          </a:prstGeom>
          <a:noFill/>
          <a:ln/>
        </p:spPr>
        <p:txBody>
          <a:bodyPr wrap="square" lIns="0" tIns="0" rIns="0" bIns="0" rtlCol="0" anchor="t"/>
          <a:lstStyle/>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Day × Station × Pollutant</a:t>
            </a:r>
            <a:endParaRPr lang="en-US" sz="1600" dirty="0"/>
          </a:p>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Parquet · File URL API</a:t>
            </a:r>
            <a:endParaRPr lang="en-US" sz="1600" dirty="0"/>
          </a:p>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DE · PL</a:t>
            </a:r>
            <a:endParaRPr lang="en-US" sz="1600" dirty="0"/>
          </a:p>
        </p:txBody>
      </p:sp>
      <p:sp>
        <p:nvSpPr>
          <p:cNvPr id="9" name="Text 7"/>
          <p:cNvSpPr txBox="1"/>
          <p:nvPr/>
        </p:nvSpPr>
        <p:spPr>
          <a:xfrm>
            <a:off x="365760" y="2679192"/>
            <a:ext cx="3657600" cy="274320"/>
          </a:xfrm>
          <a:prstGeom prst="rect">
            <a:avLst/>
          </a:prstGeom>
          <a:noFill/>
          <a:ln/>
        </p:spPr>
        <p:txBody>
          <a:bodyPr wrap="square" lIns="0" tIns="0" rIns="0" bIns="0" rtlCol="0" anchor="t"/>
          <a:lstStyle/>
          <a:p>
            <a:pPr indent="0" marL="0">
              <a:lnSpc>
                <a:spcPct val="105000"/>
              </a:lnSpc>
              <a:buNone/>
            </a:pPr>
            <a:r>
              <a:rPr lang="en-US" sz="1600" b="1" dirty="0">
                <a:solidFill>
                  <a:srgbClr val="1D5F8A"/>
                </a:solidFill>
                <a:latin typeface="Calibri" pitchFamily="34" charset="0"/>
                <a:ea typeface="Calibri" pitchFamily="34" charset="-122"/>
                <a:cs typeface="Calibri" pitchFamily="34" charset="-120"/>
              </a:rPr>
              <a:t>PM10 · PM2.5 · NO₂ · O₃ · SO₂</a:t>
            </a:r>
            <a:endParaRPr lang="en-US" sz="1600" dirty="0"/>
          </a:p>
        </p:txBody>
      </p:sp>
      <p:sp>
        <p:nvSpPr>
          <p:cNvPr id="10" name="Text 8"/>
          <p:cNvSpPr txBox="1"/>
          <p:nvPr/>
        </p:nvSpPr>
        <p:spPr>
          <a:xfrm>
            <a:off x="365760" y="3063240"/>
            <a:ext cx="3657600" cy="219456"/>
          </a:xfrm>
          <a:prstGeom prst="rect">
            <a:avLst/>
          </a:prstGeom>
          <a:noFill/>
          <a:ln/>
        </p:spPr>
        <p:txBody>
          <a:bodyPr wrap="square" lIns="0" tIns="0" rIns="0" bIns="0" rtlCol="0" anchor="ctr"/>
          <a:lstStyle/>
          <a:p>
            <a:pPr indent="0" marL="0">
              <a:buNone/>
            </a:pPr>
            <a:r>
              <a:rPr lang="en-US" sz="1600" b="1" dirty="0">
                <a:solidFill>
                  <a:srgbClr val="315B4C"/>
                </a:solidFill>
                <a:latin typeface="Courier New" pitchFamily="34" charset="0"/>
                <a:ea typeface="Courier New" pitchFamily="34" charset="-122"/>
                <a:cs typeface="Courier New" pitchFamily="34" charset="-120"/>
              </a:rPr>
              <a:t>POST /ParquetFile/urls</a:t>
            </a:r>
            <a:endParaRPr lang="en-US" sz="1600" dirty="0"/>
          </a:p>
        </p:txBody>
      </p:sp>
      <p:sp>
        <p:nvSpPr>
          <p:cNvPr id="11" name="Shape 9"/>
          <p:cNvSpPr/>
          <p:nvPr/>
        </p:nvSpPr>
        <p:spPr>
          <a:xfrm>
            <a:off x="365760" y="3337560"/>
            <a:ext cx="3657600" cy="1417320"/>
          </a:xfrm>
          <a:prstGeom prst="roundRect">
            <a:avLst>
              <a:gd name="adj" fmla="val 3871"/>
            </a:avLst>
          </a:prstGeom>
          <a:solidFill>
            <a:srgbClr val="2F3A35"/>
          </a:solidFill>
          <a:ln/>
        </p:spPr>
      </p:sp>
      <p:sp>
        <p:nvSpPr>
          <p:cNvPr id="12" name="Text 10"/>
          <p:cNvSpPr txBox="1"/>
          <p:nvPr/>
        </p:nvSpPr>
        <p:spPr>
          <a:xfrm>
            <a:off x="493776" y="3410712"/>
            <a:ext cx="3401568" cy="1271016"/>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"countries": ["DE"],</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"pollutants": ["PM10"],</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"aggregationType": "day"</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a:t>
            </a:r>
            <a:endParaRPr lang="en-US" sz="1600" dirty="0"/>
          </a:p>
        </p:txBody>
      </p:sp>
      <p:sp>
        <p:nvSpPr>
          <p:cNvPr id="13" name="Shape 11"/>
          <p:cNvSpPr/>
          <p:nvPr/>
        </p:nvSpPr>
        <p:spPr>
          <a:xfrm>
            <a:off x="365760" y="4864608"/>
            <a:ext cx="3657600" cy="512064"/>
          </a:xfrm>
          <a:prstGeom prst="roundRect">
            <a:avLst>
              <a:gd name="adj" fmla="val 14286"/>
            </a:avLst>
          </a:prstGeom>
          <a:solidFill>
            <a:srgbClr val="E8E5DF"/>
          </a:solidFill>
          <a:ln w="9525">
            <a:solidFill>
              <a:srgbClr val="D8D3C6"/>
            </a:solidFill>
            <a:prstDash val="solid"/>
          </a:ln>
        </p:spPr>
      </p:sp>
      <p:sp>
        <p:nvSpPr>
          <p:cNvPr id="14" name="Text 12"/>
          <p:cNvSpPr txBox="1"/>
          <p:nvPr/>
        </p:nvSpPr>
        <p:spPr>
          <a:xfrm>
            <a:off x="493776" y="4901184"/>
            <a:ext cx="3401568" cy="457200"/>
          </a:xfrm>
          <a:prstGeom prst="rect">
            <a:avLst/>
          </a:prstGeom>
          <a:noFill/>
          <a:ln/>
        </p:spPr>
        <p:txBody>
          <a:bodyPr wrap="square" lIns="0" tIns="0" rIns="0" bIns="0" rtlCol="0" anchor="t"/>
          <a:lstStyle/>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DEBE034 · PM10 · 18.4</a:t>
            </a:r>
            <a:endParaRPr lang="en-US" sz="1600" dirty="0"/>
          </a:p>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2025-01-01 · ug.m-3</a:t>
            </a:r>
            <a:endParaRPr lang="en-US" sz="1600" dirty="0"/>
          </a:p>
        </p:txBody>
      </p:sp>
      <p:sp>
        <p:nvSpPr>
          <p:cNvPr id="15" name="Text 13"/>
          <p:cNvSpPr txBox="1"/>
          <p:nvPr/>
        </p:nvSpPr>
        <p:spPr>
          <a:xfrm>
            <a:off x="365760" y="5522976"/>
            <a:ext cx="3657600" cy="694944"/>
          </a:xfrm>
          <a:prstGeom prst="rect">
            <a:avLst/>
          </a:prstGeom>
          <a:noFill/>
          <a:ln/>
        </p:spPr>
        <p:txBody>
          <a:bodyPr wrap="square" lIns="0" tIns="0" rIns="0" bIns="0" rtlCol="0" anchor="t"/>
          <a:lstStyle/>
          <a:p>
            <a:pPr indent="0" marL="0">
              <a:lnSpc>
                <a:spcPct val="112000"/>
              </a:lnSpc>
              <a:buNone/>
            </a:pPr>
            <a:r>
              <a:rPr lang="en-US" sz="1600" b="1" dirty="0">
                <a:solidFill>
                  <a:srgbClr val="1D5F8A"/>
                </a:solidFill>
                <a:latin typeface="Calibri" pitchFamily="34" charset="0"/>
                <a:ea typeface="Calibri" pitchFamily="34" charset="-122"/>
                <a:cs typeface="Calibri" pitchFamily="34" charset="-120"/>
              </a:rPr>
              <a:t>54,099 rows · 14 columns</a:t>
            </a:r>
            <a:endParaRPr lang="en-US" sz="1600" dirty="0"/>
          </a:p>
          <a:p>
            <a:pPr indent="0" marL="0">
              <a:lnSpc>
                <a:spcPct val="112000"/>
              </a:lnSpc>
              <a:buNone/>
            </a:pPr>
            <a:r>
              <a:rPr lang="en-US" sz="1600" b="1" dirty="0">
                <a:solidFill>
                  <a:srgbClr val="1D5F8A"/>
                </a:solidFill>
                <a:latin typeface="Calibri" pitchFamily="34" charset="0"/>
                <a:ea typeface="Calibri" pitchFamily="34" charset="-122"/>
                <a:cs typeface="Calibri" pitchFamily="34" charset="-120"/>
              </a:rPr>
              <a:t>DE 53,796 · PL 303</a:t>
            </a:r>
            <a:endParaRPr lang="en-US" sz="1600" dirty="0"/>
          </a:p>
          <a:p>
            <a:pPr indent="0" marL="0">
              <a:lnSpc>
                <a:spcPct val="112000"/>
              </a:lnSpc>
              <a:buNone/>
            </a:pPr>
            <a:r>
              <a:rPr lang="en-US" sz="1600" b="1" dirty="0">
                <a:solidFill>
                  <a:srgbClr val="1D5F8A"/>
                </a:solidFill>
                <a:latin typeface="Calibri" pitchFamily="34" charset="0"/>
                <a:ea typeface="Calibri" pitchFamily="34" charset="-122"/>
                <a:cs typeface="Calibri" pitchFamily="34" charset="-120"/>
              </a:rPr>
              <a:t>Gold: PM10 + PM2.5</a:t>
            </a:r>
            <a:endParaRPr lang="en-US" sz="1600" dirty="0"/>
          </a:p>
        </p:txBody>
      </p:sp>
      <p:sp>
        <p:nvSpPr>
          <p:cNvPr id="16" name="Shape 14"/>
          <p:cNvSpPr/>
          <p:nvPr/>
        </p:nvSpPr>
        <p:spPr>
          <a:xfrm>
            <a:off x="4251960" y="1234440"/>
            <a:ext cx="3657600" cy="530352"/>
          </a:xfrm>
          <a:prstGeom prst="roundRect">
            <a:avLst>
              <a:gd name="adj" fmla="val 17241"/>
            </a:avLst>
          </a:prstGeom>
          <a:solidFill>
            <a:srgbClr val="FFF0B8"/>
          </a:solidFill>
          <a:ln/>
        </p:spPr>
      </p:sp>
      <p:sp>
        <p:nvSpPr>
          <p:cNvPr id="17" name="Text 15"/>
          <p:cNvSpPr txBox="1"/>
          <p:nvPr/>
        </p:nvSpPr>
        <p:spPr>
          <a:xfrm>
            <a:off x="4434840" y="1271016"/>
            <a:ext cx="3291840" cy="292608"/>
          </a:xfrm>
          <a:prstGeom prst="rect">
            <a:avLst/>
          </a:prstGeom>
          <a:noFill/>
          <a:ln/>
        </p:spPr>
        <p:txBody>
          <a:bodyPr wrap="square" lIns="0" tIns="0" rIns="0" bIns="0" rtlCol="0" anchor="ctr"/>
          <a:lstStyle/>
          <a:p>
            <a:pPr indent="0" marL="0">
              <a:buNone/>
            </a:pPr>
            <a:r>
              <a:rPr lang="en-US" sz="2200" b="1" dirty="0">
                <a:solidFill>
                  <a:srgbClr val="26352F"/>
                </a:solidFill>
                <a:latin typeface="Calibri" pitchFamily="34" charset="0"/>
                <a:ea typeface="Calibri" pitchFamily="34" charset="-122"/>
                <a:cs typeface="Calibri" pitchFamily="34" charset="-120"/>
              </a:rPr>
              <a:t>TED</a:t>
            </a:r>
            <a:endParaRPr lang="en-US" sz="2200" dirty="0"/>
          </a:p>
        </p:txBody>
      </p:sp>
      <p:sp>
        <p:nvSpPr>
          <p:cNvPr id="18" name="Text 16"/>
          <p:cNvSpPr txBox="1"/>
          <p:nvPr/>
        </p:nvSpPr>
        <p:spPr>
          <a:xfrm>
            <a:off x="4434840" y="1536192"/>
            <a:ext cx="3291840" cy="219456"/>
          </a:xfrm>
          <a:prstGeom prst="rect">
            <a:avLst/>
          </a:prstGeom>
          <a:noFill/>
          <a:ln/>
        </p:spPr>
        <p:txBody>
          <a:bodyPr wrap="square" lIns="0" tIns="0" rIns="0" bIns="0" rtlCol="0" anchor="ctr"/>
          <a:lstStyle/>
          <a:p>
            <a:pPr indent="0" marL="0">
              <a:buNone/>
            </a:pPr>
            <a:r>
              <a:rPr lang="en-US" sz="1600" dirty="0">
                <a:solidFill>
                  <a:srgbClr val="3F4E47"/>
                </a:solidFill>
                <a:latin typeface="Calibri" pitchFamily="34" charset="0"/>
                <a:ea typeface="Calibri" pitchFamily="34" charset="-122"/>
                <a:cs typeface="Calibri" pitchFamily="34" charset="-120"/>
              </a:rPr>
              <a:t>Public Procurement</a:t>
            </a:r>
            <a:endParaRPr lang="en-US" sz="1600" dirty="0"/>
          </a:p>
        </p:txBody>
      </p:sp>
      <p:sp>
        <p:nvSpPr>
          <p:cNvPr id="19" name="Text 17"/>
          <p:cNvSpPr txBox="1"/>
          <p:nvPr/>
        </p:nvSpPr>
        <p:spPr>
          <a:xfrm>
            <a:off x="4251960" y="1856232"/>
            <a:ext cx="3657600" cy="731520"/>
          </a:xfrm>
          <a:prstGeom prst="rect">
            <a:avLst/>
          </a:prstGeom>
          <a:noFill/>
          <a:ln/>
        </p:spPr>
        <p:txBody>
          <a:bodyPr wrap="square" lIns="0" tIns="0" rIns="0" bIns="0" rtlCol="0" anchor="t"/>
          <a:lstStyle/>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One notice per record</a:t>
            </a:r>
            <a:endParaRPr lang="en-US" sz="1600" dirty="0"/>
          </a:p>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JSON → JSONL · Search API</a:t>
            </a:r>
            <a:endParaRPr lang="en-US" sz="1600" dirty="0"/>
          </a:p>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DE · PL</a:t>
            </a:r>
            <a:endParaRPr lang="en-US" sz="1600" dirty="0"/>
          </a:p>
        </p:txBody>
      </p:sp>
      <p:sp>
        <p:nvSpPr>
          <p:cNvPr id="20" name="Text 18"/>
          <p:cNvSpPr txBox="1"/>
          <p:nvPr/>
        </p:nvSpPr>
        <p:spPr>
          <a:xfrm>
            <a:off x="4251960" y="2679192"/>
            <a:ext cx="3657600" cy="274320"/>
          </a:xfrm>
          <a:prstGeom prst="rect">
            <a:avLst/>
          </a:prstGeom>
          <a:noFill/>
          <a:ln/>
        </p:spPr>
        <p:txBody>
          <a:bodyPr wrap="square" lIns="0" tIns="0" rIns="0" bIns="0" rtlCol="0" anchor="t"/>
          <a:lstStyle/>
          <a:p>
            <a:pPr indent="0" marL="0">
              <a:lnSpc>
                <a:spcPct val="105000"/>
              </a:lnSpc>
              <a:buNone/>
            </a:pPr>
            <a:r>
              <a:rPr lang="en-US" sz="1600" b="1" dirty="0">
                <a:solidFill>
                  <a:srgbClr val="8A6D1D"/>
                </a:solidFill>
                <a:latin typeface="Calibri" pitchFamily="34" charset="0"/>
                <a:ea typeface="Calibri" pitchFamily="34" charset="-122"/>
                <a:cs typeface="Calibri" pitchFamily="34" charset="-120"/>
              </a:rPr>
              <a:t>Buyer · CPV · NUTS · Value</a:t>
            </a:r>
            <a:endParaRPr lang="en-US" sz="1600" dirty="0"/>
          </a:p>
        </p:txBody>
      </p:sp>
      <p:sp>
        <p:nvSpPr>
          <p:cNvPr id="21" name="Text 19"/>
          <p:cNvSpPr txBox="1"/>
          <p:nvPr/>
        </p:nvSpPr>
        <p:spPr>
          <a:xfrm>
            <a:off x="4251960" y="3063240"/>
            <a:ext cx="3657600" cy="219456"/>
          </a:xfrm>
          <a:prstGeom prst="rect">
            <a:avLst/>
          </a:prstGeom>
          <a:noFill/>
          <a:ln/>
        </p:spPr>
        <p:txBody>
          <a:bodyPr wrap="square" lIns="0" tIns="0" rIns="0" bIns="0" rtlCol="0" anchor="ctr"/>
          <a:lstStyle/>
          <a:p>
            <a:pPr indent="0" marL="0">
              <a:buNone/>
            </a:pPr>
            <a:r>
              <a:rPr lang="en-US" sz="1600" b="1" dirty="0">
                <a:solidFill>
                  <a:srgbClr val="315B4C"/>
                </a:solidFill>
                <a:latin typeface="Courier New" pitchFamily="34" charset="0"/>
                <a:ea typeface="Courier New" pitchFamily="34" charset="-122"/>
                <a:cs typeface="Courier New" pitchFamily="34" charset="-120"/>
              </a:rPr>
              <a:t>POST /v3/notices/search</a:t>
            </a:r>
            <a:endParaRPr lang="en-US" sz="1600" dirty="0"/>
          </a:p>
        </p:txBody>
      </p:sp>
      <p:sp>
        <p:nvSpPr>
          <p:cNvPr id="22" name="Shape 20"/>
          <p:cNvSpPr/>
          <p:nvPr/>
        </p:nvSpPr>
        <p:spPr>
          <a:xfrm>
            <a:off x="4251960" y="3337560"/>
            <a:ext cx="3657600" cy="1170432"/>
          </a:xfrm>
          <a:prstGeom prst="roundRect">
            <a:avLst>
              <a:gd name="adj" fmla="val 4688"/>
            </a:avLst>
          </a:prstGeom>
          <a:solidFill>
            <a:srgbClr val="2F3A35"/>
          </a:solidFill>
          <a:ln/>
        </p:spPr>
      </p:sp>
      <p:sp>
        <p:nvSpPr>
          <p:cNvPr id="23" name="Text 21"/>
          <p:cNvSpPr txBox="1"/>
          <p:nvPr/>
        </p:nvSpPr>
        <p:spPr>
          <a:xfrm>
            <a:off x="4379976" y="3410712"/>
            <a:ext cx="3401568" cy="1024128"/>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"limit": 250,</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"latest": true</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a:t>
            </a:r>
            <a:endParaRPr lang="en-US" sz="1600" dirty="0"/>
          </a:p>
        </p:txBody>
      </p:sp>
      <p:sp>
        <p:nvSpPr>
          <p:cNvPr id="24" name="Shape 22"/>
          <p:cNvSpPr/>
          <p:nvPr/>
        </p:nvSpPr>
        <p:spPr>
          <a:xfrm>
            <a:off x="4251960" y="4617720"/>
            <a:ext cx="3657600" cy="512064"/>
          </a:xfrm>
          <a:prstGeom prst="roundRect">
            <a:avLst>
              <a:gd name="adj" fmla="val 14286"/>
            </a:avLst>
          </a:prstGeom>
          <a:solidFill>
            <a:srgbClr val="E8E5DF"/>
          </a:solidFill>
          <a:ln w="9525">
            <a:solidFill>
              <a:srgbClr val="D8D3C6"/>
            </a:solidFill>
            <a:prstDash val="solid"/>
          </a:ln>
        </p:spPr>
      </p:sp>
      <p:sp>
        <p:nvSpPr>
          <p:cNvPr id="25" name="Text 23"/>
          <p:cNvSpPr txBox="1"/>
          <p:nvPr/>
        </p:nvSpPr>
        <p:spPr>
          <a:xfrm>
            <a:off x="4379976" y="4654296"/>
            <a:ext cx="3401568" cy="457200"/>
          </a:xfrm>
          <a:prstGeom prst="rect">
            <a:avLst/>
          </a:prstGeom>
          <a:noFill/>
          <a:ln/>
        </p:spPr>
        <p:txBody>
          <a:bodyPr wrap="square" lIns="0" tIns="0" rIns="0" bIns="0" rtlCol="0" anchor="t"/>
          <a:lstStyle/>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123456-2025 · DE30</a:t>
            </a:r>
            <a:endParaRPr lang="en-US" sz="1600" dirty="0"/>
          </a:p>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1,250,000 EUR</a:t>
            </a:r>
            <a:endParaRPr lang="en-US" sz="1600" dirty="0"/>
          </a:p>
        </p:txBody>
      </p:sp>
      <p:sp>
        <p:nvSpPr>
          <p:cNvPr id="26" name="Text 24"/>
          <p:cNvSpPr txBox="1"/>
          <p:nvPr/>
        </p:nvSpPr>
        <p:spPr>
          <a:xfrm>
            <a:off x="4251960" y="5276088"/>
            <a:ext cx="3657600" cy="694944"/>
          </a:xfrm>
          <a:prstGeom prst="rect">
            <a:avLst/>
          </a:prstGeom>
          <a:noFill/>
          <a:ln/>
        </p:spPr>
        <p:txBody>
          <a:bodyPr wrap="square" lIns="0" tIns="0" rIns="0" bIns="0" rtlCol="0" anchor="t"/>
          <a:lstStyle/>
          <a:p>
            <a:pPr indent="0" marL="0">
              <a:lnSpc>
                <a:spcPct val="112000"/>
              </a:lnSpc>
              <a:buNone/>
            </a:pPr>
            <a:r>
              <a:rPr lang="en-US" sz="1600" b="1" dirty="0">
                <a:solidFill>
                  <a:srgbClr val="8A6D1D"/>
                </a:solidFill>
                <a:latin typeface="Calibri" pitchFamily="34" charset="0"/>
                <a:ea typeface="Calibri" pitchFamily="34" charset="-122"/>
                <a:cs typeface="Calibri" pitchFamily="34" charset="-120"/>
              </a:rPr>
              <a:t>61,794 notices · 13 columns</a:t>
            </a:r>
            <a:endParaRPr lang="en-US" sz="1600" dirty="0"/>
          </a:p>
          <a:p>
            <a:pPr indent="0" marL="0">
              <a:lnSpc>
                <a:spcPct val="112000"/>
              </a:lnSpc>
              <a:buNone/>
            </a:pPr>
            <a:r>
              <a:rPr lang="en-US" sz="1600" b="1" dirty="0">
                <a:solidFill>
                  <a:srgbClr val="8A6D1D"/>
                </a:solidFill>
                <a:latin typeface="Calibri" pitchFamily="34" charset="0"/>
                <a:ea typeface="Calibri" pitchFamily="34" charset="-122"/>
                <a:cs typeface="Calibri" pitchFamily="34" charset="-120"/>
              </a:rPr>
              <a:t>DE 24,154 · PL 37,640</a:t>
            </a:r>
            <a:endParaRPr lang="en-US" sz="1600" dirty="0"/>
          </a:p>
          <a:p>
            <a:pPr indent="0" marL="0">
              <a:lnSpc>
                <a:spcPct val="112000"/>
              </a:lnSpc>
              <a:buNone/>
            </a:pPr>
            <a:r>
              <a:rPr lang="en-US" sz="1600" b="1" dirty="0">
                <a:solidFill>
                  <a:srgbClr val="8A6D1D"/>
                </a:solidFill>
                <a:latin typeface="Calibri" pitchFamily="34" charset="0"/>
                <a:ea typeface="Calibri" pitchFamily="34" charset="-122"/>
                <a:cs typeface="Calibri" pitchFamily="34" charset="-120"/>
              </a:rPr>
              <a:t>2021–2026</a:t>
            </a:r>
            <a:endParaRPr lang="en-US" sz="1600" dirty="0"/>
          </a:p>
        </p:txBody>
      </p:sp>
      <p:sp>
        <p:nvSpPr>
          <p:cNvPr id="27" name="Shape 25"/>
          <p:cNvSpPr/>
          <p:nvPr/>
        </p:nvSpPr>
        <p:spPr>
          <a:xfrm>
            <a:off x="8138160" y="1234440"/>
            <a:ext cx="3657600" cy="530352"/>
          </a:xfrm>
          <a:prstGeom prst="roundRect">
            <a:avLst>
              <a:gd name="adj" fmla="val 17241"/>
            </a:avLst>
          </a:prstGeom>
          <a:solidFill>
            <a:srgbClr val="D7F4DE"/>
          </a:solidFill>
          <a:ln/>
        </p:spPr>
      </p:sp>
      <p:sp>
        <p:nvSpPr>
          <p:cNvPr id="28" name="Text 26"/>
          <p:cNvSpPr txBox="1"/>
          <p:nvPr/>
        </p:nvSpPr>
        <p:spPr>
          <a:xfrm>
            <a:off x="8321040" y="1271016"/>
            <a:ext cx="3291840" cy="292608"/>
          </a:xfrm>
          <a:prstGeom prst="rect">
            <a:avLst/>
          </a:prstGeom>
          <a:noFill/>
          <a:ln/>
        </p:spPr>
        <p:txBody>
          <a:bodyPr wrap="square" lIns="0" tIns="0" rIns="0" bIns="0" rtlCol="0" anchor="ctr"/>
          <a:lstStyle/>
          <a:p>
            <a:pPr indent="0" marL="0">
              <a:buNone/>
            </a:pPr>
            <a:r>
              <a:rPr lang="en-US" sz="2200" b="1" dirty="0">
                <a:solidFill>
                  <a:srgbClr val="26352F"/>
                </a:solidFill>
                <a:latin typeface="Calibri" pitchFamily="34" charset="0"/>
                <a:ea typeface="Calibri" pitchFamily="34" charset="-122"/>
                <a:cs typeface="Calibri" pitchFamily="34" charset="-120"/>
              </a:rPr>
              <a:t>Eurostat</a:t>
            </a:r>
            <a:endParaRPr lang="en-US" sz="2200" dirty="0"/>
          </a:p>
        </p:txBody>
      </p:sp>
      <p:sp>
        <p:nvSpPr>
          <p:cNvPr id="29" name="Text 27"/>
          <p:cNvSpPr txBox="1"/>
          <p:nvPr/>
        </p:nvSpPr>
        <p:spPr>
          <a:xfrm>
            <a:off x="8321040" y="1536192"/>
            <a:ext cx="3291840" cy="219456"/>
          </a:xfrm>
          <a:prstGeom prst="rect">
            <a:avLst/>
          </a:prstGeom>
          <a:noFill/>
          <a:ln/>
        </p:spPr>
        <p:txBody>
          <a:bodyPr wrap="square" lIns="0" tIns="0" rIns="0" bIns="0" rtlCol="0" anchor="ctr"/>
          <a:lstStyle/>
          <a:p>
            <a:pPr indent="0" marL="0">
              <a:buNone/>
            </a:pPr>
            <a:r>
              <a:rPr lang="en-US" sz="1600" dirty="0">
                <a:solidFill>
                  <a:srgbClr val="3F4E47"/>
                </a:solidFill>
                <a:latin typeface="Calibri" pitchFamily="34" charset="0"/>
                <a:ea typeface="Calibri" pitchFamily="34" charset="-122"/>
                <a:cs typeface="Calibri" pitchFamily="34" charset="-120"/>
              </a:rPr>
              <a:t>Regional Agriculture</a:t>
            </a:r>
            <a:endParaRPr lang="en-US" sz="1600" dirty="0"/>
          </a:p>
        </p:txBody>
      </p:sp>
      <p:sp>
        <p:nvSpPr>
          <p:cNvPr id="30" name="Text 28"/>
          <p:cNvSpPr txBox="1"/>
          <p:nvPr/>
        </p:nvSpPr>
        <p:spPr>
          <a:xfrm>
            <a:off x="8138160" y="1856232"/>
            <a:ext cx="3657600" cy="731520"/>
          </a:xfrm>
          <a:prstGeom prst="rect">
            <a:avLst/>
          </a:prstGeom>
          <a:noFill/>
          <a:ln/>
        </p:spPr>
        <p:txBody>
          <a:bodyPr wrap="square" lIns="0" tIns="0" rIns="0" bIns="0" rtlCol="0" anchor="t"/>
          <a:lstStyle/>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Year × NUTS2 × Item</a:t>
            </a:r>
            <a:endParaRPr lang="en-US" sz="1600" dirty="0"/>
          </a:p>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JSON-stat 2.0</a:t>
            </a:r>
            <a:endParaRPr lang="en-US" sz="1600" dirty="0"/>
          </a:p>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Dataset: aact_eaa01_r</a:t>
            </a:r>
            <a:endParaRPr lang="en-US" sz="1600" dirty="0"/>
          </a:p>
        </p:txBody>
      </p:sp>
      <p:sp>
        <p:nvSpPr>
          <p:cNvPr id="31" name="Text 29"/>
          <p:cNvSpPr txBox="1"/>
          <p:nvPr/>
        </p:nvSpPr>
        <p:spPr>
          <a:xfrm>
            <a:off x="8138160" y="2679192"/>
            <a:ext cx="3657600" cy="274320"/>
          </a:xfrm>
          <a:prstGeom prst="rect">
            <a:avLst/>
          </a:prstGeom>
          <a:noFill/>
          <a:ln/>
        </p:spPr>
        <p:txBody>
          <a:bodyPr wrap="square" lIns="0" tIns="0" rIns="0" bIns="0" rtlCol="0" anchor="t"/>
          <a:lstStyle/>
          <a:p>
            <a:pPr indent="0" marL="0">
              <a:lnSpc>
                <a:spcPct val="105000"/>
              </a:lnSpc>
              <a:buNone/>
            </a:pPr>
            <a:r>
              <a:rPr lang="en-US" sz="1600" b="1" dirty="0">
                <a:solidFill>
                  <a:srgbClr val="2E7A4A"/>
                </a:solidFill>
                <a:latin typeface="Calibri" pitchFamily="34" charset="0"/>
                <a:ea typeface="Calibri" pitchFamily="34" charset="-122"/>
                <a:cs typeface="Calibri" pitchFamily="34" charset="-120"/>
              </a:rPr>
              <a:t>Item · Indicator · Region · Year</a:t>
            </a:r>
            <a:endParaRPr lang="en-US" sz="1600" dirty="0"/>
          </a:p>
        </p:txBody>
      </p:sp>
      <p:sp>
        <p:nvSpPr>
          <p:cNvPr id="32" name="Text 30"/>
          <p:cNvSpPr txBox="1"/>
          <p:nvPr/>
        </p:nvSpPr>
        <p:spPr>
          <a:xfrm>
            <a:off x="8138160" y="3063240"/>
            <a:ext cx="3657600" cy="219456"/>
          </a:xfrm>
          <a:prstGeom prst="rect">
            <a:avLst/>
          </a:prstGeom>
          <a:noFill/>
          <a:ln/>
        </p:spPr>
        <p:txBody>
          <a:bodyPr wrap="square" lIns="0" tIns="0" rIns="0" bIns="0" rtlCol="0" anchor="ctr"/>
          <a:lstStyle/>
          <a:p>
            <a:pPr indent="0" marL="0">
              <a:buNone/>
            </a:pPr>
            <a:r>
              <a:rPr lang="en-US" sz="1600" b="1" dirty="0">
                <a:solidFill>
                  <a:srgbClr val="315B4C"/>
                </a:solidFill>
                <a:latin typeface="Courier New" pitchFamily="34" charset="0"/>
                <a:ea typeface="Courier New" pitchFamily="34" charset="-122"/>
                <a:cs typeface="Courier New" pitchFamily="34" charset="-120"/>
              </a:rPr>
              <a:t>GET /…/data/aact_eaa01_r</a:t>
            </a:r>
            <a:endParaRPr lang="en-US" sz="1600" dirty="0"/>
          </a:p>
        </p:txBody>
      </p:sp>
      <p:sp>
        <p:nvSpPr>
          <p:cNvPr id="33" name="Shape 31"/>
          <p:cNvSpPr/>
          <p:nvPr/>
        </p:nvSpPr>
        <p:spPr>
          <a:xfrm>
            <a:off x="8138160" y="3337560"/>
            <a:ext cx="3657600" cy="1170432"/>
          </a:xfrm>
          <a:prstGeom prst="roundRect">
            <a:avLst>
              <a:gd name="adj" fmla="val 4688"/>
            </a:avLst>
          </a:prstGeom>
          <a:solidFill>
            <a:srgbClr val="2F3A35"/>
          </a:solidFill>
          <a:ln/>
        </p:spPr>
      </p:sp>
      <p:sp>
        <p:nvSpPr>
          <p:cNvPr id="34" name="Text 32"/>
          <p:cNvSpPr txBox="1"/>
          <p:nvPr/>
        </p:nvSpPr>
        <p:spPr>
          <a:xfrm>
            <a:off x="8266176" y="3410712"/>
            <a:ext cx="3401568" cy="1024128"/>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"size": [1,1,1,2,2,1],</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"value": {"0":273.94}</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a:t>
            </a:r>
            <a:endParaRPr lang="en-US" sz="1600" dirty="0"/>
          </a:p>
        </p:txBody>
      </p:sp>
      <p:sp>
        <p:nvSpPr>
          <p:cNvPr id="35" name="Shape 33"/>
          <p:cNvSpPr/>
          <p:nvPr/>
        </p:nvSpPr>
        <p:spPr>
          <a:xfrm>
            <a:off x="8138160" y="4617720"/>
            <a:ext cx="3657600" cy="512064"/>
          </a:xfrm>
          <a:prstGeom prst="roundRect">
            <a:avLst>
              <a:gd name="adj" fmla="val 14286"/>
            </a:avLst>
          </a:prstGeom>
          <a:solidFill>
            <a:srgbClr val="E8E5DF"/>
          </a:solidFill>
          <a:ln w="9525">
            <a:solidFill>
              <a:srgbClr val="D8D3C6"/>
            </a:solidFill>
            <a:prstDash val="solid"/>
          </a:ln>
        </p:spPr>
      </p:sp>
      <p:sp>
        <p:nvSpPr>
          <p:cNvPr id="36" name="Text 34"/>
          <p:cNvSpPr txBox="1"/>
          <p:nvPr/>
        </p:nvSpPr>
        <p:spPr>
          <a:xfrm>
            <a:off x="8266176" y="4654296"/>
            <a:ext cx="3401568" cy="457200"/>
          </a:xfrm>
          <a:prstGeom prst="rect">
            <a:avLst/>
          </a:prstGeom>
          <a:noFill/>
          <a:ln/>
        </p:spPr>
        <p:txBody>
          <a:bodyPr wrap="square" lIns="0" tIns="0" rIns="0" bIns="0" rtlCol="0" anchor="t"/>
          <a:lstStyle/>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DE11 · Cereals · 2023</a:t>
            </a:r>
            <a:endParaRPr lang="en-US" sz="1600" dirty="0"/>
          </a:p>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273.94 Million EUR</a:t>
            </a:r>
            <a:endParaRPr lang="en-US" sz="1600" dirty="0"/>
          </a:p>
        </p:txBody>
      </p:sp>
      <p:sp>
        <p:nvSpPr>
          <p:cNvPr id="37" name="Text 35"/>
          <p:cNvSpPr txBox="1"/>
          <p:nvPr/>
        </p:nvSpPr>
        <p:spPr>
          <a:xfrm>
            <a:off x="8138160" y="5276088"/>
            <a:ext cx="3657600" cy="694944"/>
          </a:xfrm>
          <a:prstGeom prst="rect">
            <a:avLst/>
          </a:prstGeom>
          <a:noFill/>
          <a:ln/>
        </p:spPr>
        <p:txBody>
          <a:bodyPr wrap="square" lIns="0" tIns="0" rIns="0" bIns="0" rtlCol="0" anchor="t"/>
          <a:lstStyle/>
          <a:p>
            <a:pPr indent="0" marL="0">
              <a:lnSpc>
                <a:spcPct val="112000"/>
              </a:lnSpc>
              <a:buNone/>
            </a:pPr>
            <a:r>
              <a:rPr lang="en-US" sz="1600" b="1" dirty="0">
                <a:solidFill>
                  <a:srgbClr val="2E7A4A"/>
                </a:solidFill>
                <a:latin typeface="Calibri" pitchFamily="34" charset="0"/>
                <a:ea typeface="Calibri" pitchFamily="34" charset="-122"/>
                <a:cs typeface="Calibri" pitchFamily="34" charset="-120"/>
              </a:rPr>
              <a:t>27,585 rows · 12 columns</a:t>
            </a:r>
            <a:endParaRPr lang="en-US" sz="1600" dirty="0"/>
          </a:p>
          <a:p>
            <a:pPr indent="0" marL="0">
              <a:lnSpc>
                <a:spcPct val="112000"/>
              </a:lnSpc>
              <a:buNone/>
            </a:pPr>
            <a:r>
              <a:rPr lang="en-US" sz="1600" b="1" dirty="0">
                <a:solidFill>
                  <a:srgbClr val="2E7A4A"/>
                </a:solidFill>
                <a:latin typeface="Calibri" pitchFamily="34" charset="0"/>
                <a:ea typeface="Calibri" pitchFamily="34" charset="-122"/>
                <a:cs typeface="Calibri" pitchFamily="34" charset="-120"/>
              </a:rPr>
              <a:t>DE 19,904 · PL 7,681</a:t>
            </a:r>
            <a:endParaRPr lang="en-US" sz="1600" dirty="0"/>
          </a:p>
          <a:p>
            <a:pPr indent="0" marL="0">
              <a:lnSpc>
                <a:spcPct val="112000"/>
              </a:lnSpc>
              <a:buNone/>
            </a:pPr>
            <a:r>
              <a:rPr lang="en-US" sz="1600" b="1" dirty="0">
                <a:solidFill>
                  <a:srgbClr val="2E7A4A"/>
                </a:solidFill>
                <a:latin typeface="Calibri" pitchFamily="34" charset="0"/>
                <a:ea typeface="Calibri" pitchFamily="34" charset="-122"/>
                <a:cs typeface="Calibri" pitchFamily="34" charset="-120"/>
              </a:rPr>
              <a:t>DE 2021–23 · PL 2021,23</a:t>
            </a:r>
            <a:endParaRPr lang="en-US" sz="1600" dirty="0"/>
          </a:p>
        </p:txBody>
      </p:sp>
      <p:sp>
        <p:nvSpPr>
          <p:cNvPr id="38" name="Text 36"/>
          <p:cNvSpPr txBox="1"/>
          <p:nvPr/>
        </p:nvSpPr>
        <p:spPr>
          <a:xfrm>
            <a:off x="365760" y="6364224"/>
            <a:ext cx="11430000" cy="237744"/>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Not used in MVP:  </a:t>
            </a:r>
            <a:pPr indent="0" marL="0">
              <a:buNone/>
            </a:pPr>
            <a:r>
              <a:rPr lang="en-US" sz="1600" dirty="0">
                <a:solidFill>
                  <a:srgbClr val="56655D"/>
                </a:solidFill>
                <a:latin typeface="Calibri" pitchFamily="34" charset="0"/>
                <a:ea typeface="Calibri" pitchFamily="34" charset="-122"/>
                <a:cs typeface="Calibri" pitchFamily="34" charset="-120"/>
              </a:rPr>
              <a:t>National-only · Broad regions · Old releases · Restricted access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4F9B8B"/>
                </a:solidFill>
                <a:latin typeface="Courier New" pitchFamily="34" charset="0"/>
                <a:ea typeface="Courier New" pitchFamily="34" charset="-122"/>
                <a:cs typeface="Courier New" pitchFamily="34" charset="-120"/>
              </a:rPr>
              <a:t>04</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One Architecture, Four Data Layers</a:t>
            </a:r>
            <a:endParaRPr lang="en-US" sz="3500" dirty="0"/>
          </a:p>
        </p:txBody>
      </p:sp>
      <p:sp>
        <p:nvSpPr>
          <p:cNvPr id="5" name="Shape 3"/>
          <p:cNvSpPr/>
          <p:nvPr/>
        </p:nvSpPr>
        <p:spPr>
          <a:xfrm>
            <a:off x="2926080" y="1298448"/>
            <a:ext cx="3291840" cy="512064"/>
          </a:xfrm>
          <a:prstGeom prst="roundRect">
            <a:avLst>
              <a:gd name="adj" fmla="val 16071"/>
            </a:avLst>
          </a:prstGeom>
          <a:solidFill>
            <a:srgbClr val="E8E5DF"/>
          </a:solidFill>
          <a:ln w="12700">
            <a:solidFill>
              <a:srgbClr val="315B4C"/>
            </a:solidFill>
            <a:prstDash val="solid"/>
          </a:ln>
        </p:spPr>
      </p:sp>
      <p:sp>
        <p:nvSpPr>
          <p:cNvPr id="6" name="Text 4"/>
          <p:cNvSpPr txBox="1"/>
          <p:nvPr/>
        </p:nvSpPr>
        <p:spPr>
          <a:xfrm>
            <a:off x="2926080" y="1298448"/>
            <a:ext cx="3291840" cy="512064"/>
          </a:xfrm>
          <a:prstGeom prst="rect">
            <a:avLst/>
          </a:prstGeom>
          <a:noFill/>
          <a:ln/>
        </p:spPr>
        <p:txBody>
          <a:bodyPr wrap="square" lIns="0" tIns="0" rIns="0" bIns="0" rtlCol="0" anchor="ctr"/>
          <a:lstStyle/>
          <a:p>
            <a:pPr algn="ctr" indent="0" marL="0">
              <a:buNone/>
            </a:pPr>
            <a:r>
              <a:rPr lang="en-US" sz="2400" b="1" dirty="0">
                <a:solidFill>
                  <a:srgbClr val="26352F"/>
                </a:solidFill>
                <a:latin typeface="Calibri" pitchFamily="34" charset="0"/>
                <a:ea typeface="Calibri" pitchFamily="34" charset="-122"/>
                <a:cs typeface="Calibri" pitchFamily="34" charset="-120"/>
              </a:rPr>
              <a:t>RAW</a:t>
            </a:r>
            <a:endParaRPr lang="en-US" sz="2400" dirty="0"/>
          </a:p>
        </p:txBody>
      </p:sp>
      <p:sp>
        <p:nvSpPr>
          <p:cNvPr id="7" name="Text 5"/>
          <p:cNvSpPr txBox="1"/>
          <p:nvPr/>
        </p:nvSpPr>
        <p:spPr>
          <a:xfrm>
            <a:off x="6537960" y="1261872"/>
            <a:ext cx="3246120" cy="27432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JSON · JSONL · Parquet</a:t>
            </a:r>
            <a:endParaRPr lang="en-US" sz="1600" dirty="0"/>
          </a:p>
        </p:txBody>
      </p:sp>
      <p:sp>
        <p:nvSpPr>
          <p:cNvPr id="8" name="Text 6"/>
          <p:cNvSpPr txBox="1"/>
          <p:nvPr/>
        </p:nvSpPr>
        <p:spPr>
          <a:xfrm>
            <a:off x="6537960" y="1591056"/>
            <a:ext cx="3246120" cy="219456"/>
          </a:xfrm>
          <a:prstGeom prst="rect">
            <a:avLst/>
          </a:prstGeom>
          <a:noFill/>
          <a:ln/>
        </p:spPr>
        <p:txBody>
          <a:bodyPr wrap="square" lIns="0" tIns="0" rIns="0" bIns="0" rtlCol="0" anchor="t"/>
          <a:lstStyle/>
          <a:p>
            <a:pPr indent="0" marL="0">
              <a:buNone/>
            </a:pPr>
            <a:r>
              <a:rPr lang="en-US" sz="1600" i="1" dirty="0">
                <a:solidFill>
                  <a:srgbClr val="56655D"/>
                </a:solidFill>
                <a:latin typeface="Calibri" pitchFamily="34" charset="0"/>
                <a:ea typeface="Calibri" pitchFamily="34" charset="-122"/>
                <a:cs typeface="Calibri" pitchFamily="34" charset="-120"/>
              </a:rPr>
              <a:t>Byte-for-byte source fidelity</a:t>
            </a:r>
            <a:endParaRPr lang="en-US" sz="1600" dirty="0"/>
          </a:p>
        </p:txBody>
      </p:sp>
      <p:sp>
        <p:nvSpPr>
          <p:cNvPr id="9" name="Shape 7"/>
          <p:cNvSpPr/>
          <p:nvPr/>
        </p:nvSpPr>
        <p:spPr>
          <a:xfrm>
            <a:off x="4572000" y="1810512"/>
            <a:ext cx="0" cy="457200"/>
          </a:xfrm>
          <a:prstGeom prst="line">
            <a:avLst/>
          </a:prstGeom>
          <a:noFill/>
          <a:ln w="19050">
            <a:solidFill>
              <a:srgbClr val="315B4C"/>
            </a:solidFill>
            <a:prstDash val="solid"/>
            <a:tailEnd type="triangle"/>
          </a:ln>
        </p:spPr>
      </p:sp>
      <p:sp>
        <p:nvSpPr>
          <p:cNvPr id="10" name="Text 8"/>
          <p:cNvSpPr txBox="1"/>
          <p:nvPr/>
        </p:nvSpPr>
        <p:spPr>
          <a:xfrm>
            <a:off x="2926080" y="1920240"/>
            <a:ext cx="3291840" cy="237744"/>
          </a:xfrm>
          <a:prstGeom prst="rect">
            <a:avLst/>
          </a:prstGeom>
          <a:noFill/>
          <a:ln/>
        </p:spPr>
        <p:txBody>
          <a:bodyPr wrap="square" lIns="0" tIns="0" rIns="0" bIns="0" rtlCol="0" anchor="ctr"/>
          <a:lstStyle/>
          <a:p>
            <a:pPr algn="ctr" indent="0" marL="0">
              <a:buNone/>
            </a:pPr>
            <a:r>
              <a:rPr lang="en-US" sz="1600" dirty="0">
                <a:solidFill>
                  <a:srgbClr val="315B4C"/>
                </a:solidFill>
                <a:latin typeface="Courier New" pitchFamily="34" charset="0"/>
                <a:ea typeface="Courier New" pitchFamily="34" charset="-122"/>
                <a:cs typeface="Courier New" pitchFamily="34" charset="-120"/>
              </a:rPr>
              <a:t>Rename · Parse · Validate</a:t>
            </a:r>
            <a:endParaRPr lang="en-US" sz="1600" dirty="0"/>
          </a:p>
        </p:txBody>
      </p:sp>
      <p:sp>
        <p:nvSpPr>
          <p:cNvPr id="11" name="Shape 9"/>
          <p:cNvSpPr/>
          <p:nvPr/>
        </p:nvSpPr>
        <p:spPr>
          <a:xfrm>
            <a:off x="2926080" y="2267712"/>
            <a:ext cx="3291840" cy="512064"/>
          </a:xfrm>
          <a:prstGeom prst="roundRect">
            <a:avLst>
              <a:gd name="adj" fmla="val 16071"/>
            </a:avLst>
          </a:prstGeom>
          <a:solidFill>
            <a:srgbClr val="DDD8FF"/>
          </a:solidFill>
          <a:ln w="12700">
            <a:solidFill>
              <a:srgbClr val="315B4C"/>
            </a:solidFill>
            <a:prstDash val="solid"/>
          </a:ln>
        </p:spPr>
      </p:sp>
      <p:sp>
        <p:nvSpPr>
          <p:cNvPr id="12" name="Text 10"/>
          <p:cNvSpPr txBox="1"/>
          <p:nvPr/>
        </p:nvSpPr>
        <p:spPr>
          <a:xfrm>
            <a:off x="2926080" y="2267712"/>
            <a:ext cx="3291840" cy="512064"/>
          </a:xfrm>
          <a:prstGeom prst="rect">
            <a:avLst/>
          </a:prstGeom>
          <a:noFill/>
          <a:ln/>
        </p:spPr>
        <p:txBody>
          <a:bodyPr wrap="square" lIns="0" tIns="0" rIns="0" bIns="0" rtlCol="0" anchor="ctr"/>
          <a:lstStyle/>
          <a:p>
            <a:pPr algn="ctr" indent="0" marL="0">
              <a:buNone/>
            </a:pPr>
            <a:r>
              <a:rPr lang="en-US" sz="2400" b="1" dirty="0">
                <a:solidFill>
                  <a:srgbClr val="26352F"/>
                </a:solidFill>
                <a:latin typeface="Calibri" pitchFamily="34" charset="0"/>
                <a:ea typeface="Calibri" pitchFamily="34" charset="-122"/>
                <a:cs typeface="Calibri" pitchFamily="34" charset="-120"/>
              </a:rPr>
              <a:t>NORMALIZED</a:t>
            </a:r>
            <a:endParaRPr lang="en-US" sz="2400" dirty="0"/>
          </a:p>
        </p:txBody>
      </p:sp>
      <p:sp>
        <p:nvSpPr>
          <p:cNvPr id="13" name="Text 11"/>
          <p:cNvSpPr txBox="1"/>
          <p:nvPr/>
        </p:nvSpPr>
        <p:spPr>
          <a:xfrm>
            <a:off x="6537960" y="2231136"/>
            <a:ext cx="3246120" cy="27432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Clean names · fixed types</a:t>
            </a:r>
            <a:endParaRPr lang="en-US" sz="1600" dirty="0"/>
          </a:p>
        </p:txBody>
      </p:sp>
      <p:sp>
        <p:nvSpPr>
          <p:cNvPr id="14" name="Text 12"/>
          <p:cNvSpPr txBox="1"/>
          <p:nvPr/>
        </p:nvSpPr>
        <p:spPr>
          <a:xfrm>
            <a:off x="6537960" y="2560320"/>
            <a:ext cx="3246120" cy="219456"/>
          </a:xfrm>
          <a:prstGeom prst="rect">
            <a:avLst/>
          </a:prstGeom>
          <a:noFill/>
          <a:ln/>
        </p:spPr>
        <p:txBody>
          <a:bodyPr wrap="square" lIns="0" tIns="0" rIns="0" bIns="0" rtlCol="0" anchor="t"/>
          <a:lstStyle/>
          <a:p>
            <a:pPr indent="0" marL="0">
              <a:buNone/>
            </a:pPr>
            <a:r>
              <a:rPr lang="en-US" sz="1600" i="1" dirty="0">
                <a:solidFill>
                  <a:srgbClr val="56655D"/>
                </a:solidFill>
                <a:latin typeface="Calibri" pitchFamily="34" charset="0"/>
                <a:ea typeface="Calibri" pitchFamily="34" charset="-122"/>
                <a:cs typeface="Calibri" pitchFamily="34" charset="-120"/>
              </a:rPr>
              <a:t>Consistent names + types</a:t>
            </a:r>
            <a:endParaRPr lang="en-US" sz="1600" dirty="0"/>
          </a:p>
        </p:txBody>
      </p:sp>
      <p:sp>
        <p:nvSpPr>
          <p:cNvPr id="15" name="Shape 13"/>
          <p:cNvSpPr/>
          <p:nvPr/>
        </p:nvSpPr>
        <p:spPr>
          <a:xfrm>
            <a:off x="4572000" y="2779776"/>
            <a:ext cx="0" cy="457200"/>
          </a:xfrm>
          <a:prstGeom prst="line">
            <a:avLst/>
          </a:prstGeom>
          <a:noFill/>
          <a:ln w="19050">
            <a:solidFill>
              <a:srgbClr val="315B4C"/>
            </a:solidFill>
            <a:prstDash val="solid"/>
            <a:tailEnd type="triangle"/>
          </a:ln>
        </p:spPr>
      </p:sp>
      <p:sp>
        <p:nvSpPr>
          <p:cNvPr id="16" name="Text 14"/>
          <p:cNvSpPr txBox="1"/>
          <p:nvPr/>
        </p:nvSpPr>
        <p:spPr>
          <a:xfrm>
            <a:off x="2926080" y="2889504"/>
            <a:ext cx="3291840" cy="237744"/>
          </a:xfrm>
          <a:prstGeom prst="rect">
            <a:avLst/>
          </a:prstGeom>
          <a:noFill/>
          <a:ln/>
        </p:spPr>
        <p:txBody>
          <a:bodyPr wrap="square" lIns="0" tIns="0" rIns="0" bIns="0" rtlCol="0" anchor="ctr"/>
          <a:lstStyle/>
          <a:p>
            <a:pPr algn="ctr" indent="0" marL="0">
              <a:buNone/>
            </a:pPr>
            <a:r>
              <a:rPr lang="en-US" sz="1600" dirty="0">
                <a:solidFill>
                  <a:srgbClr val="315B4C"/>
                </a:solidFill>
                <a:latin typeface="Courier New" pitchFamily="34" charset="0"/>
                <a:ea typeface="Courier New" pitchFamily="34" charset="-122"/>
                <a:cs typeface="Courier New" pitchFamily="34" charset="-120"/>
              </a:rPr>
              <a:t>Join refs · Add regions</a:t>
            </a:r>
            <a:endParaRPr lang="en-US" sz="1600" dirty="0"/>
          </a:p>
        </p:txBody>
      </p:sp>
      <p:sp>
        <p:nvSpPr>
          <p:cNvPr id="17" name="Shape 15"/>
          <p:cNvSpPr/>
          <p:nvPr/>
        </p:nvSpPr>
        <p:spPr>
          <a:xfrm>
            <a:off x="2926080" y="3236976"/>
            <a:ext cx="3291840" cy="512064"/>
          </a:xfrm>
          <a:prstGeom prst="roundRect">
            <a:avLst>
              <a:gd name="adj" fmla="val 16071"/>
            </a:avLst>
          </a:prstGeom>
          <a:solidFill>
            <a:srgbClr val="D9C7F2"/>
          </a:solidFill>
          <a:ln w="12700">
            <a:solidFill>
              <a:srgbClr val="315B4C"/>
            </a:solidFill>
            <a:prstDash val="solid"/>
          </a:ln>
        </p:spPr>
      </p:sp>
      <p:sp>
        <p:nvSpPr>
          <p:cNvPr id="18" name="Text 16"/>
          <p:cNvSpPr txBox="1"/>
          <p:nvPr/>
        </p:nvSpPr>
        <p:spPr>
          <a:xfrm>
            <a:off x="2926080" y="3236976"/>
            <a:ext cx="3291840" cy="512064"/>
          </a:xfrm>
          <a:prstGeom prst="rect">
            <a:avLst/>
          </a:prstGeom>
          <a:noFill/>
          <a:ln/>
        </p:spPr>
        <p:txBody>
          <a:bodyPr wrap="square" lIns="0" tIns="0" rIns="0" bIns="0" rtlCol="0" anchor="ctr"/>
          <a:lstStyle/>
          <a:p>
            <a:pPr algn="ctr" indent="0" marL="0">
              <a:buNone/>
            </a:pPr>
            <a:r>
              <a:rPr lang="en-US" sz="2400" b="1" dirty="0">
                <a:solidFill>
                  <a:srgbClr val="26352F"/>
                </a:solidFill>
                <a:latin typeface="Calibri" pitchFamily="34" charset="0"/>
                <a:ea typeface="Calibri" pitchFamily="34" charset="-122"/>
                <a:cs typeface="Calibri" pitchFamily="34" charset="-120"/>
              </a:rPr>
              <a:t>TRANSFORMED</a:t>
            </a:r>
            <a:endParaRPr lang="en-US" sz="2400" dirty="0"/>
          </a:p>
        </p:txBody>
      </p:sp>
      <p:sp>
        <p:nvSpPr>
          <p:cNvPr id="19" name="Text 17"/>
          <p:cNvSpPr txBox="1"/>
          <p:nvPr/>
        </p:nvSpPr>
        <p:spPr>
          <a:xfrm>
            <a:off x="6537960" y="3200400"/>
            <a:ext cx="3246120" cy="27432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 Labels · station data</a:t>
            </a:r>
            <a:endParaRPr lang="en-US" sz="1600" dirty="0"/>
          </a:p>
        </p:txBody>
      </p:sp>
      <p:sp>
        <p:nvSpPr>
          <p:cNvPr id="20" name="Text 18"/>
          <p:cNvSpPr txBox="1"/>
          <p:nvPr/>
        </p:nvSpPr>
        <p:spPr>
          <a:xfrm>
            <a:off x="6537960" y="3529584"/>
            <a:ext cx="3246120" cy="219456"/>
          </a:xfrm>
          <a:prstGeom prst="rect">
            <a:avLst/>
          </a:prstGeom>
          <a:noFill/>
          <a:ln/>
        </p:spPr>
        <p:txBody>
          <a:bodyPr wrap="square" lIns="0" tIns="0" rIns="0" bIns="0" rtlCol="0" anchor="t"/>
          <a:lstStyle/>
          <a:p>
            <a:pPr indent="0" marL="0">
              <a:buNone/>
            </a:pPr>
            <a:r>
              <a:rPr lang="en-US" sz="1600" i="1" dirty="0">
                <a:solidFill>
                  <a:srgbClr val="56655D"/>
                </a:solidFill>
                <a:latin typeface="Calibri" pitchFamily="34" charset="0"/>
                <a:ea typeface="Calibri" pitchFamily="34" charset="-122"/>
                <a:cs typeface="Calibri" pitchFamily="34" charset="-120"/>
              </a:rPr>
              <a:t>Human labels + regional codes</a:t>
            </a:r>
            <a:endParaRPr lang="en-US" sz="1600" dirty="0"/>
          </a:p>
        </p:txBody>
      </p:sp>
      <p:sp>
        <p:nvSpPr>
          <p:cNvPr id="21" name="Shape 19"/>
          <p:cNvSpPr/>
          <p:nvPr/>
        </p:nvSpPr>
        <p:spPr>
          <a:xfrm>
            <a:off x="4572000" y="3749040"/>
            <a:ext cx="0" cy="457200"/>
          </a:xfrm>
          <a:prstGeom prst="line">
            <a:avLst/>
          </a:prstGeom>
          <a:noFill/>
          <a:ln w="19050">
            <a:solidFill>
              <a:srgbClr val="315B4C"/>
            </a:solidFill>
            <a:prstDash val="solid"/>
            <a:tailEnd type="triangle"/>
          </a:ln>
        </p:spPr>
      </p:sp>
      <p:sp>
        <p:nvSpPr>
          <p:cNvPr id="22" name="Text 20"/>
          <p:cNvSpPr txBox="1"/>
          <p:nvPr/>
        </p:nvSpPr>
        <p:spPr>
          <a:xfrm>
            <a:off x="2926080" y="3858768"/>
            <a:ext cx="3291840" cy="237744"/>
          </a:xfrm>
          <a:prstGeom prst="rect">
            <a:avLst/>
          </a:prstGeom>
          <a:noFill/>
          <a:ln/>
        </p:spPr>
        <p:txBody>
          <a:bodyPr wrap="square" lIns="0" tIns="0" rIns="0" bIns="0" rtlCol="0" anchor="ctr"/>
          <a:lstStyle/>
          <a:p>
            <a:pPr algn="ctr" indent="0" marL="0">
              <a:buNone/>
            </a:pPr>
            <a:r>
              <a:rPr lang="en-US" sz="1600" dirty="0">
                <a:solidFill>
                  <a:srgbClr val="315B4C"/>
                </a:solidFill>
                <a:latin typeface="Courier New" pitchFamily="34" charset="0"/>
                <a:ea typeface="Courier New" pitchFamily="34" charset="-122"/>
                <a:cs typeface="Courier New" pitchFamily="34" charset="-120"/>
              </a:rPr>
              <a:t>Select · Rename · Dedup</a:t>
            </a:r>
            <a:endParaRPr lang="en-US" sz="1600" dirty="0"/>
          </a:p>
        </p:txBody>
      </p:sp>
      <p:sp>
        <p:nvSpPr>
          <p:cNvPr id="23" name="Shape 21"/>
          <p:cNvSpPr/>
          <p:nvPr/>
        </p:nvSpPr>
        <p:spPr>
          <a:xfrm>
            <a:off x="2926080" y="4206240"/>
            <a:ext cx="3291840" cy="512064"/>
          </a:xfrm>
          <a:prstGeom prst="roundRect">
            <a:avLst>
              <a:gd name="adj" fmla="val 16071"/>
            </a:avLst>
          </a:prstGeom>
          <a:solidFill>
            <a:srgbClr val="F5D46F"/>
          </a:solidFill>
          <a:ln w="12700">
            <a:solidFill>
              <a:srgbClr val="315B4C"/>
            </a:solidFill>
            <a:prstDash val="solid"/>
          </a:ln>
        </p:spPr>
      </p:sp>
      <p:sp>
        <p:nvSpPr>
          <p:cNvPr id="24" name="Text 22"/>
          <p:cNvSpPr txBox="1"/>
          <p:nvPr/>
        </p:nvSpPr>
        <p:spPr>
          <a:xfrm>
            <a:off x="2926080" y="4206240"/>
            <a:ext cx="3291840" cy="512064"/>
          </a:xfrm>
          <a:prstGeom prst="rect">
            <a:avLst/>
          </a:prstGeom>
          <a:noFill/>
          <a:ln/>
        </p:spPr>
        <p:txBody>
          <a:bodyPr wrap="square" lIns="0" tIns="0" rIns="0" bIns="0" rtlCol="0" anchor="ctr"/>
          <a:lstStyle/>
          <a:p>
            <a:pPr algn="ctr" indent="0" marL="0">
              <a:buNone/>
            </a:pPr>
            <a:r>
              <a:rPr lang="en-US" sz="2400" b="1" dirty="0">
                <a:solidFill>
                  <a:srgbClr val="26352F"/>
                </a:solidFill>
                <a:latin typeface="Calibri" pitchFamily="34" charset="0"/>
                <a:ea typeface="Calibri" pitchFamily="34" charset="-122"/>
                <a:cs typeface="Calibri" pitchFamily="34" charset="-120"/>
              </a:rPr>
              <a:t>GOLD</a:t>
            </a:r>
            <a:endParaRPr lang="en-US" sz="2400" dirty="0"/>
          </a:p>
        </p:txBody>
      </p:sp>
      <p:sp>
        <p:nvSpPr>
          <p:cNvPr id="25" name="Text 23"/>
          <p:cNvSpPr txBox="1"/>
          <p:nvPr/>
        </p:nvSpPr>
        <p:spPr>
          <a:xfrm>
            <a:off x="6537960" y="4169664"/>
            <a:ext cx="3246120" cy="27432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One fixed table per source</a:t>
            </a:r>
            <a:endParaRPr lang="en-US" sz="1600" dirty="0"/>
          </a:p>
        </p:txBody>
      </p:sp>
      <p:sp>
        <p:nvSpPr>
          <p:cNvPr id="26" name="Text 24"/>
          <p:cNvSpPr txBox="1"/>
          <p:nvPr/>
        </p:nvSpPr>
        <p:spPr>
          <a:xfrm>
            <a:off x="6537960" y="4498848"/>
            <a:ext cx="3246120" cy="219456"/>
          </a:xfrm>
          <a:prstGeom prst="rect">
            <a:avLst/>
          </a:prstGeom>
          <a:noFill/>
          <a:ln/>
        </p:spPr>
        <p:txBody>
          <a:bodyPr wrap="square" lIns="0" tIns="0" rIns="0" bIns="0" rtlCol="0" anchor="t"/>
          <a:lstStyle/>
          <a:p>
            <a:pPr indent="0" marL="0">
              <a:buNone/>
            </a:pPr>
            <a:r>
              <a:rPr lang="en-US" sz="1600" i="1" dirty="0">
                <a:solidFill>
                  <a:srgbClr val="56655D"/>
                </a:solidFill>
                <a:latin typeface="Calibri" pitchFamily="34" charset="0"/>
                <a:ea typeface="Calibri" pitchFamily="34" charset="-122"/>
                <a:cs typeface="Calibri" pitchFamily="34" charset="-120"/>
              </a:rPr>
              <a:t>Dashboard's actual contract</a:t>
            </a:r>
            <a:endParaRPr lang="en-US" sz="1600" dirty="0"/>
          </a:p>
        </p:txBody>
      </p:sp>
      <p:sp>
        <p:nvSpPr>
          <p:cNvPr id="27" name="Shape 25"/>
          <p:cNvSpPr/>
          <p:nvPr/>
        </p:nvSpPr>
        <p:spPr>
          <a:xfrm>
            <a:off x="4572000" y="4718304"/>
            <a:ext cx="0" cy="457200"/>
          </a:xfrm>
          <a:prstGeom prst="line">
            <a:avLst/>
          </a:prstGeom>
          <a:noFill/>
          <a:ln w="19050">
            <a:solidFill>
              <a:srgbClr val="315B4C"/>
            </a:solidFill>
            <a:prstDash val="solid"/>
            <a:tailEnd type="triangle"/>
          </a:ln>
        </p:spPr>
      </p:sp>
      <p:sp>
        <p:nvSpPr>
          <p:cNvPr id="28" name="Text 26"/>
          <p:cNvSpPr txBox="1"/>
          <p:nvPr/>
        </p:nvSpPr>
        <p:spPr>
          <a:xfrm>
            <a:off x="2926080" y="4828032"/>
            <a:ext cx="3291840" cy="237744"/>
          </a:xfrm>
          <a:prstGeom prst="rect">
            <a:avLst/>
          </a:prstGeom>
          <a:noFill/>
          <a:ln/>
        </p:spPr>
        <p:txBody>
          <a:bodyPr wrap="square" lIns="0" tIns="0" rIns="0" bIns="0" rtlCol="0" anchor="ctr"/>
          <a:lstStyle/>
          <a:p>
            <a:pPr algn="ctr" indent="0" marL="0">
              <a:buNone/>
            </a:pPr>
            <a:r>
              <a:rPr lang="en-US" sz="1600" dirty="0">
                <a:solidFill>
                  <a:srgbClr val="315B4C"/>
                </a:solidFill>
                <a:latin typeface="Courier New" pitchFamily="34" charset="0"/>
                <a:ea typeface="Courier New" pitchFamily="34" charset="-122"/>
                <a:cs typeface="Courier New" pitchFamily="34" charset="-120"/>
              </a:rPr>
              <a:t>SQL over S3</a:t>
            </a:r>
            <a:endParaRPr lang="en-US" sz="1600" dirty="0"/>
          </a:p>
        </p:txBody>
      </p:sp>
      <p:sp>
        <p:nvSpPr>
          <p:cNvPr id="29" name="Shape 27"/>
          <p:cNvSpPr/>
          <p:nvPr/>
        </p:nvSpPr>
        <p:spPr>
          <a:xfrm>
            <a:off x="2926080" y="5175504"/>
            <a:ext cx="3291840" cy="512064"/>
          </a:xfrm>
          <a:prstGeom prst="roundRect">
            <a:avLst>
              <a:gd name="adj" fmla="val 16071"/>
            </a:avLst>
          </a:prstGeom>
          <a:solidFill>
            <a:srgbClr val="BFE6C8"/>
          </a:solidFill>
          <a:ln w="12700">
            <a:solidFill>
              <a:srgbClr val="315B4C"/>
            </a:solidFill>
            <a:prstDash val="solid"/>
          </a:ln>
        </p:spPr>
      </p:sp>
      <p:sp>
        <p:nvSpPr>
          <p:cNvPr id="30" name="Text 28"/>
          <p:cNvSpPr txBox="1"/>
          <p:nvPr/>
        </p:nvSpPr>
        <p:spPr>
          <a:xfrm>
            <a:off x="2926080" y="5175504"/>
            <a:ext cx="3291840" cy="512064"/>
          </a:xfrm>
          <a:prstGeom prst="rect">
            <a:avLst/>
          </a:prstGeom>
          <a:noFill/>
          <a:ln/>
        </p:spPr>
        <p:txBody>
          <a:bodyPr wrap="square" lIns="0" tIns="0" rIns="0" bIns="0" rtlCol="0" anchor="ctr"/>
          <a:lstStyle/>
          <a:p>
            <a:pPr algn="ctr" indent="0" marL="0">
              <a:buNone/>
            </a:pPr>
            <a:r>
              <a:rPr lang="en-US" sz="2400" b="1" dirty="0">
                <a:solidFill>
                  <a:srgbClr val="26352F"/>
                </a:solidFill>
                <a:latin typeface="Calibri" pitchFamily="34" charset="0"/>
                <a:ea typeface="Calibri" pitchFamily="34" charset="-122"/>
                <a:cs typeface="Calibri" pitchFamily="34" charset="-120"/>
              </a:rPr>
              <a:t>DASHBOARD</a:t>
            </a:r>
            <a:endParaRPr lang="en-US" sz="2400" dirty="0"/>
          </a:p>
        </p:txBody>
      </p:sp>
      <p:sp>
        <p:nvSpPr>
          <p:cNvPr id="31" name="Text 29"/>
          <p:cNvSpPr txBox="1"/>
          <p:nvPr/>
        </p:nvSpPr>
        <p:spPr>
          <a:xfrm>
            <a:off x="6537960" y="5138928"/>
            <a:ext cx="3246120" cy="27432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Country · Time · Region</a:t>
            </a:r>
            <a:endParaRPr lang="en-US" sz="1600" dirty="0"/>
          </a:p>
        </p:txBody>
      </p:sp>
      <p:sp>
        <p:nvSpPr>
          <p:cNvPr id="32" name="Text 30"/>
          <p:cNvSpPr txBox="1"/>
          <p:nvPr/>
        </p:nvSpPr>
        <p:spPr>
          <a:xfrm>
            <a:off x="6537960" y="5468112"/>
            <a:ext cx="3246120" cy="219456"/>
          </a:xfrm>
          <a:prstGeom prst="rect">
            <a:avLst/>
          </a:prstGeom>
          <a:noFill/>
          <a:ln/>
        </p:spPr>
        <p:txBody>
          <a:bodyPr wrap="square" lIns="0" tIns="0" rIns="0" bIns="0" rtlCol="0" anchor="t"/>
          <a:lstStyle/>
          <a:p>
            <a:pPr indent="0" marL="0">
              <a:buNone/>
            </a:pPr>
            <a:r>
              <a:rPr lang="en-US" sz="1600" i="1" dirty="0">
                <a:solidFill>
                  <a:srgbClr val="56655D"/>
                </a:solidFill>
                <a:latin typeface="Calibri" pitchFamily="34" charset="0"/>
                <a:ea typeface="Calibri" pitchFamily="34" charset="-122"/>
                <a:cs typeface="Calibri" pitchFamily="34" charset="-120"/>
              </a:rPr>
              <a:t>Athena, then any BI tool</a:t>
            </a:r>
            <a:endParaRPr lang="en-US" sz="1600" dirty="0"/>
          </a:p>
        </p:txBody>
      </p:sp>
      <p:sp>
        <p:nvSpPr>
          <p:cNvPr id="33" name="Text 31"/>
          <p:cNvSpPr txBox="1"/>
          <p:nvPr/>
        </p:nvSpPr>
        <p:spPr>
          <a:xfrm>
            <a:off x="365760" y="5961888"/>
            <a:ext cx="11430000" cy="237744"/>
          </a:xfrm>
          <a:prstGeom prst="rect">
            <a:avLst/>
          </a:prstGeom>
          <a:noFill/>
          <a:ln/>
        </p:spPr>
        <p:txBody>
          <a:bodyPr wrap="square" lIns="0" tIns="0" rIns="0" bIns="0" rtlCol="0" anchor="ctr"/>
          <a:lstStyle/>
          <a:p>
            <a:pPr algn="ctr" indent="0" marL="0">
              <a:buNone/>
            </a:pPr>
            <a:r>
              <a:rPr lang="en-US" sz="1600" dirty="0">
                <a:solidFill>
                  <a:srgbClr val="315B4C"/>
                </a:solidFill>
                <a:latin typeface="Courier New" pitchFamily="34" charset="0"/>
                <a:ea typeface="Courier New" pitchFamily="34" charset="-122"/>
                <a:cs typeface="Courier New" pitchFamily="34" charset="-120"/>
              </a:rPr>
              <a:t>Python  ·  Docker  ·  AWS  ·  Terraform  ·  GitHub Actions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4F9B8B"/>
                </a:solidFill>
                <a:latin typeface="Courier New" pitchFamily="34" charset="0"/>
                <a:ea typeface="Courier New" pitchFamily="34" charset="-122"/>
                <a:cs typeface="Courier New" pitchFamily="34" charset="-120"/>
              </a:rPr>
              <a:t>05</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Merge to Main Deploys the Platform</a:t>
            </a:r>
            <a:endParaRPr lang="en-US" sz="3500" dirty="0"/>
          </a:p>
        </p:txBody>
      </p:sp>
      <p:sp>
        <p:nvSpPr>
          <p:cNvPr id="5" name="Shape 3"/>
          <p:cNvSpPr/>
          <p:nvPr/>
        </p:nvSpPr>
        <p:spPr>
          <a:xfrm>
            <a:off x="365760" y="1280160"/>
            <a:ext cx="5806440" cy="365760"/>
          </a:xfrm>
          <a:prstGeom prst="roundRect">
            <a:avLst>
              <a:gd name="adj" fmla="val 20000"/>
            </a:avLst>
          </a:prstGeom>
          <a:solidFill>
            <a:srgbClr val="FFFFFF"/>
          </a:solidFill>
          <a:ln w="9525">
            <a:solidFill>
              <a:srgbClr val="315B4C"/>
            </a:solidFill>
            <a:prstDash val="solid"/>
          </a:ln>
        </p:spPr>
      </p:sp>
      <p:sp>
        <p:nvSpPr>
          <p:cNvPr id="6" name="Text 4"/>
          <p:cNvSpPr txBox="1"/>
          <p:nvPr/>
        </p:nvSpPr>
        <p:spPr>
          <a:xfrm>
            <a:off x="530352" y="1280160"/>
            <a:ext cx="5477256" cy="36576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Pull Request → Code review</a:t>
            </a:r>
            <a:endParaRPr lang="en-US" sz="1600" dirty="0"/>
          </a:p>
        </p:txBody>
      </p:sp>
      <p:sp>
        <p:nvSpPr>
          <p:cNvPr id="7" name="Shape 5"/>
          <p:cNvSpPr/>
          <p:nvPr/>
        </p:nvSpPr>
        <p:spPr>
          <a:xfrm>
            <a:off x="640080" y="1645920"/>
            <a:ext cx="0" cy="128016"/>
          </a:xfrm>
          <a:prstGeom prst="line">
            <a:avLst/>
          </a:prstGeom>
          <a:noFill/>
          <a:ln w="19050">
            <a:solidFill>
              <a:srgbClr val="315B4C"/>
            </a:solidFill>
            <a:prstDash val="solid"/>
            <a:tailEnd type="triangle"/>
          </a:ln>
        </p:spPr>
      </p:sp>
      <p:sp>
        <p:nvSpPr>
          <p:cNvPr id="8" name="Shape 6"/>
          <p:cNvSpPr/>
          <p:nvPr/>
        </p:nvSpPr>
        <p:spPr>
          <a:xfrm>
            <a:off x="365760" y="1773936"/>
            <a:ext cx="5806440" cy="365760"/>
          </a:xfrm>
          <a:prstGeom prst="roundRect">
            <a:avLst>
              <a:gd name="adj" fmla="val 20000"/>
            </a:avLst>
          </a:prstGeom>
          <a:solidFill>
            <a:srgbClr val="E8E5DF"/>
          </a:solidFill>
          <a:ln w="9525">
            <a:solidFill>
              <a:srgbClr val="315B4C"/>
            </a:solidFill>
            <a:prstDash val="solid"/>
          </a:ln>
        </p:spPr>
      </p:sp>
      <p:sp>
        <p:nvSpPr>
          <p:cNvPr id="9" name="Text 7"/>
          <p:cNvSpPr txBox="1"/>
          <p:nvPr/>
        </p:nvSpPr>
        <p:spPr>
          <a:xfrm>
            <a:off x="530352" y="1773936"/>
            <a:ext cx="5477256" cy="36576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Merge to main</a:t>
            </a:r>
            <a:endParaRPr lang="en-US" sz="1600" dirty="0"/>
          </a:p>
        </p:txBody>
      </p:sp>
      <p:sp>
        <p:nvSpPr>
          <p:cNvPr id="10" name="Shape 8"/>
          <p:cNvSpPr/>
          <p:nvPr/>
        </p:nvSpPr>
        <p:spPr>
          <a:xfrm>
            <a:off x="640080" y="2139696"/>
            <a:ext cx="0" cy="128016"/>
          </a:xfrm>
          <a:prstGeom prst="line">
            <a:avLst/>
          </a:prstGeom>
          <a:noFill/>
          <a:ln w="19050">
            <a:solidFill>
              <a:srgbClr val="315B4C"/>
            </a:solidFill>
            <a:prstDash val="solid"/>
            <a:tailEnd type="triangle"/>
          </a:ln>
        </p:spPr>
      </p:sp>
      <p:sp>
        <p:nvSpPr>
          <p:cNvPr id="11" name="Shape 9"/>
          <p:cNvSpPr/>
          <p:nvPr/>
        </p:nvSpPr>
        <p:spPr>
          <a:xfrm>
            <a:off x="365760" y="2267712"/>
            <a:ext cx="5806440" cy="365760"/>
          </a:xfrm>
          <a:prstGeom prst="roundRect">
            <a:avLst>
              <a:gd name="adj" fmla="val 20000"/>
            </a:avLst>
          </a:prstGeom>
          <a:solidFill>
            <a:srgbClr val="FFD9B8"/>
          </a:solidFill>
          <a:ln w="9525">
            <a:solidFill>
              <a:srgbClr val="315B4C"/>
            </a:solidFill>
            <a:prstDash val="solid"/>
          </a:ln>
        </p:spPr>
      </p:sp>
      <p:sp>
        <p:nvSpPr>
          <p:cNvPr id="12" name="Text 10"/>
          <p:cNvSpPr txBox="1"/>
          <p:nvPr/>
        </p:nvSpPr>
        <p:spPr>
          <a:xfrm>
            <a:off x="530352" y="2267712"/>
            <a:ext cx="5477256" cy="36576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GitHub Actions: Deploy workflow</a:t>
            </a:r>
            <a:endParaRPr lang="en-US" sz="1600" dirty="0"/>
          </a:p>
        </p:txBody>
      </p:sp>
      <p:sp>
        <p:nvSpPr>
          <p:cNvPr id="13" name="Shape 11"/>
          <p:cNvSpPr/>
          <p:nvPr/>
        </p:nvSpPr>
        <p:spPr>
          <a:xfrm>
            <a:off x="640080" y="2633472"/>
            <a:ext cx="0" cy="128016"/>
          </a:xfrm>
          <a:prstGeom prst="line">
            <a:avLst/>
          </a:prstGeom>
          <a:noFill/>
          <a:ln w="19050">
            <a:solidFill>
              <a:srgbClr val="315B4C"/>
            </a:solidFill>
            <a:prstDash val="solid"/>
            <a:tailEnd type="triangle"/>
          </a:ln>
        </p:spPr>
      </p:sp>
      <p:sp>
        <p:nvSpPr>
          <p:cNvPr id="14" name="Shape 12"/>
          <p:cNvSpPr/>
          <p:nvPr/>
        </p:nvSpPr>
        <p:spPr>
          <a:xfrm>
            <a:off x="365760" y="2761488"/>
            <a:ext cx="5806440" cy="365760"/>
          </a:xfrm>
          <a:prstGeom prst="roundRect">
            <a:avLst>
              <a:gd name="adj" fmla="val 20000"/>
            </a:avLst>
          </a:prstGeom>
          <a:solidFill>
            <a:srgbClr val="FFFFFF"/>
          </a:solidFill>
          <a:ln w="9525">
            <a:solidFill>
              <a:srgbClr val="315B4C"/>
            </a:solidFill>
            <a:prstDash val="solid"/>
          </a:ln>
        </p:spPr>
      </p:sp>
      <p:sp>
        <p:nvSpPr>
          <p:cNvPr id="15" name="Text 13"/>
          <p:cNvSpPr txBox="1"/>
          <p:nvPr/>
        </p:nvSpPr>
        <p:spPr>
          <a:xfrm>
            <a:off x="530352" y="2761488"/>
            <a:ext cx="5477256" cy="36576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Configure AWS via OIDC · Verify identity</a:t>
            </a:r>
            <a:endParaRPr lang="en-US" sz="1600" dirty="0"/>
          </a:p>
        </p:txBody>
      </p:sp>
      <p:sp>
        <p:nvSpPr>
          <p:cNvPr id="16" name="Shape 14"/>
          <p:cNvSpPr/>
          <p:nvPr/>
        </p:nvSpPr>
        <p:spPr>
          <a:xfrm>
            <a:off x="640080" y="3127248"/>
            <a:ext cx="0" cy="128016"/>
          </a:xfrm>
          <a:prstGeom prst="line">
            <a:avLst/>
          </a:prstGeom>
          <a:noFill/>
          <a:ln w="19050">
            <a:solidFill>
              <a:srgbClr val="315B4C"/>
            </a:solidFill>
            <a:prstDash val="solid"/>
            <a:tailEnd type="triangle"/>
          </a:ln>
        </p:spPr>
      </p:sp>
      <p:sp>
        <p:nvSpPr>
          <p:cNvPr id="17" name="Shape 15"/>
          <p:cNvSpPr/>
          <p:nvPr/>
        </p:nvSpPr>
        <p:spPr>
          <a:xfrm>
            <a:off x="365760" y="3255264"/>
            <a:ext cx="5806440" cy="365760"/>
          </a:xfrm>
          <a:prstGeom prst="roundRect">
            <a:avLst>
              <a:gd name="adj" fmla="val 20000"/>
            </a:avLst>
          </a:prstGeom>
          <a:solidFill>
            <a:srgbClr val="FFFFFF"/>
          </a:solidFill>
          <a:ln w="9525">
            <a:solidFill>
              <a:srgbClr val="315B4C"/>
            </a:solidFill>
            <a:prstDash val="solid"/>
          </a:ln>
        </p:spPr>
      </p:sp>
      <p:sp>
        <p:nvSpPr>
          <p:cNvPr id="18" name="Text 16"/>
          <p:cNvSpPr txBox="1"/>
          <p:nvPr/>
        </p:nvSpPr>
        <p:spPr>
          <a:xfrm>
            <a:off x="530352" y="3255264"/>
            <a:ext cx="5477256" cy="365760"/>
          </a:xfrm>
          <a:prstGeom prst="rect">
            <a:avLst/>
          </a:prstGeom>
          <a:noFill/>
          <a:ln/>
        </p:spPr>
        <p:txBody>
          <a:bodyPr wrap="square" lIns="0" tIns="0" rIns="0" bIns="0" rtlCol="0" anchor="ctr"/>
          <a:lstStyle/>
          <a:p>
            <a:pPr indent="0" marL="0">
              <a:buNone/>
            </a:pPr>
            <a:r>
              <a:rPr lang="en-US" sz="1600" dirty="0">
                <a:solidFill>
                  <a:srgbClr val="26352F"/>
                </a:solidFill>
                <a:latin typeface="Courier New" pitchFamily="34" charset="0"/>
                <a:ea typeface="Courier New" pitchFamily="34" charset="-122"/>
                <a:cs typeface="Courier New" pitchFamily="34" charset="-120"/>
              </a:rPr>
              <a:t>terraform init · fmt · validate · plan</a:t>
            </a:r>
            <a:endParaRPr lang="en-US" sz="1600" dirty="0"/>
          </a:p>
        </p:txBody>
      </p:sp>
      <p:sp>
        <p:nvSpPr>
          <p:cNvPr id="19" name="Shape 17"/>
          <p:cNvSpPr/>
          <p:nvPr/>
        </p:nvSpPr>
        <p:spPr>
          <a:xfrm>
            <a:off x="640080" y="3621024"/>
            <a:ext cx="0" cy="128016"/>
          </a:xfrm>
          <a:prstGeom prst="line">
            <a:avLst/>
          </a:prstGeom>
          <a:noFill/>
          <a:ln w="19050">
            <a:solidFill>
              <a:srgbClr val="315B4C"/>
            </a:solidFill>
            <a:prstDash val="solid"/>
            <a:tailEnd type="triangle"/>
          </a:ln>
        </p:spPr>
      </p:sp>
      <p:sp>
        <p:nvSpPr>
          <p:cNvPr id="20" name="Shape 18"/>
          <p:cNvSpPr/>
          <p:nvPr/>
        </p:nvSpPr>
        <p:spPr>
          <a:xfrm>
            <a:off x="365760" y="3749040"/>
            <a:ext cx="5806440" cy="365760"/>
          </a:xfrm>
          <a:prstGeom prst="roundRect">
            <a:avLst>
              <a:gd name="adj" fmla="val 20000"/>
            </a:avLst>
          </a:prstGeom>
          <a:solidFill>
            <a:srgbClr val="FFFFFF"/>
          </a:solidFill>
          <a:ln w="9525">
            <a:solidFill>
              <a:srgbClr val="315B4C"/>
            </a:solidFill>
            <a:prstDash val="solid"/>
          </a:ln>
        </p:spPr>
      </p:sp>
      <p:sp>
        <p:nvSpPr>
          <p:cNvPr id="21" name="Text 19"/>
          <p:cNvSpPr txBox="1"/>
          <p:nvPr/>
        </p:nvSpPr>
        <p:spPr>
          <a:xfrm>
            <a:off x="530352" y="3749040"/>
            <a:ext cx="5477256" cy="36576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Ensure ECR repository exists</a:t>
            </a:r>
            <a:endParaRPr lang="en-US" sz="1600" dirty="0"/>
          </a:p>
        </p:txBody>
      </p:sp>
      <p:sp>
        <p:nvSpPr>
          <p:cNvPr id="22" name="Shape 20"/>
          <p:cNvSpPr/>
          <p:nvPr/>
        </p:nvSpPr>
        <p:spPr>
          <a:xfrm>
            <a:off x="640080" y="4114800"/>
            <a:ext cx="0" cy="128016"/>
          </a:xfrm>
          <a:prstGeom prst="line">
            <a:avLst/>
          </a:prstGeom>
          <a:noFill/>
          <a:ln w="19050">
            <a:solidFill>
              <a:srgbClr val="315B4C"/>
            </a:solidFill>
            <a:prstDash val="solid"/>
            <a:tailEnd type="triangle"/>
          </a:ln>
        </p:spPr>
      </p:sp>
      <p:sp>
        <p:nvSpPr>
          <p:cNvPr id="23" name="Shape 21"/>
          <p:cNvSpPr/>
          <p:nvPr/>
        </p:nvSpPr>
        <p:spPr>
          <a:xfrm>
            <a:off x="365760" y="4242816"/>
            <a:ext cx="5806440" cy="365760"/>
          </a:xfrm>
          <a:prstGeom prst="roundRect">
            <a:avLst>
              <a:gd name="adj" fmla="val 20000"/>
            </a:avLst>
          </a:prstGeom>
          <a:solidFill>
            <a:srgbClr val="FFD9B8"/>
          </a:solidFill>
          <a:ln w="9525">
            <a:solidFill>
              <a:srgbClr val="315B4C"/>
            </a:solidFill>
            <a:prstDash val="solid"/>
          </a:ln>
        </p:spPr>
      </p:sp>
      <p:sp>
        <p:nvSpPr>
          <p:cNvPr id="24" name="Text 22"/>
          <p:cNvSpPr txBox="1"/>
          <p:nvPr/>
        </p:nvSpPr>
        <p:spPr>
          <a:xfrm>
            <a:off x="530352" y="4242816"/>
            <a:ext cx="5477256" cy="36576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Build &amp; push image  →  tag sha-&lt;12-char&gt;</a:t>
            </a:r>
            <a:endParaRPr lang="en-US" sz="1600" dirty="0"/>
          </a:p>
        </p:txBody>
      </p:sp>
      <p:sp>
        <p:nvSpPr>
          <p:cNvPr id="25" name="Shape 23"/>
          <p:cNvSpPr/>
          <p:nvPr/>
        </p:nvSpPr>
        <p:spPr>
          <a:xfrm>
            <a:off x="640080" y="4608576"/>
            <a:ext cx="0" cy="128016"/>
          </a:xfrm>
          <a:prstGeom prst="line">
            <a:avLst/>
          </a:prstGeom>
          <a:noFill/>
          <a:ln w="19050">
            <a:solidFill>
              <a:srgbClr val="315B4C"/>
            </a:solidFill>
            <a:prstDash val="solid"/>
            <a:tailEnd type="triangle"/>
          </a:ln>
        </p:spPr>
      </p:sp>
      <p:sp>
        <p:nvSpPr>
          <p:cNvPr id="26" name="Shape 24"/>
          <p:cNvSpPr/>
          <p:nvPr/>
        </p:nvSpPr>
        <p:spPr>
          <a:xfrm>
            <a:off x="365760" y="4736592"/>
            <a:ext cx="5806440" cy="365760"/>
          </a:xfrm>
          <a:prstGeom prst="roundRect">
            <a:avLst>
              <a:gd name="adj" fmla="val 20000"/>
            </a:avLst>
          </a:prstGeom>
          <a:solidFill>
            <a:srgbClr val="FFFFFF"/>
          </a:solidFill>
          <a:ln w="9525">
            <a:solidFill>
              <a:srgbClr val="315B4C"/>
            </a:solidFill>
            <a:prstDash val="solid"/>
          </a:ln>
        </p:spPr>
      </p:sp>
      <p:sp>
        <p:nvSpPr>
          <p:cNvPr id="27" name="Text 25"/>
          <p:cNvSpPr txBox="1"/>
          <p:nvPr/>
        </p:nvSpPr>
        <p:spPr>
          <a:xfrm>
            <a:off x="530352" y="4736592"/>
            <a:ext cx="5477256" cy="36576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Apply GitHubDeployRole policy</a:t>
            </a:r>
            <a:endParaRPr lang="en-US" sz="1600" dirty="0"/>
          </a:p>
        </p:txBody>
      </p:sp>
      <p:sp>
        <p:nvSpPr>
          <p:cNvPr id="28" name="Shape 26"/>
          <p:cNvSpPr/>
          <p:nvPr/>
        </p:nvSpPr>
        <p:spPr>
          <a:xfrm>
            <a:off x="640080" y="5102352"/>
            <a:ext cx="0" cy="128016"/>
          </a:xfrm>
          <a:prstGeom prst="line">
            <a:avLst/>
          </a:prstGeom>
          <a:noFill/>
          <a:ln w="19050">
            <a:solidFill>
              <a:srgbClr val="315B4C"/>
            </a:solidFill>
            <a:prstDash val="solid"/>
            <a:tailEnd type="triangle"/>
          </a:ln>
        </p:spPr>
      </p:sp>
      <p:sp>
        <p:nvSpPr>
          <p:cNvPr id="29" name="Shape 27"/>
          <p:cNvSpPr/>
          <p:nvPr/>
        </p:nvSpPr>
        <p:spPr>
          <a:xfrm>
            <a:off x="365760" y="5230368"/>
            <a:ext cx="5806440" cy="365760"/>
          </a:xfrm>
          <a:prstGeom prst="roundRect">
            <a:avLst>
              <a:gd name="adj" fmla="val 20000"/>
            </a:avLst>
          </a:prstGeom>
          <a:solidFill>
            <a:srgbClr val="DDD8FF"/>
          </a:solidFill>
          <a:ln w="9525">
            <a:solidFill>
              <a:srgbClr val="315B4C"/>
            </a:solidFill>
            <a:prstDash val="solid"/>
          </a:ln>
        </p:spPr>
      </p:sp>
      <p:sp>
        <p:nvSpPr>
          <p:cNvPr id="30" name="Text 28"/>
          <p:cNvSpPr txBox="1"/>
          <p:nvPr/>
        </p:nvSpPr>
        <p:spPr>
          <a:xfrm>
            <a:off x="530352" y="5230368"/>
            <a:ext cx="5477256" cy="36576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terraform apply  →  new ECS task revision</a:t>
            </a:r>
            <a:endParaRPr lang="en-US" sz="1600" dirty="0"/>
          </a:p>
        </p:txBody>
      </p:sp>
      <p:sp>
        <p:nvSpPr>
          <p:cNvPr id="31" name="Shape 29"/>
          <p:cNvSpPr/>
          <p:nvPr/>
        </p:nvSpPr>
        <p:spPr>
          <a:xfrm>
            <a:off x="640080" y="5596128"/>
            <a:ext cx="0" cy="128016"/>
          </a:xfrm>
          <a:prstGeom prst="line">
            <a:avLst/>
          </a:prstGeom>
          <a:noFill/>
          <a:ln w="19050">
            <a:solidFill>
              <a:srgbClr val="315B4C"/>
            </a:solidFill>
            <a:prstDash val="solid"/>
            <a:tailEnd type="triangle"/>
          </a:ln>
        </p:spPr>
      </p:sp>
      <p:sp>
        <p:nvSpPr>
          <p:cNvPr id="32" name="Shape 30"/>
          <p:cNvSpPr/>
          <p:nvPr/>
        </p:nvSpPr>
        <p:spPr>
          <a:xfrm>
            <a:off x="365760" y="5724144"/>
            <a:ext cx="5806440" cy="365760"/>
          </a:xfrm>
          <a:prstGeom prst="roundRect">
            <a:avLst>
              <a:gd name="adj" fmla="val 20000"/>
            </a:avLst>
          </a:prstGeom>
          <a:solidFill>
            <a:srgbClr val="BFE6C8"/>
          </a:solidFill>
          <a:ln w="9525">
            <a:solidFill>
              <a:srgbClr val="315B4C"/>
            </a:solidFill>
            <a:prstDash val="solid"/>
          </a:ln>
        </p:spPr>
      </p:sp>
      <p:sp>
        <p:nvSpPr>
          <p:cNvPr id="33" name="Text 31"/>
          <p:cNvSpPr txBox="1"/>
          <p:nvPr/>
        </p:nvSpPr>
        <p:spPr>
          <a:xfrm>
            <a:off x="530352" y="5724144"/>
            <a:ext cx="5477256" cy="36576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Resources created / updated</a:t>
            </a:r>
            <a:endParaRPr lang="en-US" sz="1600" dirty="0"/>
          </a:p>
        </p:txBody>
      </p:sp>
      <p:sp>
        <p:nvSpPr>
          <p:cNvPr id="34" name="Shape 32"/>
          <p:cNvSpPr/>
          <p:nvPr/>
        </p:nvSpPr>
        <p:spPr>
          <a:xfrm>
            <a:off x="6446520" y="1280160"/>
            <a:ext cx="2583180" cy="1051560"/>
          </a:xfrm>
          <a:prstGeom prst="roundRect">
            <a:avLst>
              <a:gd name="adj" fmla="val 8696"/>
            </a:avLst>
          </a:prstGeom>
          <a:solidFill>
            <a:srgbClr val="FFD9B8"/>
          </a:solidFill>
          <a:ln/>
        </p:spPr>
      </p:sp>
      <p:sp>
        <p:nvSpPr>
          <p:cNvPr id="35" name="Text 33"/>
          <p:cNvSpPr txBox="1"/>
          <p:nvPr/>
        </p:nvSpPr>
        <p:spPr>
          <a:xfrm>
            <a:off x="6592824" y="1371600"/>
            <a:ext cx="2290572" cy="365760"/>
          </a:xfrm>
          <a:prstGeom prst="rect">
            <a:avLst/>
          </a:prstGeom>
          <a:noFill/>
          <a:ln/>
        </p:spPr>
        <p:txBody>
          <a:bodyPr wrap="square" lIns="0" tIns="0" rIns="0" bIns="0" rtlCol="0" anchor="ctr"/>
          <a:lstStyle/>
          <a:p>
            <a:pPr indent="0" marL="0">
              <a:buNone/>
            </a:pPr>
            <a:r>
              <a:rPr lang="en-US" sz="1800" b="1" dirty="0">
                <a:solidFill>
                  <a:srgbClr val="26352F"/>
                </a:solidFill>
                <a:latin typeface="Calibri" pitchFamily="34" charset="0"/>
                <a:ea typeface="Calibri" pitchFamily="34" charset="-122"/>
                <a:cs typeface="Calibri" pitchFamily="34" charset="-120"/>
              </a:rPr>
              <a:t>Delivery</a:t>
            </a:r>
            <a:endParaRPr lang="en-US" sz="1800" dirty="0"/>
          </a:p>
        </p:txBody>
      </p:sp>
      <p:sp>
        <p:nvSpPr>
          <p:cNvPr id="36" name="Text 34"/>
          <p:cNvSpPr txBox="1"/>
          <p:nvPr/>
        </p:nvSpPr>
        <p:spPr>
          <a:xfrm>
            <a:off x="6592824" y="1737360"/>
            <a:ext cx="2290572" cy="502920"/>
          </a:xfrm>
          <a:prstGeom prst="rect">
            <a:avLst/>
          </a:prstGeom>
          <a:noFill/>
          <a:ln/>
        </p:spPr>
        <p:txBody>
          <a:bodyPr wrap="square" lIns="0" tIns="0" rIns="0" bIns="0" rtlCol="0" anchor="ctr"/>
          <a:lstStyle/>
          <a:p>
            <a:pPr indent="0" marL="0">
              <a:lnSpc>
                <a:spcPct val="105000"/>
              </a:lnSpc>
              <a:buNone/>
            </a:pPr>
            <a:r>
              <a:rPr lang="en-US" sz="1600" dirty="0">
                <a:solidFill>
                  <a:srgbClr val="3F4E47"/>
                </a:solidFill>
                <a:latin typeface="Calibri" pitchFamily="34" charset="0"/>
                <a:ea typeface="Calibri" pitchFamily="34" charset="-122"/>
                <a:cs typeface="Calibri" pitchFamily="34" charset="-120"/>
              </a:rPr>
              <a:t>ECR · GitHub OIDC · Terraform backend</a:t>
            </a:r>
            <a:endParaRPr lang="en-US" sz="1600" dirty="0"/>
          </a:p>
        </p:txBody>
      </p:sp>
      <p:sp>
        <p:nvSpPr>
          <p:cNvPr id="37" name="Shape 35"/>
          <p:cNvSpPr/>
          <p:nvPr/>
        </p:nvSpPr>
        <p:spPr>
          <a:xfrm>
            <a:off x="9212580" y="1280160"/>
            <a:ext cx="2583180" cy="1051560"/>
          </a:xfrm>
          <a:prstGeom prst="roundRect">
            <a:avLst>
              <a:gd name="adj" fmla="val 8696"/>
            </a:avLst>
          </a:prstGeom>
          <a:solidFill>
            <a:srgbClr val="DDD8FF"/>
          </a:solidFill>
          <a:ln/>
        </p:spPr>
      </p:sp>
      <p:sp>
        <p:nvSpPr>
          <p:cNvPr id="38" name="Text 36"/>
          <p:cNvSpPr txBox="1"/>
          <p:nvPr/>
        </p:nvSpPr>
        <p:spPr>
          <a:xfrm>
            <a:off x="9358884" y="1371600"/>
            <a:ext cx="2290572" cy="365760"/>
          </a:xfrm>
          <a:prstGeom prst="rect">
            <a:avLst/>
          </a:prstGeom>
          <a:noFill/>
          <a:ln/>
        </p:spPr>
        <p:txBody>
          <a:bodyPr wrap="square" lIns="0" tIns="0" rIns="0" bIns="0" rtlCol="0" anchor="ctr"/>
          <a:lstStyle/>
          <a:p>
            <a:pPr indent="0" marL="0">
              <a:buNone/>
            </a:pPr>
            <a:r>
              <a:rPr lang="en-US" sz="1800" b="1" dirty="0">
                <a:solidFill>
                  <a:srgbClr val="26352F"/>
                </a:solidFill>
                <a:latin typeface="Calibri" pitchFamily="34" charset="0"/>
                <a:ea typeface="Calibri" pitchFamily="34" charset="-122"/>
                <a:cs typeface="Calibri" pitchFamily="34" charset="-120"/>
              </a:rPr>
              <a:t>Runtime</a:t>
            </a:r>
            <a:endParaRPr lang="en-US" sz="1800" dirty="0"/>
          </a:p>
        </p:txBody>
      </p:sp>
      <p:sp>
        <p:nvSpPr>
          <p:cNvPr id="39" name="Text 37"/>
          <p:cNvSpPr txBox="1"/>
          <p:nvPr/>
        </p:nvSpPr>
        <p:spPr>
          <a:xfrm>
            <a:off x="9358884" y="1737360"/>
            <a:ext cx="2290572" cy="502920"/>
          </a:xfrm>
          <a:prstGeom prst="rect">
            <a:avLst/>
          </a:prstGeom>
          <a:noFill/>
          <a:ln/>
        </p:spPr>
        <p:txBody>
          <a:bodyPr wrap="square" lIns="0" tIns="0" rIns="0" bIns="0" rtlCol="0" anchor="ctr"/>
          <a:lstStyle/>
          <a:p>
            <a:pPr indent="0" marL="0">
              <a:lnSpc>
                <a:spcPct val="105000"/>
              </a:lnSpc>
              <a:buNone/>
            </a:pPr>
            <a:r>
              <a:rPr lang="en-US" sz="1600" dirty="0">
                <a:solidFill>
                  <a:srgbClr val="3F4E47"/>
                </a:solidFill>
                <a:latin typeface="Calibri" pitchFamily="34" charset="0"/>
                <a:ea typeface="Calibri" pitchFamily="34" charset="-122"/>
                <a:cs typeface="Calibri" pitchFamily="34" charset="-120"/>
              </a:rPr>
              <a:t>ECS · Fargate · Step Functions · Scheduler</a:t>
            </a:r>
            <a:endParaRPr lang="en-US" sz="1600" dirty="0"/>
          </a:p>
        </p:txBody>
      </p:sp>
      <p:sp>
        <p:nvSpPr>
          <p:cNvPr id="40" name="Shape 38"/>
          <p:cNvSpPr/>
          <p:nvPr/>
        </p:nvSpPr>
        <p:spPr>
          <a:xfrm>
            <a:off x="6446520" y="2478024"/>
            <a:ext cx="2583180" cy="1051560"/>
          </a:xfrm>
          <a:prstGeom prst="roundRect">
            <a:avLst>
              <a:gd name="adj" fmla="val 8696"/>
            </a:avLst>
          </a:prstGeom>
          <a:solidFill>
            <a:srgbClr val="E8E5DF"/>
          </a:solidFill>
          <a:ln/>
        </p:spPr>
      </p:sp>
      <p:sp>
        <p:nvSpPr>
          <p:cNvPr id="41" name="Text 39"/>
          <p:cNvSpPr txBox="1"/>
          <p:nvPr/>
        </p:nvSpPr>
        <p:spPr>
          <a:xfrm>
            <a:off x="6592824" y="2569464"/>
            <a:ext cx="2290572" cy="365760"/>
          </a:xfrm>
          <a:prstGeom prst="rect">
            <a:avLst/>
          </a:prstGeom>
          <a:noFill/>
          <a:ln/>
        </p:spPr>
        <p:txBody>
          <a:bodyPr wrap="square" lIns="0" tIns="0" rIns="0" bIns="0" rtlCol="0" anchor="ctr"/>
          <a:lstStyle/>
          <a:p>
            <a:pPr indent="0" marL="0">
              <a:buNone/>
            </a:pPr>
            <a:r>
              <a:rPr lang="en-US" sz="1800" b="1" dirty="0">
                <a:solidFill>
                  <a:srgbClr val="26352F"/>
                </a:solidFill>
                <a:latin typeface="Calibri" pitchFamily="34" charset="0"/>
                <a:ea typeface="Calibri" pitchFamily="34" charset="-122"/>
                <a:cs typeface="Calibri" pitchFamily="34" charset="-120"/>
              </a:rPr>
              <a:t>Storage + Logs</a:t>
            </a:r>
            <a:endParaRPr lang="en-US" sz="1800" dirty="0"/>
          </a:p>
        </p:txBody>
      </p:sp>
      <p:sp>
        <p:nvSpPr>
          <p:cNvPr id="42" name="Text 40"/>
          <p:cNvSpPr txBox="1"/>
          <p:nvPr/>
        </p:nvSpPr>
        <p:spPr>
          <a:xfrm>
            <a:off x="6592824" y="2935224"/>
            <a:ext cx="2290572" cy="502920"/>
          </a:xfrm>
          <a:prstGeom prst="rect">
            <a:avLst/>
          </a:prstGeom>
          <a:noFill/>
          <a:ln/>
        </p:spPr>
        <p:txBody>
          <a:bodyPr wrap="square" lIns="0" tIns="0" rIns="0" bIns="0" rtlCol="0" anchor="ctr"/>
          <a:lstStyle/>
          <a:p>
            <a:pPr indent="0" marL="0">
              <a:lnSpc>
                <a:spcPct val="105000"/>
              </a:lnSpc>
              <a:buNone/>
            </a:pPr>
            <a:r>
              <a:rPr lang="en-US" sz="1600" dirty="0">
                <a:solidFill>
                  <a:srgbClr val="3F4E47"/>
                </a:solidFill>
                <a:latin typeface="Calibri" pitchFamily="34" charset="0"/>
                <a:ea typeface="Calibri" pitchFamily="34" charset="-122"/>
                <a:cs typeface="Calibri" pitchFamily="34" charset="-120"/>
              </a:rPr>
              <a:t>S3 · Versioning · CloudWatch · Budget</a:t>
            </a:r>
            <a:endParaRPr lang="en-US" sz="1600" dirty="0"/>
          </a:p>
        </p:txBody>
      </p:sp>
      <p:sp>
        <p:nvSpPr>
          <p:cNvPr id="43" name="Shape 41"/>
          <p:cNvSpPr/>
          <p:nvPr/>
        </p:nvSpPr>
        <p:spPr>
          <a:xfrm>
            <a:off x="9212580" y="2478024"/>
            <a:ext cx="2583180" cy="1051560"/>
          </a:xfrm>
          <a:prstGeom prst="roundRect">
            <a:avLst>
              <a:gd name="adj" fmla="val 8696"/>
            </a:avLst>
          </a:prstGeom>
          <a:solidFill>
            <a:srgbClr val="D7F4DE"/>
          </a:solidFill>
          <a:ln/>
        </p:spPr>
      </p:sp>
      <p:sp>
        <p:nvSpPr>
          <p:cNvPr id="44" name="Text 42"/>
          <p:cNvSpPr txBox="1"/>
          <p:nvPr/>
        </p:nvSpPr>
        <p:spPr>
          <a:xfrm>
            <a:off x="9358884" y="2569464"/>
            <a:ext cx="2290572" cy="365760"/>
          </a:xfrm>
          <a:prstGeom prst="rect">
            <a:avLst/>
          </a:prstGeom>
          <a:noFill/>
          <a:ln/>
        </p:spPr>
        <p:txBody>
          <a:bodyPr wrap="square" lIns="0" tIns="0" rIns="0" bIns="0" rtlCol="0" anchor="ctr"/>
          <a:lstStyle/>
          <a:p>
            <a:pPr indent="0" marL="0">
              <a:buNone/>
            </a:pPr>
            <a:r>
              <a:rPr lang="en-US" sz="1800" b="1" dirty="0">
                <a:solidFill>
                  <a:srgbClr val="26352F"/>
                </a:solidFill>
                <a:latin typeface="Calibri" pitchFamily="34" charset="0"/>
                <a:ea typeface="Calibri" pitchFamily="34" charset="-122"/>
                <a:cs typeface="Calibri" pitchFamily="34" charset="-120"/>
              </a:rPr>
              <a:t>Analytics + Network</a:t>
            </a:r>
            <a:endParaRPr lang="en-US" sz="1800" dirty="0"/>
          </a:p>
        </p:txBody>
      </p:sp>
      <p:sp>
        <p:nvSpPr>
          <p:cNvPr id="45" name="Text 43"/>
          <p:cNvSpPr txBox="1"/>
          <p:nvPr/>
        </p:nvSpPr>
        <p:spPr>
          <a:xfrm>
            <a:off x="9358884" y="2935224"/>
            <a:ext cx="2290572" cy="502920"/>
          </a:xfrm>
          <a:prstGeom prst="rect">
            <a:avLst/>
          </a:prstGeom>
          <a:noFill/>
          <a:ln/>
        </p:spPr>
        <p:txBody>
          <a:bodyPr wrap="square" lIns="0" tIns="0" rIns="0" bIns="0" rtlCol="0" anchor="ctr"/>
          <a:lstStyle/>
          <a:p>
            <a:pPr indent="0" marL="0">
              <a:lnSpc>
                <a:spcPct val="105000"/>
              </a:lnSpc>
              <a:buNone/>
            </a:pPr>
            <a:r>
              <a:rPr lang="en-US" sz="1600" dirty="0">
                <a:solidFill>
                  <a:srgbClr val="3F4E47"/>
                </a:solidFill>
                <a:latin typeface="Calibri" pitchFamily="34" charset="0"/>
                <a:ea typeface="Calibri" pitchFamily="34" charset="-122"/>
                <a:cs typeface="Calibri" pitchFamily="34" charset="-120"/>
              </a:rPr>
              <a:t>Glue · Athena · VPC · Public subnets · IGW</a:t>
            </a:r>
            <a:endParaRPr lang="en-US" sz="1600" dirty="0"/>
          </a:p>
        </p:txBody>
      </p:sp>
      <p:sp>
        <p:nvSpPr>
          <p:cNvPr id="46" name="Text 44"/>
          <p:cNvSpPr txBox="1"/>
          <p:nvPr/>
        </p:nvSpPr>
        <p:spPr>
          <a:xfrm>
            <a:off x="6446520" y="3803904"/>
            <a:ext cx="5349240" cy="256032"/>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Repository variables / secrets</a:t>
            </a:r>
            <a:endParaRPr lang="en-US" sz="1600" dirty="0"/>
          </a:p>
        </p:txBody>
      </p:sp>
      <p:sp>
        <p:nvSpPr>
          <p:cNvPr id="47" name="Text 45"/>
          <p:cNvSpPr txBox="1"/>
          <p:nvPr/>
        </p:nvSpPr>
        <p:spPr>
          <a:xfrm>
            <a:off x="6446520" y="4133088"/>
            <a:ext cx="5349240" cy="274320"/>
          </a:xfrm>
          <a:prstGeom prst="rect">
            <a:avLst/>
          </a:prstGeom>
          <a:noFill/>
          <a:ln/>
        </p:spPr>
        <p:txBody>
          <a:bodyPr wrap="square" lIns="0" tIns="0" rIns="0" bIns="0" rtlCol="0" anchor="ctr"/>
          <a:lstStyle/>
          <a:p>
            <a:pPr indent="0" marL="0">
              <a:buNone/>
            </a:pPr>
            <a:r>
              <a:rPr lang="en-US" sz="1600" dirty="0">
                <a:solidFill>
                  <a:srgbClr val="315B4C"/>
                </a:solidFill>
                <a:latin typeface="Courier New" pitchFamily="34" charset="0"/>
                <a:ea typeface="Courier New" pitchFamily="34" charset="-122"/>
                <a:cs typeface="Courier New" pitchFamily="34" charset="-120"/>
              </a:rPr>
              <a:t>AWS_REGION · AWS_ROLE_ARN · BUDGET_NOTIFICATION_EMAIL</a:t>
            </a:r>
            <a:endParaRPr lang="en-US" sz="1600" dirty="0"/>
          </a:p>
        </p:txBody>
      </p:sp>
      <p:sp>
        <p:nvSpPr>
          <p:cNvPr id="48" name="Shape 46"/>
          <p:cNvSpPr/>
          <p:nvPr/>
        </p:nvSpPr>
        <p:spPr>
          <a:xfrm>
            <a:off x="6446520" y="4553712"/>
            <a:ext cx="5349240" cy="640080"/>
          </a:xfrm>
          <a:prstGeom prst="roundRect">
            <a:avLst>
              <a:gd name="adj" fmla="val 14286"/>
            </a:avLst>
          </a:prstGeom>
          <a:solidFill>
            <a:srgbClr val="F5C2C0"/>
          </a:solidFill>
          <a:ln/>
        </p:spPr>
      </p:sp>
      <p:sp>
        <p:nvSpPr>
          <p:cNvPr id="49" name="Text 47"/>
          <p:cNvSpPr txBox="1"/>
          <p:nvPr/>
        </p:nvSpPr>
        <p:spPr>
          <a:xfrm>
            <a:off x="6629400" y="4553712"/>
            <a:ext cx="4983480" cy="640080"/>
          </a:xfrm>
          <a:prstGeom prst="rect">
            <a:avLst/>
          </a:prstGeom>
          <a:noFill/>
          <a:ln/>
        </p:spPr>
        <p:txBody>
          <a:bodyPr wrap="square" lIns="0" tIns="0" rIns="0" bIns="0" rtlCol="0" anchor="ctr"/>
          <a:lstStyle/>
          <a:p>
            <a:pPr indent="0" marL="0">
              <a:buNone/>
            </a:pPr>
            <a:r>
              <a:rPr lang="en-US" sz="1800" b="1" dirty="0">
                <a:solidFill>
                  <a:srgbClr val="6B2620"/>
                </a:solidFill>
                <a:latin typeface="Calibri" pitchFamily="34" charset="0"/>
                <a:ea typeface="Calibri" pitchFamily="34" charset="-122"/>
                <a:cs typeface="Calibri" pitchFamily="34" charset="-120"/>
              </a:rPr>
              <a:t>Deploy only — no pipeline data run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5E86B3"/>
                </a:solidFill>
                <a:latin typeface="Courier New" pitchFamily="34" charset="0"/>
                <a:ea typeface="Courier New" pitchFamily="34" charset="-122"/>
                <a:cs typeface="Courier New" pitchFamily="34" charset="-120"/>
              </a:rPr>
              <a:t>06</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One Fargate Task Runs One Stage</a:t>
            </a:r>
            <a:endParaRPr lang="en-US" sz="3500" dirty="0"/>
          </a:p>
        </p:txBody>
      </p:sp>
      <p:sp>
        <p:nvSpPr>
          <p:cNvPr id="5" name="Shape 3"/>
          <p:cNvSpPr/>
          <p:nvPr/>
        </p:nvSpPr>
        <p:spPr>
          <a:xfrm>
            <a:off x="365760" y="1280160"/>
            <a:ext cx="5577840" cy="676656"/>
          </a:xfrm>
          <a:prstGeom prst="roundRect">
            <a:avLst>
              <a:gd name="adj" fmla="val 10811"/>
            </a:avLst>
          </a:prstGeom>
          <a:solidFill>
            <a:srgbClr val="DDD8FF"/>
          </a:solidFill>
          <a:ln w="9525">
            <a:solidFill>
              <a:srgbClr val="315B4C"/>
            </a:solidFill>
            <a:prstDash val="solid"/>
          </a:ln>
        </p:spPr>
      </p:sp>
      <p:sp>
        <p:nvSpPr>
          <p:cNvPr id="6" name="Text 4"/>
          <p:cNvSpPr txBox="1"/>
          <p:nvPr/>
        </p:nvSpPr>
        <p:spPr>
          <a:xfrm>
            <a:off x="530352" y="1280160"/>
            <a:ext cx="5248656" cy="676656"/>
          </a:xfrm>
          <a:prstGeom prst="rect">
            <a:avLst/>
          </a:prstGeom>
          <a:noFill/>
          <a:ln/>
        </p:spPr>
        <p:txBody>
          <a:bodyPr wrap="square" lIns="0" tIns="0" rIns="0" bIns="0" rtlCol="0" anchor="ctr"/>
          <a:lstStyle/>
          <a:p>
            <a:pPr indent="0" marL="0">
              <a:lnSpc>
                <a:spcPct val="105000"/>
              </a:lnSpc>
              <a:buNone/>
            </a:pPr>
            <a:r>
              <a:rPr lang="en-US" sz="1600" b="1" dirty="0">
                <a:solidFill>
                  <a:srgbClr val="26352F"/>
                </a:solidFill>
                <a:latin typeface="Calibri" pitchFamily="34" charset="0"/>
                <a:ea typeface="Calibri" pitchFamily="34" charset="-122"/>
                <a:cs typeface="Calibri" pitchFamily="34" charset="-120"/>
              </a:rPr>
              <a:t>Step Functions state</a:t>
            </a:r>
            <a:endParaRPr lang="en-US" sz="1600" dirty="0"/>
          </a:p>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EeaRunNormalization</a:t>
            </a:r>
            <a:endParaRPr lang="en-US" sz="1600" dirty="0"/>
          </a:p>
        </p:txBody>
      </p:sp>
      <p:sp>
        <p:nvSpPr>
          <p:cNvPr id="7" name="Shape 5"/>
          <p:cNvSpPr/>
          <p:nvPr/>
        </p:nvSpPr>
        <p:spPr>
          <a:xfrm>
            <a:off x="640080" y="1956816"/>
            <a:ext cx="0" cy="274320"/>
          </a:xfrm>
          <a:prstGeom prst="line">
            <a:avLst/>
          </a:prstGeom>
          <a:noFill/>
          <a:ln w="19050">
            <a:solidFill>
              <a:srgbClr val="315B4C"/>
            </a:solidFill>
            <a:prstDash val="solid"/>
            <a:tailEnd type="triangle"/>
          </a:ln>
        </p:spPr>
      </p:sp>
      <p:sp>
        <p:nvSpPr>
          <p:cNvPr id="8" name="Shape 6"/>
          <p:cNvSpPr/>
          <p:nvPr/>
        </p:nvSpPr>
        <p:spPr>
          <a:xfrm>
            <a:off x="365760" y="2231136"/>
            <a:ext cx="5577840" cy="457200"/>
          </a:xfrm>
          <a:prstGeom prst="roundRect">
            <a:avLst>
              <a:gd name="adj" fmla="val 16000"/>
            </a:avLst>
          </a:prstGeom>
          <a:solidFill>
            <a:srgbClr val="FFD9B8"/>
          </a:solidFill>
          <a:ln w="9525">
            <a:solidFill>
              <a:srgbClr val="315B4C"/>
            </a:solidFill>
            <a:prstDash val="solid"/>
          </a:ln>
        </p:spPr>
      </p:sp>
      <p:sp>
        <p:nvSpPr>
          <p:cNvPr id="9" name="Text 7"/>
          <p:cNvSpPr txBox="1"/>
          <p:nvPr/>
        </p:nvSpPr>
        <p:spPr>
          <a:xfrm>
            <a:off x="530352" y="2231136"/>
            <a:ext cx="5248656" cy="457200"/>
          </a:xfrm>
          <a:prstGeom prst="rect">
            <a:avLst/>
          </a:prstGeom>
          <a:noFill/>
          <a:ln/>
        </p:spPr>
        <p:txBody>
          <a:bodyPr wrap="square" lIns="0" tIns="0" rIns="0" bIns="0" rtlCol="0" anchor="ctr"/>
          <a:lstStyle/>
          <a:p>
            <a:pPr indent="0" marL="0">
              <a:lnSpc>
                <a:spcPct val="105000"/>
              </a:lnSpc>
              <a:buNone/>
            </a:pPr>
            <a:r>
              <a:rPr lang="en-US" sz="1600" b="1" dirty="0">
                <a:solidFill>
                  <a:srgbClr val="26352F"/>
                </a:solidFill>
                <a:latin typeface="Calibri" pitchFamily="34" charset="0"/>
                <a:ea typeface="Calibri" pitchFamily="34" charset="-122"/>
                <a:cs typeface="Calibri" pitchFamily="34" charset="-120"/>
              </a:rPr>
              <a:t>ecs:RunTask.sync  →  Fargate task</a:t>
            </a:r>
            <a:endParaRPr lang="en-US" sz="1600" dirty="0"/>
          </a:p>
        </p:txBody>
      </p:sp>
      <p:sp>
        <p:nvSpPr>
          <p:cNvPr id="10" name="Shape 8"/>
          <p:cNvSpPr/>
          <p:nvPr/>
        </p:nvSpPr>
        <p:spPr>
          <a:xfrm>
            <a:off x="640080" y="2688336"/>
            <a:ext cx="0" cy="274320"/>
          </a:xfrm>
          <a:prstGeom prst="line">
            <a:avLst/>
          </a:prstGeom>
          <a:noFill/>
          <a:ln w="19050">
            <a:solidFill>
              <a:srgbClr val="315B4C"/>
            </a:solidFill>
            <a:prstDash val="solid"/>
            <a:tailEnd type="triangle"/>
          </a:ln>
        </p:spPr>
      </p:sp>
      <p:sp>
        <p:nvSpPr>
          <p:cNvPr id="11" name="Text 9"/>
          <p:cNvSpPr txBox="1"/>
          <p:nvPr/>
        </p:nvSpPr>
        <p:spPr>
          <a:xfrm>
            <a:off x="822960" y="2734056"/>
            <a:ext cx="5029200" cy="182880"/>
          </a:xfrm>
          <a:prstGeom prst="rect">
            <a:avLst/>
          </a:prstGeom>
          <a:noFill/>
          <a:ln/>
        </p:spPr>
        <p:txBody>
          <a:bodyPr wrap="square" lIns="0" tIns="0" rIns="0" bIns="0" rtlCol="0" anchor="ctr"/>
          <a:lstStyle/>
          <a:p>
            <a:pPr indent="0" marL="0">
              <a:buNone/>
            </a:pPr>
            <a:r>
              <a:rPr lang="en-US" sz="1600" dirty="0">
                <a:solidFill>
                  <a:srgbClr val="315B4C"/>
                </a:solidFill>
                <a:latin typeface="Courier New" pitchFamily="34" charset="0"/>
                <a:ea typeface="Courier New" pitchFamily="34" charset="-122"/>
                <a:cs typeface="Courier New" pitchFamily="34" charset="-120"/>
              </a:rPr>
              <a:t>pull image from ECR</a:t>
            </a:r>
            <a:endParaRPr lang="en-US" sz="1600" dirty="0"/>
          </a:p>
        </p:txBody>
      </p:sp>
      <p:sp>
        <p:nvSpPr>
          <p:cNvPr id="12" name="Shape 10"/>
          <p:cNvSpPr/>
          <p:nvPr/>
        </p:nvSpPr>
        <p:spPr>
          <a:xfrm>
            <a:off x="365760" y="2962656"/>
            <a:ext cx="5577840" cy="676656"/>
          </a:xfrm>
          <a:prstGeom prst="roundRect">
            <a:avLst>
              <a:gd name="adj" fmla="val 10811"/>
            </a:avLst>
          </a:prstGeom>
          <a:solidFill>
            <a:srgbClr val="FFFFFF"/>
          </a:solidFill>
          <a:ln w="9525">
            <a:solidFill>
              <a:srgbClr val="315B4C"/>
            </a:solidFill>
            <a:prstDash val="solid"/>
          </a:ln>
        </p:spPr>
      </p:sp>
      <p:sp>
        <p:nvSpPr>
          <p:cNvPr id="13" name="Text 11"/>
          <p:cNvSpPr txBox="1"/>
          <p:nvPr/>
        </p:nvSpPr>
        <p:spPr>
          <a:xfrm>
            <a:off x="530352" y="2962656"/>
            <a:ext cx="5248656" cy="676656"/>
          </a:xfrm>
          <a:prstGeom prst="rect">
            <a:avLst/>
          </a:prstGeom>
          <a:noFill/>
          <a:ln/>
        </p:spPr>
        <p:txBody>
          <a:bodyPr wrap="square" lIns="0" tIns="0" rIns="0" bIns="0" rtlCol="0" anchor="ctr"/>
          <a:lstStyle/>
          <a:p>
            <a:pPr indent="0" marL="0">
              <a:lnSpc>
                <a:spcPct val="105000"/>
              </a:lnSpc>
              <a:buNone/>
            </a:pPr>
            <a:r>
              <a:rPr lang="en-US" sz="1600" b="1" dirty="0">
                <a:solidFill>
                  <a:srgbClr val="26352F"/>
                </a:solidFill>
                <a:latin typeface="Calibri" pitchFamily="34" charset="0"/>
                <a:ea typeface="Calibri" pitchFamily="34" charset="-122"/>
                <a:cs typeface="Calibri" pitchFamily="34" charset="-120"/>
              </a:rPr>
              <a:t>main.py stage</a:t>
            </a:r>
            <a:endParaRPr lang="en-US" sz="1600" dirty="0"/>
          </a:p>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one source · one stage · one run_id</a:t>
            </a:r>
            <a:endParaRPr lang="en-US" sz="1600" dirty="0"/>
          </a:p>
        </p:txBody>
      </p:sp>
      <p:sp>
        <p:nvSpPr>
          <p:cNvPr id="14" name="Shape 12"/>
          <p:cNvSpPr/>
          <p:nvPr/>
        </p:nvSpPr>
        <p:spPr>
          <a:xfrm>
            <a:off x="640080" y="3639312"/>
            <a:ext cx="0" cy="274320"/>
          </a:xfrm>
          <a:prstGeom prst="line">
            <a:avLst/>
          </a:prstGeom>
          <a:noFill/>
          <a:ln w="19050">
            <a:solidFill>
              <a:srgbClr val="315B4C"/>
            </a:solidFill>
            <a:prstDash val="solid"/>
            <a:tailEnd type="triangle"/>
          </a:ln>
        </p:spPr>
      </p:sp>
      <p:sp>
        <p:nvSpPr>
          <p:cNvPr id="15" name="Text 13"/>
          <p:cNvSpPr txBox="1"/>
          <p:nvPr/>
        </p:nvSpPr>
        <p:spPr>
          <a:xfrm>
            <a:off x="822960" y="3685032"/>
            <a:ext cx="5029200" cy="182880"/>
          </a:xfrm>
          <a:prstGeom prst="rect">
            <a:avLst/>
          </a:prstGeom>
          <a:noFill/>
          <a:ln/>
        </p:spPr>
        <p:txBody>
          <a:bodyPr wrap="square" lIns="0" tIns="0" rIns="0" bIns="0" rtlCol="0" anchor="ctr"/>
          <a:lstStyle/>
          <a:p>
            <a:pPr indent="0" marL="0">
              <a:buNone/>
            </a:pPr>
            <a:r>
              <a:rPr lang="en-US" sz="1600" dirty="0">
                <a:solidFill>
                  <a:srgbClr val="315B4C"/>
                </a:solidFill>
                <a:latin typeface="Courier New" pitchFamily="34" charset="0"/>
                <a:ea typeface="Courier New" pitchFamily="34" charset="-122"/>
                <a:cs typeface="Courier New" pitchFamily="34" charset="-120"/>
              </a:rPr>
              <a:t>override command</a:t>
            </a:r>
            <a:endParaRPr lang="en-US" sz="1600" dirty="0"/>
          </a:p>
        </p:txBody>
      </p:sp>
      <p:sp>
        <p:nvSpPr>
          <p:cNvPr id="16" name="Shape 14"/>
          <p:cNvSpPr/>
          <p:nvPr/>
        </p:nvSpPr>
        <p:spPr>
          <a:xfrm>
            <a:off x="365760" y="3913632"/>
            <a:ext cx="5577840" cy="676656"/>
          </a:xfrm>
          <a:prstGeom prst="roundRect">
            <a:avLst>
              <a:gd name="adj" fmla="val 10811"/>
            </a:avLst>
          </a:prstGeom>
          <a:solidFill>
            <a:srgbClr val="CFE8FF"/>
          </a:solidFill>
          <a:ln w="9525">
            <a:solidFill>
              <a:srgbClr val="315B4C"/>
            </a:solidFill>
            <a:prstDash val="solid"/>
          </a:ln>
        </p:spPr>
      </p:sp>
      <p:sp>
        <p:nvSpPr>
          <p:cNvPr id="17" name="Text 15"/>
          <p:cNvSpPr txBox="1"/>
          <p:nvPr/>
        </p:nvSpPr>
        <p:spPr>
          <a:xfrm>
            <a:off x="530352" y="3913632"/>
            <a:ext cx="5248656" cy="676656"/>
          </a:xfrm>
          <a:prstGeom prst="rect">
            <a:avLst/>
          </a:prstGeom>
          <a:noFill/>
          <a:ln/>
        </p:spPr>
        <p:txBody>
          <a:bodyPr wrap="square" lIns="0" tIns="0" rIns="0" bIns="0" rtlCol="0" anchor="ctr"/>
          <a:lstStyle/>
          <a:p>
            <a:pPr indent="0" marL="0">
              <a:lnSpc>
                <a:spcPct val="105000"/>
              </a:lnSpc>
              <a:buNone/>
            </a:pPr>
            <a:r>
              <a:rPr lang="en-US" sz="1600" b="1" dirty="0">
                <a:solidFill>
                  <a:srgbClr val="26352F"/>
                </a:solidFill>
                <a:latin typeface="Calibri" pitchFamily="34" charset="0"/>
                <a:ea typeface="Calibri" pitchFamily="34" charset="-122"/>
                <a:cs typeface="Calibri" pitchFamily="34" charset="-120"/>
              </a:rPr>
              <a:t>Python source module:</a:t>
            </a:r>
            <a:endParaRPr lang="en-US" sz="1600" dirty="0"/>
          </a:p>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read S3 → process → write S3</a:t>
            </a:r>
            <a:endParaRPr lang="en-US" sz="1600" dirty="0"/>
          </a:p>
        </p:txBody>
      </p:sp>
      <p:sp>
        <p:nvSpPr>
          <p:cNvPr id="18" name="Shape 16"/>
          <p:cNvSpPr/>
          <p:nvPr/>
        </p:nvSpPr>
        <p:spPr>
          <a:xfrm>
            <a:off x="640080" y="4590288"/>
            <a:ext cx="0" cy="274320"/>
          </a:xfrm>
          <a:prstGeom prst="line">
            <a:avLst/>
          </a:prstGeom>
          <a:noFill/>
          <a:ln w="19050">
            <a:solidFill>
              <a:srgbClr val="315B4C"/>
            </a:solidFill>
            <a:prstDash val="solid"/>
            <a:tailEnd type="triangle"/>
          </a:ln>
        </p:spPr>
      </p:sp>
      <p:sp>
        <p:nvSpPr>
          <p:cNvPr id="19" name="Text 17"/>
          <p:cNvSpPr txBox="1"/>
          <p:nvPr/>
        </p:nvSpPr>
        <p:spPr>
          <a:xfrm>
            <a:off x="822960" y="4636008"/>
            <a:ext cx="5029200" cy="182880"/>
          </a:xfrm>
          <a:prstGeom prst="rect">
            <a:avLst/>
          </a:prstGeom>
          <a:noFill/>
          <a:ln/>
        </p:spPr>
        <p:txBody>
          <a:bodyPr wrap="square" lIns="0" tIns="0" rIns="0" bIns="0" rtlCol="0" anchor="ctr"/>
          <a:lstStyle/>
          <a:p>
            <a:pPr indent="0" marL="0">
              <a:buNone/>
            </a:pPr>
            <a:r>
              <a:rPr lang="en-US" sz="1600" dirty="0">
                <a:solidFill>
                  <a:srgbClr val="315B4C"/>
                </a:solidFill>
                <a:latin typeface="Courier New" pitchFamily="34" charset="0"/>
                <a:ea typeface="Courier New" pitchFamily="34" charset="-122"/>
                <a:cs typeface="Courier New" pitchFamily="34" charset="-120"/>
              </a:rPr>
              <a:t>read manifest</a:t>
            </a:r>
            <a:endParaRPr lang="en-US" sz="1600" dirty="0"/>
          </a:p>
        </p:txBody>
      </p:sp>
      <p:sp>
        <p:nvSpPr>
          <p:cNvPr id="20" name="Shape 18"/>
          <p:cNvSpPr/>
          <p:nvPr/>
        </p:nvSpPr>
        <p:spPr>
          <a:xfrm>
            <a:off x="365760" y="4864608"/>
            <a:ext cx="5577840" cy="457200"/>
          </a:xfrm>
          <a:prstGeom prst="roundRect">
            <a:avLst>
              <a:gd name="adj" fmla="val 16000"/>
            </a:avLst>
          </a:prstGeom>
          <a:solidFill>
            <a:srgbClr val="E8E5DF"/>
          </a:solidFill>
          <a:ln w="9525">
            <a:solidFill>
              <a:srgbClr val="315B4C"/>
            </a:solidFill>
            <a:prstDash val="solid"/>
          </a:ln>
        </p:spPr>
      </p:sp>
      <p:sp>
        <p:nvSpPr>
          <p:cNvPr id="21" name="Text 19"/>
          <p:cNvSpPr txBox="1"/>
          <p:nvPr/>
        </p:nvSpPr>
        <p:spPr>
          <a:xfrm>
            <a:off x="530352" y="4864608"/>
            <a:ext cx="5248656" cy="457200"/>
          </a:xfrm>
          <a:prstGeom prst="rect">
            <a:avLst/>
          </a:prstGeom>
          <a:noFill/>
          <a:ln/>
        </p:spPr>
        <p:txBody>
          <a:bodyPr wrap="square" lIns="0" tIns="0" rIns="0" bIns="0" rtlCol="0" anchor="ctr"/>
          <a:lstStyle/>
          <a:p>
            <a:pPr indent="0" marL="0">
              <a:lnSpc>
                <a:spcPct val="105000"/>
              </a:lnSpc>
              <a:buNone/>
            </a:pPr>
            <a:r>
              <a:rPr lang="en-US" sz="1600" b="1" dirty="0">
                <a:solidFill>
                  <a:srgbClr val="26352F"/>
                </a:solidFill>
                <a:latin typeface="Calibri" pitchFamily="34" charset="0"/>
                <a:ea typeface="Calibri" pitchFamily="34" charset="-122"/>
                <a:cs typeface="Calibri" pitchFamily="34" charset="-120"/>
              </a:rPr>
              <a:t>Stage manifest written to S3</a:t>
            </a:r>
            <a:endParaRPr lang="en-US" sz="1600" dirty="0"/>
          </a:p>
        </p:txBody>
      </p:sp>
      <p:sp>
        <p:nvSpPr>
          <p:cNvPr id="22" name="Shape 20"/>
          <p:cNvSpPr/>
          <p:nvPr/>
        </p:nvSpPr>
        <p:spPr>
          <a:xfrm>
            <a:off x="640080" y="5321808"/>
            <a:ext cx="0" cy="274320"/>
          </a:xfrm>
          <a:prstGeom prst="line">
            <a:avLst/>
          </a:prstGeom>
          <a:noFill/>
          <a:ln w="19050">
            <a:solidFill>
              <a:srgbClr val="315B4C"/>
            </a:solidFill>
            <a:prstDash val="solid"/>
            <a:tailEnd type="triangle"/>
          </a:ln>
        </p:spPr>
      </p:sp>
      <p:sp>
        <p:nvSpPr>
          <p:cNvPr id="23" name="Text 21"/>
          <p:cNvSpPr txBox="1"/>
          <p:nvPr/>
        </p:nvSpPr>
        <p:spPr>
          <a:xfrm>
            <a:off x="822960" y="5367528"/>
            <a:ext cx="5029200" cy="182880"/>
          </a:xfrm>
          <a:prstGeom prst="rect">
            <a:avLst/>
          </a:prstGeom>
          <a:noFill/>
          <a:ln/>
        </p:spPr>
        <p:txBody>
          <a:bodyPr wrap="square" lIns="0" tIns="0" rIns="0" bIns="0" rtlCol="0" anchor="ctr"/>
          <a:lstStyle/>
          <a:p>
            <a:pPr indent="0" marL="0">
              <a:buNone/>
            </a:pPr>
            <a:r>
              <a:rPr lang="en-US" sz="1600" dirty="0">
                <a:solidFill>
                  <a:srgbClr val="315B4C"/>
                </a:solidFill>
                <a:latin typeface="Courier New" pitchFamily="34" charset="0"/>
                <a:ea typeface="Courier New" pitchFamily="34" charset="-122"/>
                <a:cs typeface="Courier New" pitchFamily="34" charset="-120"/>
              </a:rPr>
              <a:t>StageResult</a:t>
            </a:r>
            <a:endParaRPr lang="en-US" sz="1600" dirty="0"/>
          </a:p>
        </p:txBody>
      </p:sp>
      <p:sp>
        <p:nvSpPr>
          <p:cNvPr id="24" name="Shape 22"/>
          <p:cNvSpPr/>
          <p:nvPr/>
        </p:nvSpPr>
        <p:spPr>
          <a:xfrm>
            <a:off x="365760" y="5596128"/>
            <a:ext cx="5577840" cy="457200"/>
          </a:xfrm>
          <a:prstGeom prst="roundRect">
            <a:avLst>
              <a:gd name="adj" fmla="val 16000"/>
            </a:avLst>
          </a:prstGeom>
          <a:solidFill>
            <a:srgbClr val="BFE6C8"/>
          </a:solidFill>
          <a:ln w="9525">
            <a:solidFill>
              <a:srgbClr val="315B4C"/>
            </a:solidFill>
            <a:prstDash val="solid"/>
          </a:ln>
        </p:spPr>
      </p:sp>
      <p:sp>
        <p:nvSpPr>
          <p:cNvPr id="25" name="Text 23"/>
          <p:cNvSpPr txBox="1"/>
          <p:nvPr/>
        </p:nvSpPr>
        <p:spPr>
          <a:xfrm>
            <a:off x="530352" y="5596128"/>
            <a:ext cx="5248656" cy="457200"/>
          </a:xfrm>
          <a:prstGeom prst="rect">
            <a:avLst/>
          </a:prstGeom>
          <a:noFill/>
          <a:ln/>
        </p:spPr>
        <p:txBody>
          <a:bodyPr wrap="square" lIns="0" tIns="0" rIns="0" bIns="0" rtlCol="0" anchor="ctr"/>
          <a:lstStyle/>
          <a:p>
            <a:pPr indent="0" marL="0">
              <a:lnSpc>
                <a:spcPct val="105000"/>
              </a:lnSpc>
              <a:buNone/>
            </a:pPr>
            <a:r>
              <a:rPr lang="en-US" sz="1600" b="1" dirty="0">
                <a:solidFill>
                  <a:srgbClr val="26352F"/>
                </a:solidFill>
                <a:latin typeface="Calibri" pitchFamily="34" charset="0"/>
                <a:ea typeface="Calibri" pitchFamily="34" charset="-122"/>
                <a:cs typeface="Calibri" pitchFamily="34" charset="-120"/>
              </a:rPr>
              <a:t>Step Functions continues</a:t>
            </a:r>
            <a:endParaRPr lang="en-US" sz="1600" dirty="0"/>
          </a:p>
        </p:txBody>
      </p:sp>
      <p:sp>
        <p:nvSpPr>
          <p:cNvPr id="26" name="Text 24"/>
          <p:cNvSpPr txBox="1"/>
          <p:nvPr/>
        </p:nvSpPr>
        <p:spPr>
          <a:xfrm>
            <a:off x="6172200" y="1170432"/>
            <a:ext cx="5623560" cy="457200"/>
          </a:xfrm>
          <a:prstGeom prst="rect">
            <a:avLst/>
          </a:prstGeom>
          <a:noFill/>
          <a:ln/>
        </p:spPr>
        <p:txBody>
          <a:bodyPr wrap="square" lIns="0" tIns="0" rIns="0" bIns="0" rtlCol="0" anchor="ctr"/>
          <a:lstStyle/>
          <a:p>
            <a:pPr indent="0" marL="0">
              <a:lnSpc>
                <a:spcPct val="105000"/>
              </a:lnSpc>
              <a:buNone/>
            </a:pPr>
            <a:r>
              <a:rPr lang="en-US" sz="1600" b="1" dirty="0">
                <a:solidFill>
                  <a:srgbClr val="315B4C"/>
                </a:solidFill>
                <a:latin typeface="Courier New" pitchFamily="34" charset="0"/>
                <a:ea typeface="Courier New" pitchFamily="34" charset="-122"/>
                <a:cs typeface="Courier New" pitchFamily="34" charset="-120"/>
              </a:rPr>
              <a:t>Stage manifest</a:t>
            </a:r>
            <a:endParaRPr lang="en-US" sz="1600" dirty="0"/>
          </a:p>
          <a:p>
            <a:pPr indent="0" marL="0">
              <a:lnSpc>
                <a:spcPct val="105000"/>
              </a:lnSpc>
              <a:buNone/>
            </a:pPr>
            <a:r>
              <a:rPr lang="en-US" sz="1600" b="1" dirty="0">
                <a:solidFill>
                  <a:srgbClr val="315B4C"/>
                </a:solidFill>
                <a:latin typeface="Courier New" pitchFamily="34" charset="0"/>
                <a:ea typeface="Courier New" pitchFamily="34" charset="-122"/>
                <a:cs typeface="Courier New" pitchFamily="34" charset="-120"/>
              </a:rPr>
              <a:t>runs/&lt;run_id&gt;/&lt;source&gt;/&lt;stage&gt;.json</a:t>
            </a:r>
            <a:endParaRPr lang="en-US" sz="1600" dirty="0"/>
          </a:p>
        </p:txBody>
      </p:sp>
      <p:sp>
        <p:nvSpPr>
          <p:cNvPr id="27" name="Shape 25"/>
          <p:cNvSpPr/>
          <p:nvPr/>
        </p:nvSpPr>
        <p:spPr>
          <a:xfrm>
            <a:off x="6172200" y="1719072"/>
            <a:ext cx="5623560" cy="2670048"/>
          </a:xfrm>
          <a:prstGeom prst="roundRect">
            <a:avLst>
              <a:gd name="adj" fmla="val 2055"/>
            </a:avLst>
          </a:prstGeom>
          <a:solidFill>
            <a:srgbClr val="2F3A35"/>
          </a:solidFill>
          <a:ln/>
        </p:spPr>
      </p:sp>
      <p:sp>
        <p:nvSpPr>
          <p:cNvPr id="28" name="Text 26"/>
          <p:cNvSpPr txBox="1"/>
          <p:nvPr/>
        </p:nvSpPr>
        <p:spPr>
          <a:xfrm>
            <a:off x="6300216" y="1792224"/>
            <a:ext cx="5367528" cy="2523744"/>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"written_paths": ["…/PM10/file.parquet"],</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"changed_paths": ["…/PM10/file.parquet"],</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"unchanged_paths": [], "failed_paths": [],</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"status": "SUCCEEDED",</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"run_id": "3f2a9c1e-…-4f90ab",</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"source": "eea-measurements",</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"stage": "normalization",</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"countries": ["DE", "PL"]</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a:t>
            </a:r>
            <a:endParaRPr lang="en-US" sz="1600" dirty="0"/>
          </a:p>
        </p:txBody>
      </p:sp>
      <p:sp>
        <p:nvSpPr>
          <p:cNvPr id="29" name="Shape 27"/>
          <p:cNvSpPr/>
          <p:nvPr/>
        </p:nvSpPr>
        <p:spPr>
          <a:xfrm>
            <a:off x="6172200" y="4645152"/>
            <a:ext cx="91440" cy="91440"/>
          </a:xfrm>
          <a:prstGeom prst="ellipse">
            <a:avLst/>
          </a:prstGeom>
          <a:solidFill>
            <a:srgbClr val="5E86B3"/>
          </a:solidFill>
          <a:ln/>
        </p:spPr>
      </p:sp>
      <p:sp>
        <p:nvSpPr>
          <p:cNvPr id="30" name="Text 28"/>
          <p:cNvSpPr txBox="1"/>
          <p:nvPr/>
        </p:nvSpPr>
        <p:spPr>
          <a:xfrm>
            <a:off x="6373368" y="4590288"/>
            <a:ext cx="5422392" cy="237744"/>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Large data stays in S3</a:t>
            </a:r>
            <a:endParaRPr lang="en-US" sz="1600" dirty="0"/>
          </a:p>
        </p:txBody>
      </p:sp>
      <p:sp>
        <p:nvSpPr>
          <p:cNvPr id="31" name="Shape 29"/>
          <p:cNvSpPr/>
          <p:nvPr/>
        </p:nvSpPr>
        <p:spPr>
          <a:xfrm>
            <a:off x="6172200" y="4919472"/>
            <a:ext cx="91440" cy="91440"/>
          </a:xfrm>
          <a:prstGeom prst="ellipse">
            <a:avLst/>
          </a:prstGeom>
          <a:solidFill>
            <a:srgbClr val="5E86B3"/>
          </a:solidFill>
          <a:ln/>
        </p:spPr>
      </p:sp>
      <p:sp>
        <p:nvSpPr>
          <p:cNvPr id="32" name="Text 30"/>
          <p:cNvSpPr txBox="1"/>
          <p:nvPr/>
        </p:nvSpPr>
        <p:spPr>
          <a:xfrm>
            <a:off x="6373368" y="4864608"/>
            <a:ext cx="5422392" cy="237744"/>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Stage handoff happens through written_paths</a:t>
            </a:r>
            <a:endParaRPr lang="en-US" sz="1600" dirty="0"/>
          </a:p>
        </p:txBody>
      </p:sp>
      <p:sp>
        <p:nvSpPr>
          <p:cNvPr id="33" name="Shape 31"/>
          <p:cNvSpPr/>
          <p:nvPr/>
        </p:nvSpPr>
        <p:spPr>
          <a:xfrm>
            <a:off x="6172200" y="5193792"/>
            <a:ext cx="91440" cy="91440"/>
          </a:xfrm>
          <a:prstGeom prst="ellipse">
            <a:avLst/>
          </a:prstGeom>
          <a:solidFill>
            <a:srgbClr val="5E86B3"/>
          </a:solidFill>
          <a:ln/>
        </p:spPr>
      </p:sp>
      <p:sp>
        <p:nvSpPr>
          <p:cNvPr id="34" name="Text 32"/>
          <p:cNvSpPr txBox="1"/>
          <p:nvPr/>
        </p:nvSpPr>
        <p:spPr>
          <a:xfrm>
            <a:off x="6373368" y="5138928"/>
            <a:ext cx="5422392" cy="237744"/>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No EC2 · No Lambda</a:t>
            </a:r>
            <a:endParaRPr lang="en-US" sz="1600" dirty="0"/>
          </a:p>
        </p:txBody>
      </p:sp>
      <p:sp>
        <p:nvSpPr>
          <p:cNvPr id="35" name="Shape 33"/>
          <p:cNvSpPr/>
          <p:nvPr/>
        </p:nvSpPr>
        <p:spPr>
          <a:xfrm>
            <a:off x="6172200" y="5468112"/>
            <a:ext cx="91440" cy="91440"/>
          </a:xfrm>
          <a:prstGeom prst="ellipse">
            <a:avLst/>
          </a:prstGeom>
          <a:solidFill>
            <a:srgbClr val="5E86B3"/>
          </a:solidFill>
          <a:ln/>
        </p:spPr>
      </p:sp>
      <p:sp>
        <p:nvSpPr>
          <p:cNvPr id="36" name="Text 34"/>
          <p:cNvSpPr txBox="1"/>
          <p:nvPr/>
        </p:nvSpPr>
        <p:spPr>
          <a:xfrm>
            <a:off x="6373368" y="5413248"/>
            <a:ext cx="5422392" cy="237744"/>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No ECS service · No idle compute</a:t>
            </a:r>
            <a:endParaRPr lang="en-US" sz="1600" dirty="0"/>
          </a:p>
        </p:txBody>
      </p:sp>
      <p:sp>
        <p:nvSpPr>
          <p:cNvPr id="37" name="Shape 35"/>
          <p:cNvSpPr/>
          <p:nvPr/>
        </p:nvSpPr>
        <p:spPr>
          <a:xfrm>
            <a:off x="6172200" y="5797296"/>
            <a:ext cx="5623560" cy="512064"/>
          </a:xfrm>
          <a:prstGeom prst="roundRect">
            <a:avLst>
              <a:gd name="adj" fmla="val 17857"/>
            </a:avLst>
          </a:prstGeom>
          <a:solidFill>
            <a:srgbClr val="E8E5DF"/>
          </a:solidFill>
          <a:ln w="9525">
            <a:solidFill>
              <a:srgbClr val="D8D3C6"/>
            </a:solidFill>
            <a:prstDash val="solid"/>
          </a:ln>
        </p:spPr>
      </p:sp>
      <p:sp>
        <p:nvSpPr>
          <p:cNvPr id="38" name="Text 36"/>
          <p:cNvSpPr txBox="1"/>
          <p:nvPr/>
        </p:nvSpPr>
        <p:spPr>
          <a:xfrm>
            <a:off x="6336792" y="5797296"/>
            <a:ext cx="5294376" cy="512064"/>
          </a:xfrm>
          <a:prstGeom prst="rect">
            <a:avLst/>
          </a:prstGeom>
          <a:noFill/>
          <a:ln/>
        </p:spPr>
        <p:txBody>
          <a:bodyPr wrap="square" lIns="0" tIns="0" rIns="0" bIns="0" rtlCol="0" anchor="ctr"/>
          <a:lstStyle/>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Public subnet · Public IP · Outbound HTTPS only</a:t>
            </a:r>
            <a:endParaRPr lang="en-US" sz="1600" dirty="0"/>
          </a:p>
          <a:p>
            <a:pPr indent="0" marL="0">
              <a:lnSpc>
                <a:spcPct val="105000"/>
              </a:lnSpc>
              <a:buNone/>
            </a:pPr>
            <a:r>
              <a:rPr lang="en-US" sz="1600" dirty="0">
                <a:solidFill>
                  <a:srgbClr val="26352F"/>
                </a:solidFill>
                <a:latin typeface="Calibri" pitchFamily="34" charset="0"/>
                <a:ea typeface="Calibri" pitchFamily="34" charset="-122"/>
                <a:cs typeface="Calibri" pitchFamily="34" charset="-120"/>
              </a:rPr>
              <a:t>No inbound rules · No NAT Gateway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5E86B3"/>
                </a:solidFill>
                <a:latin typeface="Courier New" pitchFamily="34" charset="0"/>
                <a:ea typeface="Courier New" pitchFamily="34" charset="-122"/>
                <a:cs typeface="Courier New" pitchFamily="34" charset="-120"/>
              </a:rPr>
              <a:t>07</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Bootstrap Prepares Shared Reference Data</a:t>
            </a:r>
            <a:endParaRPr lang="en-US" sz="3500" dirty="0"/>
          </a:p>
        </p:txBody>
      </p:sp>
      <p:sp>
        <p:nvSpPr>
          <p:cNvPr id="5" name="Shape 3"/>
          <p:cNvSpPr/>
          <p:nvPr/>
        </p:nvSpPr>
        <p:spPr>
          <a:xfrm>
            <a:off x="365760" y="1115568"/>
            <a:ext cx="3566160" cy="457200"/>
          </a:xfrm>
          <a:prstGeom prst="roundRect">
            <a:avLst>
              <a:gd name="adj" fmla="val 16000"/>
            </a:avLst>
          </a:prstGeom>
          <a:solidFill>
            <a:srgbClr val="FFFFFF"/>
          </a:solidFill>
          <a:ln w="9525">
            <a:solidFill>
              <a:srgbClr val="315B4C"/>
            </a:solidFill>
            <a:prstDash val="solid"/>
          </a:ln>
        </p:spPr>
      </p:sp>
      <p:sp>
        <p:nvSpPr>
          <p:cNvPr id="6" name="Text 4"/>
          <p:cNvSpPr txBox="1"/>
          <p:nvPr/>
        </p:nvSpPr>
        <p:spPr>
          <a:xfrm>
            <a:off x="457200" y="1115568"/>
            <a:ext cx="3383280" cy="457200"/>
          </a:xfrm>
          <a:prstGeom prst="rect">
            <a:avLst/>
          </a:prstGeom>
          <a:noFill/>
          <a:ln/>
        </p:spPr>
        <p:txBody>
          <a:bodyPr wrap="square" lIns="0" tIns="0" rIns="0" bIns="0" rtlCol="0" anchor="ctr"/>
          <a:lstStyle/>
          <a:p>
            <a:pPr algn="ctr" indent="0" marL="0">
              <a:lnSpc>
                <a:spcPct val="100000"/>
              </a:lnSpc>
              <a:buNone/>
            </a:pPr>
            <a:r>
              <a:rPr lang="en-US" sz="1600" b="1" dirty="0">
                <a:solidFill>
                  <a:srgbClr val="26352F"/>
                </a:solidFill>
                <a:latin typeface="Calibri" pitchFamily="34" charset="0"/>
                <a:ea typeface="Calibri" pitchFamily="34" charset="-122"/>
                <a:cs typeface="Calibri" pitchFamily="34" charset="-120"/>
              </a:rPr>
              <a:t>Manual start</a:t>
            </a:r>
            <a:endParaRPr lang="en-US" sz="1600" dirty="0"/>
          </a:p>
          <a:p>
            <a:pPr algn="ctr" indent="0" marL="0">
              <a:lnSpc>
                <a:spcPct val="100000"/>
              </a:lnSpc>
              <a:buNone/>
            </a:pPr>
            <a:r>
              <a:rPr lang="en-US" sz="1600" dirty="0">
                <a:solidFill>
                  <a:srgbClr val="26352F"/>
                </a:solidFill>
                <a:latin typeface="Calibri" pitchFamily="34" charset="0"/>
                <a:ea typeface="Calibri" pitchFamily="34" charset="-122"/>
                <a:cs typeface="Calibri" pitchFamily="34" charset="-120"/>
              </a:rPr>
              <a:t>countries_csv = "DE,PL"</a:t>
            </a:r>
            <a:endParaRPr lang="en-US" sz="1600" dirty="0"/>
          </a:p>
        </p:txBody>
      </p:sp>
      <p:sp>
        <p:nvSpPr>
          <p:cNvPr id="7" name="Shape 5"/>
          <p:cNvSpPr/>
          <p:nvPr/>
        </p:nvSpPr>
        <p:spPr>
          <a:xfrm>
            <a:off x="3931920" y="1344168"/>
            <a:ext cx="182880" cy="0"/>
          </a:xfrm>
          <a:prstGeom prst="line">
            <a:avLst/>
          </a:prstGeom>
          <a:noFill/>
          <a:ln w="19050">
            <a:solidFill>
              <a:srgbClr val="315B4C"/>
            </a:solidFill>
            <a:prstDash val="solid"/>
            <a:tailEnd type="triangle"/>
          </a:ln>
        </p:spPr>
      </p:sp>
      <p:sp>
        <p:nvSpPr>
          <p:cNvPr id="8" name="Shape 6"/>
          <p:cNvSpPr/>
          <p:nvPr/>
        </p:nvSpPr>
        <p:spPr>
          <a:xfrm>
            <a:off x="4114800" y="1115568"/>
            <a:ext cx="2377440" cy="457200"/>
          </a:xfrm>
          <a:prstGeom prst="roundRect">
            <a:avLst>
              <a:gd name="adj" fmla="val 16000"/>
            </a:avLst>
          </a:prstGeom>
          <a:solidFill>
            <a:srgbClr val="FFFFFF"/>
          </a:solidFill>
          <a:ln w="9525">
            <a:solidFill>
              <a:srgbClr val="315B4C"/>
            </a:solidFill>
            <a:prstDash val="solid"/>
          </a:ln>
        </p:spPr>
      </p:sp>
      <p:sp>
        <p:nvSpPr>
          <p:cNvPr id="9" name="Text 7"/>
          <p:cNvSpPr txBox="1"/>
          <p:nvPr/>
        </p:nvSpPr>
        <p:spPr>
          <a:xfrm>
            <a:off x="4206240" y="1115568"/>
            <a:ext cx="2194560" cy="457200"/>
          </a:xfrm>
          <a:prstGeom prst="rect">
            <a:avLst/>
          </a:prstGeom>
          <a:noFill/>
          <a:ln/>
        </p:spPr>
        <p:txBody>
          <a:bodyPr wrap="square" lIns="0" tIns="0" rIns="0" bIns="0" rtlCol="0" anchor="ctr"/>
          <a:lstStyle/>
          <a:p>
            <a:pPr algn="ctr" indent="0" marL="0">
              <a:lnSpc>
                <a:spcPct val="100000"/>
              </a:lnSpc>
              <a:buNone/>
            </a:pPr>
            <a:r>
              <a:rPr lang="en-US" sz="1600" b="1" dirty="0">
                <a:solidFill>
                  <a:srgbClr val="26352F"/>
                </a:solidFill>
                <a:latin typeface="Calibri" pitchFamily="34" charset="0"/>
                <a:ea typeface="Calibri" pitchFamily="34" charset="-122"/>
                <a:cs typeface="Calibri" pitchFamily="34" charset="-120"/>
              </a:rPr>
              <a:t>Generate</a:t>
            </a:r>
            <a:endParaRPr lang="en-US" sz="1600" dirty="0"/>
          </a:p>
          <a:p>
            <a:pPr algn="ctr" indent="0" marL="0">
              <a:lnSpc>
                <a:spcPct val="100000"/>
              </a:lnSpc>
              <a:buNone/>
            </a:pPr>
            <a:r>
              <a:rPr lang="en-US" sz="1600" dirty="0">
                <a:solidFill>
                  <a:srgbClr val="26352F"/>
                </a:solidFill>
                <a:latin typeface="Calibri" pitchFamily="34" charset="0"/>
                <a:ea typeface="Calibri" pitchFamily="34" charset="-122"/>
                <a:cs typeface="Calibri" pitchFamily="34" charset="-120"/>
              </a:rPr>
              <a:t>run_id</a:t>
            </a:r>
            <a:endParaRPr lang="en-US" sz="1600" dirty="0"/>
          </a:p>
        </p:txBody>
      </p:sp>
      <p:sp>
        <p:nvSpPr>
          <p:cNvPr id="10" name="Shape 8"/>
          <p:cNvSpPr/>
          <p:nvPr/>
        </p:nvSpPr>
        <p:spPr>
          <a:xfrm>
            <a:off x="6492240" y="1344168"/>
            <a:ext cx="182880" cy="0"/>
          </a:xfrm>
          <a:prstGeom prst="line">
            <a:avLst/>
          </a:prstGeom>
          <a:noFill/>
          <a:ln w="19050">
            <a:solidFill>
              <a:srgbClr val="315B4C"/>
            </a:solidFill>
            <a:prstDash val="solid"/>
            <a:tailEnd type="triangle"/>
          </a:ln>
        </p:spPr>
      </p:sp>
      <p:sp>
        <p:nvSpPr>
          <p:cNvPr id="11" name="Shape 9"/>
          <p:cNvSpPr/>
          <p:nvPr/>
        </p:nvSpPr>
        <p:spPr>
          <a:xfrm>
            <a:off x="6675120" y="1115568"/>
            <a:ext cx="4297680" cy="457200"/>
          </a:xfrm>
          <a:prstGeom prst="roundRect">
            <a:avLst>
              <a:gd name="adj" fmla="val 16000"/>
            </a:avLst>
          </a:prstGeom>
          <a:solidFill>
            <a:srgbClr val="DDD8FF"/>
          </a:solidFill>
          <a:ln w="9525">
            <a:solidFill>
              <a:srgbClr val="315B4C"/>
            </a:solidFill>
            <a:prstDash val="solid"/>
          </a:ln>
        </p:spPr>
      </p:sp>
      <p:sp>
        <p:nvSpPr>
          <p:cNvPr id="12" name="Text 10"/>
          <p:cNvSpPr txBox="1"/>
          <p:nvPr/>
        </p:nvSpPr>
        <p:spPr>
          <a:xfrm>
            <a:off x="6766560" y="1115568"/>
            <a:ext cx="4114800" cy="457200"/>
          </a:xfrm>
          <a:prstGeom prst="rect">
            <a:avLst/>
          </a:prstGeom>
          <a:noFill/>
          <a:ln/>
        </p:spPr>
        <p:txBody>
          <a:bodyPr wrap="square" lIns="0" tIns="0" rIns="0" bIns="0" rtlCol="0" anchor="ctr"/>
          <a:lstStyle/>
          <a:p>
            <a:pPr algn="ctr" indent="0" marL="0">
              <a:lnSpc>
                <a:spcPct val="100000"/>
              </a:lnSpc>
              <a:buNone/>
            </a:pPr>
            <a:r>
              <a:rPr lang="en-US" sz="1600" b="1" dirty="0">
                <a:solidFill>
                  <a:srgbClr val="26352F"/>
                </a:solidFill>
                <a:latin typeface="Calibri" pitchFamily="34" charset="0"/>
                <a:ea typeface="Calibri" pitchFamily="34" charset="-122"/>
                <a:cs typeface="Calibri" pitchFamily="34" charset="-120"/>
              </a:rPr>
              <a:t>RunReferencePipelines</a:t>
            </a:r>
            <a:endParaRPr lang="en-US" sz="1600" dirty="0"/>
          </a:p>
          <a:p>
            <a:pPr algn="ctr" indent="0" marL="0">
              <a:lnSpc>
                <a:spcPct val="100000"/>
              </a:lnSpc>
              <a:buNone/>
            </a:pPr>
            <a:r>
              <a:rPr lang="en-US" sz="1600" dirty="0">
                <a:solidFill>
                  <a:srgbClr val="26352F"/>
                </a:solidFill>
                <a:latin typeface="Calibri" pitchFamily="34" charset="0"/>
                <a:ea typeface="Calibri" pitchFamily="34" charset="-122"/>
                <a:cs typeface="Calibri" pitchFamily="34" charset="-120"/>
              </a:rPr>
              <a:t>3 parallel branches</a:t>
            </a:r>
            <a:endParaRPr lang="en-US" sz="1600" dirty="0"/>
          </a:p>
        </p:txBody>
      </p:sp>
      <p:sp>
        <p:nvSpPr>
          <p:cNvPr id="13" name="Shape 11"/>
          <p:cNvSpPr/>
          <p:nvPr/>
        </p:nvSpPr>
        <p:spPr>
          <a:xfrm>
            <a:off x="365760" y="1700784"/>
            <a:ext cx="3657600" cy="347472"/>
          </a:xfrm>
          <a:prstGeom prst="roundRect">
            <a:avLst>
              <a:gd name="adj" fmla="val 23684"/>
            </a:avLst>
          </a:prstGeom>
          <a:solidFill>
            <a:srgbClr val="CFE8FF"/>
          </a:solidFill>
          <a:ln/>
        </p:spPr>
      </p:sp>
      <p:sp>
        <p:nvSpPr>
          <p:cNvPr id="14" name="Text 12"/>
          <p:cNvSpPr txBox="1"/>
          <p:nvPr/>
        </p:nvSpPr>
        <p:spPr>
          <a:xfrm>
            <a:off x="493776" y="1700784"/>
            <a:ext cx="2011680" cy="347472"/>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NUTS</a:t>
            </a:r>
            <a:endParaRPr lang="en-US" sz="1700" dirty="0"/>
          </a:p>
        </p:txBody>
      </p:sp>
      <p:sp>
        <p:nvSpPr>
          <p:cNvPr id="15" name="Text 13"/>
          <p:cNvSpPr txBox="1"/>
          <p:nvPr/>
        </p:nvSpPr>
        <p:spPr>
          <a:xfrm>
            <a:off x="1463040" y="1700784"/>
            <a:ext cx="2487168" cy="347472"/>
          </a:xfrm>
          <a:prstGeom prst="rect">
            <a:avLst/>
          </a:prstGeom>
          <a:noFill/>
          <a:ln/>
        </p:spPr>
        <p:txBody>
          <a:bodyPr wrap="square" lIns="0" tIns="0" rIns="0" bIns="0" rtlCol="0" anchor="ctr"/>
          <a:lstStyle/>
          <a:p>
            <a:pPr algn="r" indent="0" marL="0">
              <a:buNone/>
            </a:pPr>
            <a:r>
              <a:rPr lang="en-US" sz="1600" dirty="0">
                <a:solidFill>
                  <a:srgbClr val="3F4E47"/>
                </a:solidFill>
                <a:latin typeface="Courier New" pitchFamily="34" charset="0"/>
                <a:ea typeface="Courier New" pitchFamily="34" charset="-122"/>
                <a:cs typeface="Courier New" pitchFamily="34" charset="-120"/>
              </a:rPr>
              <a:t>nuts_boundaries.py</a:t>
            </a:r>
            <a:endParaRPr lang="en-US" sz="1600" dirty="0"/>
          </a:p>
        </p:txBody>
      </p:sp>
      <p:sp>
        <p:nvSpPr>
          <p:cNvPr id="16" name="Text 14"/>
          <p:cNvSpPr txBox="1"/>
          <p:nvPr/>
        </p:nvSpPr>
        <p:spPr>
          <a:xfrm>
            <a:off x="365760" y="2176272"/>
            <a:ext cx="3657600" cy="201168"/>
          </a:xfrm>
          <a:prstGeom prst="rect">
            <a:avLst/>
          </a:prstGeom>
          <a:noFill/>
          <a:ln/>
        </p:spPr>
        <p:txBody>
          <a:bodyPr wrap="square" lIns="0" tIns="0" rIns="0" bIns="0" rtlCol="0" anchor="ctr"/>
          <a:lstStyle/>
          <a:p>
            <a:pPr indent="0" marL="0">
              <a:buNone/>
            </a:pPr>
            <a:r>
              <a:rPr lang="en-US" sz="1600" b="1" dirty="0">
                <a:solidFill>
                  <a:srgbClr val="5E86B3"/>
                </a:solidFill>
                <a:latin typeface="Calibri" pitchFamily="34" charset="0"/>
                <a:ea typeface="Calibri" pitchFamily="34" charset="-122"/>
                <a:cs typeface="Calibri" pitchFamily="34" charset="-120"/>
              </a:rPr>
              <a:t>INGESTION</a:t>
            </a:r>
            <a:endParaRPr lang="en-US" sz="1600" dirty="0"/>
          </a:p>
        </p:txBody>
      </p:sp>
      <p:sp>
        <p:nvSpPr>
          <p:cNvPr id="17" name="Shape 15"/>
          <p:cNvSpPr/>
          <p:nvPr/>
        </p:nvSpPr>
        <p:spPr>
          <a:xfrm>
            <a:off x="365760" y="2395728"/>
            <a:ext cx="3657600" cy="621792"/>
          </a:xfrm>
          <a:prstGeom prst="roundRect">
            <a:avLst>
              <a:gd name="adj" fmla="val 8824"/>
            </a:avLst>
          </a:prstGeom>
          <a:solidFill>
            <a:srgbClr val="2F3A35"/>
          </a:solidFill>
          <a:ln/>
        </p:spPr>
      </p:sp>
      <p:sp>
        <p:nvSpPr>
          <p:cNvPr id="18" name="Text 16"/>
          <p:cNvSpPr txBox="1"/>
          <p:nvPr/>
        </p:nvSpPr>
        <p:spPr>
          <a:xfrm>
            <a:off x="493776" y="2468880"/>
            <a:ext cx="3401568" cy="475488"/>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WRITE nuts3_boundaries</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MANIFEST ingestion.json</a:t>
            </a:r>
            <a:endParaRPr lang="en-US" sz="1600" dirty="0"/>
          </a:p>
        </p:txBody>
      </p:sp>
      <p:sp>
        <p:nvSpPr>
          <p:cNvPr id="19" name="Text 17"/>
          <p:cNvSpPr txBox="1"/>
          <p:nvPr/>
        </p:nvSpPr>
        <p:spPr>
          <a:xfrm>
            <a:off x="365760" y="3127248"/>
            <a:ext cx="3657600" cy="219456"/>
          </a:xfrm>
          <a:prstGeom prst="rect">
            <a:avLst/>
          </a:prstGeom>
          <a:noFill/>
          <a:ln/>
        </p:spPr>
        <p:txBody>
          <a:bodyPr wrap="square" lIns="0" tIns="0" rIns="0" bIns="0" rtlCol="0" anchor="ctr"/>
          <a:lstStyle/>
          <a:p>
            <a:pPr indent="0" marL="0">
              <a:buNone/>
            </a:pPr>
            <a:r>
              <a:rPr lang="en-US" sz="1600" i="1" dirty="0">
                <a:solidFill>
                  <a:srgbClr val="3F4E47"/>
                </a:solidFill>
                <a:latin typeface="Calibri" pitchFamily="34" charset="0"/>
                <a:ea typeface="Calibri" pitchFamily="34" charset="-122"/>
                <a:cs typeface="Calibri" pitchFamily="34" charset="-120"/>
              </a:rPr>
              <a:t>Validate → SHA-256 → Promote</a:t>
            </a:r>
            <a:endParaRPr lang="en-US" sz="1600" dirty="0"/>
          </a:p>
        </p:txBody>
      </p:sp>
      <p:sp>
        <p:nvSpPr>
          <p:cNvPr id="20" name="Shape 18"/>
          <p:cNvSpPr/>
          <p:nvPr/>
        </p:nvSpPr>
        <p:spPr>
          <a:xfrm>
            <a:off x="365760" y="3438144"/>
            <a:ext cx="3657600" cy="457200"/>
          </a:xfrm>
          <a:prstGeom prst="roundRect">
            <a:avLst>
              <a:gd name="adj" fmla="val 16000"/>
            </a:avLst>
          </a:prstGeom>
          <a:solidFill>
            <a:srgbClr val="E8E5DF"/>
          </a:solidFill>
          <a:ln w="9525">
            <a:solidFill>
              <a:srgbClr val="D8D3C6"/>
            </a:solidFill>
            <a:prstDash val="solid"/>
          </a:ln>
        </p:spPr>
      </p:sp>
      <p:sp>
        <p:nvSpPr>
          <p:cNvPr id="21" name="Text 19"/>
          <p:cNvSpPr txBox="1"/>
          <p:nvPr/>
        </p:nvSpPr>
        <p:spPr>
          <a:xfrm>
            <a:off x="493776" y="3474720"/>
            <a:ext cx="3401568" cy="384048"/>
          </a:xfrm>
          <a:prstGeom prst="rect">
            <a:avLst/>
          </a:prstGeom>
          <a:noFill/>
          <a:ln/>
        </p:spPr>
        <p:txBody>
          <a:bodyPr wrap="square" lIns="0" tIns="0" rIns="0" bIns="0" rtlCol="0" anchor="t"/>
          <a:lstStyle/>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DE300 → DE30 → DE3</a:t>
            </a:r>
            <a:endParaRPr lang="en-US" sz="1600" dirty="0"/>
          </a:p>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PL213 → PL21 → PL2</a:t>
            </a:r>
            <a:endParaRPr lang="en-US" sz="1600" dirty="0"/>
          </a:p>
        </p:txBody>
      </p:sp>
      <p:sp>
        <p:nvSpPr>
          <p:cNvPr id="22" name="Shape 20"/>
          <p:cNvSpPr/>
          <p:nvPr/>
        </p:nvSpPr>
        <p:spPr>
          <a:xfrm>
            <a:off x="4251960" y="1700784"/>
            <a:ext cx="3657600" cy="347472"/>
          </a:xfrm>
          <a:prstGeom prst="roundRect">
            <a:avLst>
              <a:gd name="adj" fmla="val 23684"/>
            </a:avLst>
          </a:prstGeom>
          <a:solidFill>
            <a:srgbClr val="FFF0B8"/>
          </a:solidFill>
          <a:ln/>
        </p:spPr>
      </p:sp>
      <p:sp>
        <p:nvSpPr>
          <p:cNvPr id="23" name="Text 21"/>
          <p:cNvSpPr txBox="1"/>
          <p:nvPr/>
        </p:nvSpPr>
        <p:spPr>
          <a:xfrm>
            <a:off x="4379976" y="1700784"/>
            <a:ext cx="2011680" cy="347472"/>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TED Codelists</a:t>
            </a:r>
            <a:endParaRPr lang="en-US" sz="1700" dirty="0"/>
          </a:p>
        </p:txBody>
      </p:sp>
      <p:sp>
        <p:nvSpPr>
          <p:cNvPr id="24" name="Text 22"/>
          <p:cNvSpPr txBox="1"/>
          <p:nvPr/>
        </p:nvSpPr>
        <p:spPr>
          <a:xfrm>
            <a:off x="5349240" y="1700784"/>
            <a:ext cx="2487168" cy="347472"/>
          </a:xfrm>
          <a:prstGeom prst="rect">
            <a:avLst/>
          </a:prstGeom>
          <a:noFill/>
          <a:ln/>
        </p:spPr>
        <p:txBody>
          <a:bodyPr wrap="square" lIns="0" tIns="0" rIns="0" bIns="0" rtlCol="0" anchor="ctr"/>
          <a:lstStyle/>
          <a:p>
            <a:pPr algn="r" indent="0" marL="0">
              <a:buNone/>
            </a:pPr>
            <a:r>
              <a:rPr lang="en-US" sz="1600" dirty="0">
                <a:solidFill>
                  <a:srgbClr val="3F4E47"/>
                </a:solidFill>
                <a:latin typeface="Courier New" pitchFamily="34" charset="0"/>
                <a:ea typeface="Courier New" pitchFamily="34" charset="-122"/>
                <a:cs typeface="Courier New" pitchFamily="34" charset="-120"/>
              </a:rPr>
              <a:t>codelists.py</a:t>
            </a:r>
            <a:endParaRPr lang="en-US" sz="1600" dirty="0"/>
          </a:p>
        </p:txBody>
      </p:sp>
      <p:sp>
        <p:nvSpPr>
          <p:cNvPr id="25" name="Text 23"/>
          <p:cNvSpPr txBox="1"/>
          <p:nvPr/>
        </p:nvSpPr>
        <p:spPr>
          <a:xfrm>
            <a:off x="4251960" y="2176272"/>
            <a:ext cx="3657600" cy="201168"/>
          </a:xfrm>
          <a:prstGeom prst="rect">
            <a:avLst/>
          </a:prstGeom>
          <a:noFill/>
          <a:ln/>
        </p:spPr>
        <p:txBody>
          <a:bodyPr wrap="square" lIns="0" tIns="0" rIns="0" bIns="0" rtlCol="0" anchor="ctr"/>
          <a:lstStyle/>
          <a:p>
            <a:pPr indent="0" marL="0">
              <a:buNone/>
            </a:pPr>
            <a:r>
              <a:rPr lang="en-US" sz="1600" b="1" dirty="0">
                <a:solidFill>
                  <a:srgbClr val="5E86B3"/>
                </a:solidFill>
                <a:latin typeface="Calibri" pitchFamily="34" charset="0"/>
                <a:ea typeface="Calibri" pitchFamily="34" charset="-122"/>
                <a:cs typeface="Calibri" pitchFamily="34" charset="-120"/>
              </a:rPr>
              <a:t>INGESTION</a:t>
            </a:r>
            <a:endParaRPr lang="en-US" sz="1600" dirty="0"/>
          </a:p>
        </p:txBody>
      </p:sp>
      <p:sp>
        <p:nvSpPr>
          <p:cNvPr id="26" name="Shape 24"/>
          <p:cNvSpPr/>
          <p:nvPr/>
        </p:nvSpPr>
        <p:spPr>
          <a:xfrm>
            <a:off x="4251960" y="2395728"/>
            <a:ext cx="3657600" cy="621792"/>
          </a:xfrm>
          <a:prstGeom prst="roundRect">
            <a:avLst>
              <a:gd name="adj" fmla="val 8824"/>
            </a:avLst>
          </a:prstGeom>
          <a:solidFill>
            <a:srgbClr val="2F3A35"/>
          </a:solidFill>
          <a:ln/>
        </p:spPr>
      </p:sp>
      <p:sp>
        <p:nvSpPr>
          <p:cNvPr id="27" name="Text 25"/>
          <p:cNvSpPr txBox="1"/>
          <p:nvPr/>
        </p:nvSpPr>
        <p:spPr>
          <a:xfrm>
            <a:off x="4379976" y="2468880"/>
            <a:ext cx="3401568" cy="475488"/>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WRITE &lt;id&gt;.gc.xml</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MANIFEST ingestion.json</a:t>
            </a:r>
            <a:endParaRPr lang="en-US" sz="1600" dirty="0"/>
          </a:p>
        </p:txBody>
      </p:sp>
      <p:sp>
        <p:nvSpPr>
          <p:cNvPr id="28" name="Text 26"/>
          <p:cNvSpPr txBox="1"/>
          <p:nvPr/>
        </p:nvSpPr>
        <p:spPr>
          <a:xfrm>
            <a:off x="4251960" y="3108960"/>
            <a:ext cx="3657600" cy="201168"/>
          </a:xfrm>
          <a:prstGeom prst="rect">
            <a:avLst/>
          </a:prstGeom>
          <a:noFill/>
          <a:ln/>
        </p:spPr>
        <p:txBody>
          <a:bodyPr wrap="square" lIns="0" tIns="0" rIns="0" bIns="0" rtlCol="0" anchor="ctr"/>
          <a:lstStyle/>
          <a:p>
            <a:pPr indent="0" marL="0">
              <a:buNone/>
            </a:pPr>
            <a:r>
              <a:rPr lang="en-US" sz="1600" b="1" dirty="0">
                <a:solidFill>
                  <a:srgbClr val="5E86B3"/>
                </a:solidFill>
                <a:latin typeface="Calibri" pitchFamily="34" charset="0"/>
                <a:ea typeface="Calibri" pitchFamily="34" charset="-122"/>
                <a:cs typeface="Calibri" pitchFamily="34" charset="-120"/>
              </a:rPr>
              <a:t>NORMALIZATION</a:t>
            </a:r>
            <a:endParaRPr lang="en-US" sz="1600" dirty="0"/>
          </a:p>
        </p:txBody>
      </p:sp>
      <p:sp>
        <p:nvSpPr>
          <p:cNvPr id="29" name="Shape 27"/>
          <p:cNvSpPr/>
          <p:nvPr/>
        </p:nvSpPr>
        <p:spPr>
          <a:xfrm>
            <a:off x="4251960" y="3328416"/>
            <a:ext cx="3657600" cy="621792"/>
          </a:xfrm>
          <a:prstGeom prst="roundRect">
            <a:avLst>
              <a:gd name="adj" fmla="val 8824"/>
            </a:avLst>
          </a:prstGeom>
          <a:solidFill>
            <a:srgbClr val="2F3A35"/>
          </a:solidFill>
          <a:ln/>
        </p:spPr>
      </p:sp>
      <p:sp>
        <p:nvSpPr>
          <p:cNvPr id="30" name="Text 28"/>
          <p:cNvSpPr txBox="1"/>
          <p:nvPr/>
        </p:nvSpPr>
        <p:spPr>
          <a:xfrm>
            <a:off x="4379976" y="3401568"/>
            <a:ext cx="3401568" cy="475488"/>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WRITE &lt;id&gt;.parquet</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MANIFEST normalize.json</a:t>
            </a:r>
            <a:endParaRPr lang="en-US" sz="1600" dirty="0"/>
          </a:p>
        </p:txBody>
      </p:sp>
      <p:sp>
        <p:nvSpPr>
          <p:cNvPr id="31" name="Text 29"/>
          <p:cNvSpPr txBox="1"/>
          <p:nvPr/>
        </p:nvSpPr>
        <p:spPr>
          <a:xfrm>
            <a:off x="4251960" y="4059936"/>
            <a:ext cx="3657600" cy="219456"/>
          </a:xfrm>
          <a:prstGeom prst="rect">
            <a:avLst/>
          </a:prstGeom>
          <a:noFill/>
          <a:ln/>
        </p:spPr>
        <p:txBody>
          <a:bodyPr wrap="square" lIns="0" tIns="0" rIns="0" bIns="0" rtlCol="0" anchor="ctr"/>
          <a:lstStyle/>
          <a:p>
            <a:pPr indent="0" marL="0">
              <a:buNone/>
            </a:pPr>
            <a:r>
              <a:rPr lang="en-US" sz="1600" i="1" dirty="0">
                <a:solidFill>
                  <a:srgbClr val="3F4E47"/>
                </a:solidFill>
                <a:latin typeface="Calibri" pitchFamily="34" charset="0"/>
                <a:ea typeface="Calibri" pitchFamily="34" charset="-122"/>
                <a:cs typeface="Calibri" pitchFamily="34" charset="-120"/>
              </a:rPr>
              <a:t>notice-type · cpv · nuts · currency</a:t>
            </a:r>
            <a:endParaRPr lang="en-US" sz="1600" dirty="0"/>
          </a:p>
        </p:txBody>
      </p:sp>
      <p:sp>
        <p:nvSpPr>
          <p:cNvPr id="32" name="Shape 30"/>
          <p:cNvSpPr/>
          <p:nvPr/>
        </p:nvSpPr>
        <p:spPr>
          <a:xfrm>
            <a:off x="4251960" y="4370832"/>
            <a:ext cx="3657600" cy="457200"/>
          </a:xfrm>
          <a:prstGeom prst="roundRect">
            <a:avLst>
              <a:gd name="adj" fmla="val 16000"/>
            </a:avLst>
          </a:prstGeom>
          <a:solidFill>
            <a:srgbClr val="E8E5DF"/>
          </a:solidFill>
          <a:ln w="9525">
            <a:solidFill>
              <a:srgbClr val="D8D3C6"/>
            </a:solidFill>
            <a:prstDash val="solid"/>
          </a:ln>
        </p:spPr>
      </p:sp>
      <p:sp>
        <p:nvSpPr>
          <p:cNvPr id="33" name="Text 31"/>
          <p:cNvSpPr txBox="1"/>
          <p:nvPr/>
        </p:nvSpPr>
        <p:spPr>
          <a:xfrm>
            <a:off x="4379976" y="4407408"/>
            <a:ext cx="3401568" cy="384048"/>
          </a:xfrm>
          <a:prstGeom prst="rect">
            <a:avLst/>
          </a:prstGeom>
          <a:noFill/>
          <a:ln/>
        </p:spPr>
        <p:txBody>
          <a:bodyPr wrap="square" lIns="0" tIns="0" rIns="0" bIns="0" rtlCol="0" anchor="t"/>
          <a:lstStyle/>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90700000 → Environmental svcs</a:t>
            </a:r>
            <a:endParaRPr lang="en-US" sz="1600" dirty="0"/>
          </a:p>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EUR → Euro  ·  DEU → Germany</a:t>
            </a:r>
            <a:endParaRPr lang="en-US" sz="1600" dirty="0"/>
          </a:p>
        </p:txBody>
      </p:sp>
      <p:sp>
        <p:nvSpPr>
          <p:cNvPr id="34" name="Shape 32"/>
          <p:cNvSpPr/>
          <p:nvPr/>
        </p:nvSpPr>
        <p:spPr>
          <a:xfrm>
            <a:off x="8138160" y="1700784"/>
            <a:ext cx="3657600" cy="347472"/>
          </a:xfrm>
          <a:prstGeom prst="roundRect">
            <a:avLst>
              <a:gd name="adj" fmla="val 23684"/>
            </a:avLst>
          </a:prstGeom>
          <a:solidFill>
            <a:srgbClr val="CFE8FF"/>
          </a:solidFill>
          <a:ln/>
        </p:spPr>
      </p:sp>
      <p:sp>
        <p:nvSpPr>
          <p:cNvPr id="35" name="Text 33"/>
          <p:cNvSpPr txBox="1"/>
          <p:nvPr/>
        </p:nvSpPr>
        <p:spPr>
          <a:xfrm>
            <a:off x="8266176" y="1700784"/>
            <a:ext cx="2011680" cy="347472"/>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EEA Stations</a:t>
            </a:r>
            <a:endParaRPr lang="en-US" sz="1700" dirty="0"/>
          </a:p>
        </p:txBody>
      </p:sp>
      <p:sp>
        <p:nvSpPr>
          <p:cNvPr id="36" name="Text 34"/>
          <p:cNvSpPr txBox="1"/>
          <p:nvPr/>
        </p:nvSpPr>
        <p:spPr>
          <a:xfrm>
            <a:off x="9235440" y="1700784"/>
            <a:ext cx="2487168" cy="347472"/>
          </a:xfrm>
          <a:prstGeom prst="rect">
            <a:avLst/>
          </a:prstGeom>
          <a:noFill/>
          <a:ln/>
        </p:spPr>
        <p:txBody>
          <a:bodyPr wrap="square" lIns="0" tIns="0" rIns="0" bIns="0" rtlCol="0" anchor="ctr"/>
          <a:lstStyle/>
          <a:p>
            <a:pPr algn="r" indent="0" marL="0">
              <a:buNone/>
            </a:pPr>
            <a:r>
              <a:rPr lang="en-US" sz="1600" dirty="0">
                <a:solidFill>
                  <a:srgbClr val="3F4E47"/>
                </a:solidFill>
                <a:latin typeface="Courier New" pitchFamily="34" charset="0"/>
                <a:ea typeface="Courier New" pitchFamily="34" charset="-122"/>
                <a:cs typeface="Courier New" pitchFamily="34" charset="-120"/>
              </a:rPr>
              <a:t>stations.py</a:t>
            </a:r>
            <a:endParaRPr lang="en-US" sz="1600" dirty="0"/>
          </a:p>
        </p:txBody>
      </p:sp>
      <p:sp>
        <p:nvSpPr>
          <p:cNvPr id="37" name="Text 35"/>
          <p:cNvSpPr txBox="1"/>
          <p:nvPr/>
        </p:nvSpPr>
        <p:spPr>
          <a:xfrm>
            <a:off x="8138160" y="2176272"/>
            <a:ext cx="3657600" cy="201168"/>
          </a:xfrm>
          <a:prstGeom prst="rect">
            <a:avLst/>
          </a:prstGeom>
          <a:noFill/>
          <a:ln/>
        </p:spPr>
        <p:txBody>
          <a:bodyPr wrap="square" lIns="0" tIns="0" rIns="0" bIns="0" rtlCol="0" anchor="ctr"/>
          <a:lstStyle/>
          <a:p>
            <a:pPr indent="0" marL="0">
              <a:buNone/>
            </a:pPr>
            <a:r>
              <a:rPr lang="en-US" sz="1600" b="1" dirty="0">
                <a:solidFill>
                  <a:srgbClr val="5E86B3"/>
                </a:solidFill>
                <a:latin typeface="Calibri" pitchFamily="34" charset="0"/>
                <a:ea typeface="Calibri" pitchFamily="34" charset="-122"/>
                <a:cs typeface="Calibri" pitchFamily="34" charset="-120"/>
              </a:rPr>
              <a:t>INGESTION</a:t>
            </a:r>
            <a:endParaRPr lang="en-US" sz="1600" dirty="0"/>
          </a:p>
        </p:txBody>
      </p:sp>
      <p:sp>
        <p:nvSpPr>
          <p:cNvPr id="38" name="Shape 36"/>
          <p:cNvSpPr/>
          <p:nvPr/>
        </p:nvSpPr>
        <p:spPr>
          <a:xfrm>
            <a:off x="8138160" y="2395728"/>
            <a:ext cx="3657600" cy="621792"/>
          </a:xfrm>
          <a:prstGeom prst="roundRect">
            <a:avLst>
              <a:gd name="adj" fmla="val 8824"/>
            </a:avLst>
          </a:prstGeom>
          <a:solidFill>
            <a:srgbClr val="2F3A35"/>
          </a:solidFill>
          <a:ln/>
        </p:spPr>
      </p:sp>
      <p:sp>
        <p:nvSpPr>
          <p:cNvPr id="39" name="Text 37"/>
          <p:cNvSpPr txBox="1"/>
          <p:nvPr/>
        </p:nvSpPr>
        <p:spPr>
          <a:xfrm>
            <a:off x="8266176" y="2468880"/>
            <a:ext cx="3401568" cy="475488"/>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WRITE stations_raw.json</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MANIFEST ingestion.json</a:t>
            </a:r>
            <a:endParaRPr lang="en-US" sz="1600" dirty="0"/>
          </a:p>
        </p:txBody>
      </p:sp>
      <p:sp>
        <p:nvSpPr>
          <p:cNvPr id="40" name="Text 38"/>
          <p:cNvSpPr txBox="1"/>
          <p:nvPr/>
        </p:nvSpPr>
        <p:spPr>
          <a:xfrm>
            <a:off x="8138160" y="3108960"/>
            <a:ext cx="3657600" cy="201168"/>
          </a:xfrm>
          <a:prstGeom prst="rect">
            <a:avLst/>
          </a:prstGeom>
          <a:noFill/>
          <a:ln/>
        </p:spPr>
        <p:txBody>
          <a:bodyPr wrap="square" lIns="0" tIns="0" rIns="0" bIns="0" rtlCol="0" anchor="ctr"/>
          <a:lstStyle/>
          <a:p>
            <a:pPr indent="0" marL="0">
              <a:buNone/>
            </a:pPr>
            <a:r>
              <a:rPr lang="en-US" sz="1600" b="1" dirty="0">
                <a:solidFill>
                  <a:srgbClr val="5E86B3"/>
                </a:solidFill>
                <a:latin typeface="Calibri" pitchFamily="34" charset="0"/>
                <a:ea typeface="Calibri" pitchFamily="34" charset="-122"/>
                <a:cs typeface="Calibri" pitchFamily="34" charset="-120"/>
              </a:rPr>
              <a:t>NORMALIZATION</a:t>
            </a:r>
            <a:endParaRPr lang="en-US" sz="1600" dirty="0"/>
          </a:p>
        </p:txBody>
      </p:sp>
      <p:sp>
        <p:nvSpPr>
          <p:cNvPr id="41" name="Shape 39"/>
          <p:cNvSpPr/>
          <p:nvPr/>
        </p:nvSpPr>
        <p:spPr>
          <a:xfrm>
            <a:off x="8138160" y="3328416"/>
            <a:ext cx="3657600" cy="621792"/>
          </a:xfrm>
          <a:prstGeom prst="roundRect">
            <a:avLst>
              <a:gd name="adj" fmla="val 8824"/>
            </a:avLst>
          </a:prstGeom>
          <a:solidFill>
            <a:srgbClr val="2F3A35"/>
          </a:solidFill>
          <a:ln/>
        </p:spPr>
      </p:sp>
      <p:sp>
        <p:nvSpPr>
          <p:cNvPr id="42" name="Text 40"/>
          <p:cNvSpPr txBox="1"/>
          <p:nvPr/>
        </p:nvSpPr>
        <p:spPr>
          <a:xfrm>
            <a:off x="8266176" y="3401568"/>
            <a:ext cx="3401568" cy="475488"/>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WRITE station_metadata</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MANIFEST normalize.json</a:t>
            </a:r>
            <a:endParaRPr lang="en-US" sz="1600" dirty="0"/>
          </a:p>
        </p:txBody>
      </p:sp>
      <p:sp>
        <p:nvSpPr>
          <p:cNvPr id="43" name="Text 41"/>
          <p:cNvSpPr txBox="1"/>
          <p:nvPr/>
        </p:nvSpPr>
        <p:spPr>
          <a:xfrm>
            <a:off x="8138160" y="4041648"/>
            <a:ext cx="3657600" cy="201168"/>
          </a:xfrm>
          <a:prstGeom prst="rect">
            <a:avLst/>
          </a:prstGeom>
          <a:noFill/>
          <a:ln/>
        </p:spPr>
        <p:txBody>
          <a:bodyPr wrap="square" lIns="0" tIns="0" rIns="0" bIns="0" rtlCol="0" anchor="ctr"/>
          <a:lstStyle/>
          <a:p>
            <a:pPr indent="0" marL="0">
              <a:buNone/>
            </a:pPr>
            <a:r>
              <a:rPr lang="en-US" sz="1600" b="1" dirty="0">
                <a:solidFill>
                  <a:srgbClr val="5E86B3"/>
                </a:solidFill>
                <a:latin typeface="Calibri" pitchFamily="34" charset="0"/>
                <a:ea typeface="Calibri" pitchFamily="34" charset="-122"/>
                <a:cs typeface="Calibri" pitchFamily="34" charset="-120"/>
              </a:rPr>
              <a:t>TRANSFORMATION</a:t>
            </a:r>
            <a:endParaRPr lang="en-US" sz="1600" dirty="0"/>
          </a:p>
        </p:txBody>
      </p:sp>
      <p:sp>
        <p:nvSpPr>
          <p:cNvPr id="44" name="Shape 42"/>
          <p:cNvSpPr/>
          <p:nvPr/>
        </p:nvSpPr>
        <p:spPr>
          <a:xfrm>
            <a:off x="8138160" y="4261104"/>
            <a:ext cx="3657600" cy="621792"/>
          </a:xfrm>
          <a:prstGeom prst="roundRect">
            <a:avLst>
              <a:gd name="adj" fmla="val 8824"/>
            </a:avLst>
          </a:prstGeom>
          <a:solidFill>
            <a:srgbClr val="2F3A35"/>
          </a:solidFill>
          <a:ln/>
        </p:spPr>
      </p:sp>
      <p:sp>
        <p:nvSpPr>
          <p:cNvPr id="45" name="Text 43"/>
          <p:cNvSpPr txBox="1"/>
          <p:nvPr/>
        </p:nvSpPr>
        <p:spPr>
          <a:xfrm>
            <a:off x="8266176" y="4334256"/>
            <a:ext cx="3401568" cy="475488"/>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JOIN nuts3 boundaries</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MANIFEST transform.json</a:t>
            </a:r>
            <a:endParaRPr lang="en-US" sz="1600" dirty="0"/>
          </a:p>
        </p:txBody>
      </p:sp>
      <p:sp>
        <p:nvSpPr>
          <p:cNvPr id="46" name="Shape 44"/>
          <p:cNvSpPr/>
          <p:nvPr/>
        </p:nvSpPr>
        <p:spPr>
          <a:xfrm>
            <a:off x="8138160" y="4992624"/>
            <a:ext cx="3657600" cy="365760"/>
          </a:xfrm>
          <a:prstGeom prst="roundRect">
            <a:avLst>
              <a:gd name="adj" fmla="val 20000"/>
            </a:avLst>
          </a:prstGeom>
          <a:solidFill>
            <a:srgbClr val="E8E5DF"/>
          </a:solidFill>
          <a:ln w="9525">
            <a:solidFill>
              <a:srgbClr val="D8D3C6"/>
            </a:solidFill>
            <a:prstDash val="solid"/>
          </a:ln>
        </p:spPr>
      </p:sp>
      <p:sp>
        <p:nvSpPr>
          <p:cNvPr id="47" name="Text 45"/>
          <p:cNvSpPr txBox="1"/>
          <p:nvPr/>
        </p:nvSpPr>
        <p:spPr>
          <a:xfrm>
            <a:off x="8266176" y="5029200"/>
            <a:ext cx="3401568" cy="292608"/>
          </a:xfrm>
          <a:prstGeom prst="rect">
            <a:avLst/>
          </a:prstGeom>
          <a:noFill/>
          <a:ln/>
        </p:spPr>
        <p:txBody>
          <a:bodyPr wrap="square" lIns="0" tIns="0" rIns="0" bIns="0" rtlCol="0" anchor="t"/>
          <a:lstStyle/>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DEBE034 → Berlin → DE300</a:t>
            </a:r>
            <a:endParaRPr lang="en-US" sz="1600" dirty="0"/>
          </a:p>
        </p:txBody>
      </p:sp>
      <p:sp>
        <p:nvSpPr>
          <p:cNvPr id="48" name="Shape 46"/>
          <p:cNvSpPr/>
          <p:nvPr/>
        </p:nvSpPr>
        <p:spPr>
          <a:xfrm>
            <a:off x="365760" y="5486400"/>
            <a:ext cx="11430000" cy="310896"/>
          </a:xfrm>
          <a:prstGeom prst="roundRect">
            <a:avLst>
              <a:gd name="adj" fmla="val 23529"/>
            </a:avLst>
          </a:prstGeom>
          <a:solidFill>
            <a:srgbClr val="DDD8FF"/>
          </a:solidFill>
          <a:ln/>
        </p:spPr>
      </p:sp>
      <p:sp>
        <p:nvSpPr>
          <p:cNvPr id="49" name="Text 47"/>
          <p:cNvSpPr txBox="1"/>
          <p:nvPr/>
        </p:nvSpPr>
        <p:spPr>
          <a:xfrm>
            <a:off x="548640" y="5486400"/>
            <a:ext cx="11064240" cy="310896"/>
          </a:xfrm>
          <a:prstGeom prst="rect">
            <a:avLst/>
          </a:prstGeom>
          <a:noFill/>
          <a:ln/>
        </p:spPr>
        <p:txBody>
          <a:bodyPr wrap="square" lIns="0" tIns="0" rIns="0" bIns="0" rtlCol="0" anchor="ctr"/>
          <a:lstStyle/>
          <a:p>
            <a:pPr indent="0" marL="0">
              <a:buNone/>
            </a:pPr>
            <a:r>
              <a:rPr lang="en-US" sz="1600" b="1" dirty="0">
                <a:solidFill>
                  <a:srgbClr val="26352F"/>
                </a:solidFill>
                <a:latin typeface="Courier New" pitchFamily="34" charset="0"/>
                <a:ea typeface="Courier New" pitchFamily="34" charset="-122"/>
                <a:cs typeface="Courier New" pitchFamily="34" charset="-120"/>
              </a:rPr>
              <a:t>WriteBootstrapManifest → system/bootstrap/reference/latest.json → BootstrapSucceeded | BootstrapFailed</a:t>
            </a:r>
            <a:endParaRPr lang="en-US" sz="1600" dirty="0"/>
          </a:p>
        </p:txBody>
      </p:sp>
      <p:sp>
        <p:nvSpPr>
          <p:cNvPr id="50" name="Text 48"/>
          <p:cNvSpPr txBox="1"/>
          <p:nvPr/>
        </p:nvSpPr>
        <p:spPr>
          <a:xfrm>
            <a:off x="365760" y="5888736"/>
            <a:ext cx="3657600" cy="256032"/>
          </a:xfrm>
          <a:prstGeom prst="rect">
            <a:avLst/>
          </a:prstGeom>
          <a:noFill/>
          <a:ln/>
        </p:spPr>
        <p:txBody>
          <a:bodyPr wrap="square" lIns="0" tIns="0" rIns="0" bIns="0" rtlCol="0" anchor="ctr"/>
          <a:lstStyle/>
          <a:p>
            <a:pPr algn="ctr" indent="0" marL="0">
              <a:buNone/>
            </a:pPr>
            <a:r>
              <a:rPr lang="en-US" sz="1600" b="1" dirty="0">
                <a:solidFill>
                  <a:srgbClr val="5E86B3"/>
                </a:solidFill>
                <a:latin typeface="Calibri" pitchFamily="34" charset="0"/>
                <a:ea typeface="Calibri" pitchFamily="34" charset="-122"/>
                <a:cs typeface="Calibri" pitchFamily="34" charset="-120"/>
              </a:rPr>
              <a:t>Manual only · Rare run</a:t>
            </a:r>
            <a:endParaRPr lang="en-US" sz="1600" dirty="0"/>
          </a:p>
        </p:txBody>
      </p:sp>
      <p:sp>
        <p:nvSpPr>
          <p:cNvPr id="51" name="Text 49"/>
          <p:cNvSpPr txBox="1"/>
          <p:nvPr/>
        </p:nvSpPr>
        <p:spPr>
          <a:xfrm>
            <a:off x="4251960" y="5888736"/>
            <a:ext cx="3657600" cy="256032"/>
          </a:xfrm>
          <a:prstGeom prst="rect">
            <a:avLst/>
          </a:prstGeom>
          <a:noFill/>
          <a:ln/>
        </p:spPr>
        <p:txBody>
          <a:bodyPr wrap="square" lIns="0" tIns="0" rIns="0" bIns="0" rtlCol="0" anchor="ctr"/>
          <a:lstStyle/>
          <a:p>
            <a:pPr algn="ctr" indent="0" marL="0">
              <a:buNone/>
            </a:pPr>
            <a:r>
              <a:rPr lang="en-US" sz="1600" b="1" dirty="0">
                <a:solidFill>
                  <a:srgbClr val="5E86B3"/>
                </a:solidFill>
                <a:latin typeface="Calibri" pitchFamily="34" charset="0"/>
                <a:ea typeface="Calibri" pitchFamily="34" charset="-122"/>
                <a:cs typeface="Calibri" pitchFamily="34" charset="-120"/>
              </a:rPr>
              <a:t>Reference data, not fact data</a:t>
            </a:r>
            <a:endParaRPr lang="en-US" sz="1600" dirty="0"/>
          </a:p>
        </p:txBody>
      </p:sp>
      <p:sp>
        <p:nvSpPr>
          <p:cNvPr id="52" name="Text 50"/>
          <p:cNvSpPr txBox="1"/>
          <p:nvPr/>
        </p:nvSpPr>
        <p:spPr>
          <a:xfrm>
            <a:off x="8138160" y="5888736"/>
            <a:ext cx="3657600" cy="256032"/>
          </a:xfrm>
          <a:prstGeom prst="rect">
            <a:avLst/>
          </a:prstGeom>
          <a:noFill/>
          <a:ln/>
        </p:spPr>
        <p:txBody>
          <a:bodyPr wrap="square" lIns="0" tIns="0" rIns="0" bIns="0" rtlCol="0" anchor="ctr"/>
          <a:lstStyle/>
          <a:p>
            <a:pPr algn="ctr" indent="0" marL="0">
              <a:buNone/>
            </a:pPr>
            <a:r>
              <a:rPr lang="en-US" sz="1600" b="1" dirty="0">
                <a:solidFill>
                  <a:srgbClr val="5E86B3"/>
                </a:solidFill>
                <a:latin typeface="Calibri" pitchFamily="34" charset="0"/>
                <a:ea typeface="Calibri" pitchFamily="34" charset="-122"/>
                <a:cs typeface="Calibri" pitchFamily="34" charset="-120"/>
              </a:rPr>
              <a:t>Required before Historical + Update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6F72B8"/>
                </a:solidFill>
                <a:latin typeface="Courier New" pitchFamily="34" charset="0"/>
                <a:ea typeface="Courier New" pitchFamily="34" charset="-122"/>
                <a:cs typeface="Courier New" pitchFamily="34" charset="-120"/>
              </a:rPr>
              <a:t>08</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Historical Loads Three Sources in Parallel</a:t>
            </a:r>
            <a:endParaRPr lang="en-US" sz="3500" dirty="0"/>
          </a:p>
        </p:txBody>
      </p:sp>
      <p:sp>
        <p:nvSpPr>
          <p:cNvPr id="5" name="Shape 3"/>
          <p:cNvSpPr/>
          <p:nvPr/>
        </p:nvSpPr>
        <p:spPr>
          <a:xfrm>
            <a:off x="365760" y="1170432"/>
            <a:ext cx="11430000" cy="384048"/>
          </a:xfrm>
          <a:prstGeom prst="roundRect">
            <a:avLst>
              <a:gd name="adj" fmla="val 19048"/>
            </a:avLst>
          </a:prstGeom>
          <a:solidFill>
            <a:srgbClr val="E8E5DF"/>
          </a:solidFill>
          <a:ln w="9525">
            <a:solidFill>
              <a:srgbClr val="D8D3C6"/>
            </a:solidFill>
            <a:prstDash val="solid"/>
          </a:ln>
        </p:spPr>
      </p:sp>
      <p:sp>
        <p:nvSpPr>
          <p:cNvPr id="6" name="Text 4"/>
          <p:cNvSpPr txBox="1"/>
          <p:nvPr/>
        </p:nvSpPr>
        <p:spPr>
          <a:xfrm>
            <a:off x="548640" y="1170432"/>
            <a:ext cx="11064240" cy="384048"/>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Manual start (Actions → Run Pipeline)   </a:t>
            </a:r>
            <a:pPr indent="0" marL="0">
              <a:buNone/>
            </a:pPr>
            <a:r>
              <a:rPr lang="en-US" sz="1600" dirty="0">
                <a:solidFill>
                  <a:srgbClr val="315B4C"/>
                </a:solidFill>
                <a:latin typeface="Courier New" pitchFamily="34" charset="0"/>
                <a:ea typeface="Courier New" pitchFamily="34" charset="-122"/>
                <a:cs typeface="Courier New" pitchFamily="34" charset="-120"/>
              </a:rPr>
              <a:t>sources=eea,ted,eurostat  countries=DE,PL  from_year=2021  to_year=2025   </a:t>
            </a:r>
            <a:pPr indent="0" marL="0">
              <a:buNone/>
            </a:pPr>
            <a:r>
              <a:rPr lang="en-US" sz="1600" b="1" dirty="0">
                <a:solidFill>
                  <a:srgbClr val="26352F"/>
                </a:solidFill>
                <a:latin typeface="Calibri" pitchFamily="34" charset="0"/>
                <a:ea typeface="Calibri" pitchFamily="34" charset="-122"/>
                <a:cs typeface="Calibri" pitchFamily="34" charset="-120"/>
              </a:rPr>
              <a:t>→ CheckBootstrapComplete → run_id → RunSources</a:t>
            </a:r>
            <a:endParaRPr lang="en-US" sz="1600" dirty="0"/>
          </a:p>
        </p:txBody>
      </p:sp>
      <p:sp>
        <p:nvSpPr>
          <p:cNvPr id="7" name="Shape 5"/>
          <p:cNvSpPr/>
          <p:nvPr/>
        </p:nvSpPr>
        <p:spPr>
          <a:xfrm>
            <a:off x="365760" y="1682496"/>
            <a:ext cx="3657600" cy="329184"/>
          </a:xfrm>
          <a:prstGeom prst="roundRect">
            <a:avLst>
              <a:gd name="adj" fmla="val 22222"/>
            </a:avLst>
          </a:prstGeom>
          <a:solidFill>
            <a:srgbClr val="CFE8FF"/>
          </a:solidFill>
          <a:ln/>
        </p:spPr>
      </p:sp>
      <p:sp>
        <p:nvSpPr>
          <p:cNvPr id="8" name="Text 6"/>
          <p:cNvSpPr txBox="1"/>
          <p:nvPr/>
        </p:nvSpPr>
        <p:spPr>
          <a:xfrm>
            <a:off x="493776" y="1682496"/>
            <a:ext cx="1243584" cy="329184"/>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EEA</a:t>
            </a:r>
            <a:endParaRPr lang="en-US" sz="1700" dirty="0"/>
          </a:p>
        </p:txBody>
      </p:sp>
      <p:sp>
        <p:nvSpPr>
          <p:cNvPr id="9" name="Text 7"/>
          <p:cNvSpPr txBox="1"/>
          <p:nvPr/>
        </p:nvSpPr>
        <p:spPr>
          <a:xfrm>
            <a:off x="1463040" y="1682496"/>
            <a:ext cx="2487168" cy="329184"/>
          </a:xfrm>
          <a:prstGeom prst="rect">
            <a:avLst/>
          </a:prstGeom>
          <a:noFill/>
          <a:ln/>
        </p:spPr>
        <p:txBody>
          <a:bodyPr wrap="square" lIns="0" tIns="0" rIns="0" bIns="0" rtlCol="0" anchor="ctr"/>
          <a:lstStyle/>
          <a:p>
            <a:pPr algn="r" indent="0" marL="0">
              <a:buNone/>
            </a:pPr>
            <a:r>
              <a:rPr lang="en-US" sz="1600" dirty="0">
                <a:solidFill>
                  <a:srgbClr val="3F4E47"/>
                </a:solidFill>
                <a:latin typeface="Courier New" pitchFamily="34" charset="0"/>
                <a:ea typeface="Courier New" pitchFamily="34" charset="-122"/>
                <a:cs typeface="Courier New" pitchFamily="34" charset="-120"/>
              </a:rPr>
              <a:t>measurements.py</a:t>
            </a:r>
            <a:endParaRPr lang="en-US" sz="1600" dirty="0"/>
          </a:p>
        </p:txBody>
      </p:sp>
      <p:sp>
        <p:nvSpPr>
          <p:cNvPr id="10" name="Text 8"/>
          <p:cNvSpPr txBox="1"/>
          <p:nvPr/>
        </p:nvSpPr>
        <p:spPr>
          <a:xfrm>
            <a:off x="365760" y="2084832"/>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INGESTION</a:t>
            </a:r>
            <a:endParaRPr lang="en-US" sz="1600" dirty="0"/>
          </a:p>
        </p:txBody>
      </p:sp>
      <p:sp>
        <p:nvSpPr>
          <p:cNvPr id="11" name="Shape 9"/>
          <p:cNvSpPr/>
          <p:nvPr/>
        </p:nvSpPr>
        <p:spPr>
          <a:xfrm>
            <a:off x="365760" y="2304288"/>
            <a:ext cx="3657600" cy="566928"/>
          </a:xfrm>
          <a:prstGeom prst="roundRect">
            <a:avLst>
              <a:gd name="adj" fmla="val 9677"/>
            </a:avLst>
          </a:prstGeom>
          <a:solidFill>
            <a:srgbClr val="2F3A35"/>
          </a:solidFill>
          <a:ln/>
        </p:spPr>
      </p:sp>
      <p:sp>
        <p:nvSpPr>
          <p:cNvPr id="12" name="Text 10"/>
          <p:cNvSpPr txBox="1"/>
          <p:nvPr/>
        </p:nvSpPr>
        <p:spPr>
          <a:xfrm>
            <a:off x="475488" y="2340864"/>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WRITE raw/*.parquet</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MANIFEST ingestion.json</a:t>
            </a:r>
            <a:endParaRPr lang="en-US" sz="1600" dirty="0"/>
          </a:p>
        </p:txBody>
      </p:sp>
      <p:sp>
        <p:nvSpPr>
          <p:cNvPr id="13" name="Text 11"/>
          <p:cNvSpPr txBox="1"/>
          <p:nvPr/>
        </p:nvSpPr>
        <p:spPr>
          <a:xfrm>
            <a:off x="365760" y="2926080"/>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NORMALIZATION</a:t>
            </a:r>
            <a:endParaRPr lang="en-US" sz="1600" dirty="0"/>
          </a:p>
        </p:txBody>
      </p:sp>
      <p:sp>
        <p:nvSpPr>
          <p:cNvPr id="14" name="Shape 12"/>
          <p:cNvSpPr/>
          <p:nvPr/>
        </p:nvSpPr>
        <p:spPr>
          <a:xfrm>
            <a:off x="365760" y="3145536"/>
            <a:ext cx="3657600" cy="566928"/>
          </a:xfrm>
          <a:prstGeom prst="roundRect">
            <a:avLst>
              <a:gd name="adj" fmla="val 9677"/>
            </a:avLst>
          </a:prstGeom>
          <a:solidFill>
            <a:srgbClr val="2F3A35"/>
          </a:solidFill>
          <a:ln/>
        </p:spPr>
      </p:sp>
      <p:sp>
        <p:nvSpPr>
          <p:cNvPr id="15" name="Text 13"/>
          <p:cNvSpPr txBox="1"/>
          <p:nvPr/>
        </p:nvSpPr>
        <p:spPr>
          <a:xfrm>
            <a:off x="475488" y="3182112"/>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WRITE normalized/*.parquet</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MANIFEST normalization.json</a:t>
            </a:r>
            <a:endParaRPr lang="en-US" sz="1600" dirty="0"/>
          </a:p>
        </p:txBody>
      </p:sp>
      <p:sp>
        <p:nvSpPr>
          <p:cNvPr id="16" name="Text 14"/>
          <p:cNvSpPr txBox="1"/>
          <p:nvPr/>
        </p:nvSpPr>
        <p:spPr>
          <a:xfrm>
            <a:off x="365760" y="3767328"/>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TRANSFORMATION — +NUTS1–3</a:t>
            </a:r>
            <a:endParaRPr lang="en-US" sz="1600" dirty="0"/>
          </a:p>
        </p:txBody>
      </p:sp>
      <p:sp>
        <p:nvSpPr>
          <p:cNvPr id="17" name="Shape 15"/>
          <p:cNvSpPr/>
          <p:nvPr/>
        </p:nvSpPr>
        <p:spPr>
          <a:xfrm>
            <a:off x="365760" y="3986784"/>
            <a:ext cx="3657600" cy="566928"/>
          </a:xfrm>
          <a:prstGeom prst="roundRect">
            <a:avLst>
              <a:gd name="adj" fmla="val 9677"/>
            </a:avLst>
          </a:prstGeom>
          <a:solidFill>
            <a:srgbClr val="2F3A35"/>
          </a:solidFill>
          <a:ln/>
        </p:spPr>
      </p:sp>
      <p:sp>
        <p:nvSpPr>
          <p:cNvPr id="18" name="Text 16"/>
          <p:cNvSpPr txBox="1"/>
          <p:nvPr/>
        </p:nvSpPr>
        <p:spPr>
          <a:xfrm>
            <a:off x="475488" y="4023360"/>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WRITE transformed/*.parquet</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MANIFEST transformation.json</a:t>
            </a:r>
            <a:endParaRPr lang="en-US" sz="1600" dirty="0"/>
          </a:p>
        </p:txBody>
      </p:sp>
      <p:sp>
        <p:nvSpPr>
          <p:cNvPr id="19" name="Text 17"/>
          <p:cNvSpPr txBox="1"/>
          <p:nvPr/>
        </p:nvSpPr>
        <p:spPr>
          <a:xfrm>
            <a:off x="365760" y="4608576"/>
            <a:ext cx="3657600" cy="201168"/>
          </a:xfrm>
          <a:prstGeom prst="rect">
            <a:avLst/>
          </a:prstGeom>
          <a:noFill/>
          <a:ln/>
        </p:spPr>
        <p:txBody>
          <a:bodyPr wrap="square" lIns="0" tIns="0" rIns="0" bIns="0" rtlCol="0" anchor="ctr"/>
          <a:lstStyle/>
          <a:p>
            <a:pPr indent="0" marL="0">
              <a:buNone/>
            </a:pPr>
            <a:r>
              <a:rPr lang="en-US" sz="1600" b="1" dirty="0">
                <a:solidFill>
                  <a:srgbClr val="F5D46F"/>
                </a:solidFill>
                <a:latin typeface="Calibri" pitchFamily="34" charset="0"/>
                <a:ea typeface="Calibri" pitchFamily="34" charset="-122"/>
                <a:cs typeface="Calibri" pitchFamily="34" charset="-120"/>
              </a:rPr>
              <a:t>GOLD  --discover</a:t>
            </a:r>
            <a:endParaRPr lang="en-US" sz="1600" dirty="0"/>
          </a:p>
        </p:txBody>
      </p:sp>
      <p:sp>
        <p:nvSpPr>
          <p:cNvPr id="20" name="Shape 18"/>
          <p:cNvSpPr/>
          <p:nvPr/>
        </p:nvSpPr>
        <p:spPr>
          <a:xfrm>
            <a:off x="365760" y="4828032"/>
            <a:ext cx="3657600" cy="566928"/>
          </a:xfrm>
          <a:prstGeom prst="roundRect">
            <a:avLst>
              <a:gd name="adj" fmla="val 9677"/>
            </a:avLst>
          </a:prstGeom>
          <a:solidFill>
            <a:srgbClr val="2F3A35"/>
          </a:solidFill>
          <a:ln/>
        </p:spPr>
      </p:sp>
      <p:sp>
        <p:nvSpPr>
          <p:cNvPr id="21" name="Text 19"/>
          <p:cNvSpPr txBox="1"/>
          <p:nvPr/>
        </p:nvSpPr>
        <p:spPr>
          <a:xfrm>
            <a:off x="475488" y="4864608"/>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WRITE measurements.parquet</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MANIFEST gold.json</a:t>
            </a:r>
            <a:endParaRPr lang="en-US" sz="1600" dirty="0"/>
          </a:p>
        </p:txBody>
      </p:sp>
      <p:sp>
        <p:nvSpPr>
          <p:cNvPr id="22" name="Text 20"/>
          <p:cNvSpPr txBox="1"/>
          <p:nvPr/>
        </p:nvSpPr>
        <p:spPr>
          <a:xfrm>
            <a:off x="365760" y="5468112"/>
            <a:ext cx="3657600" cy="219456"/>
          </a:xfrm>
          <a:prstGeom prst="rect">
            <a:avLst/>
          </a:prstGeom>
          <a:noFill/>
          <a:ln/>
        </p:spPr>
        <p:txBody>
          <a:bodyPr wrap="square" lIns="0" tIns="0" rIns="0" bIns="0" rtlCol="0" anchor="ctr"/>
          <a:lstStyle/>
          <a:p>
            <a:pPr indent="0" marL="0">
              <a:buNone/>
            </a:pPr>
            <a:r>
              <a:rPr lang="en-US" sz="1600" dirty="0">
                <a:solidFill>
                  <a:srgbClr val="26352F"/>
                </a:solidFill>
                <a:latin typeface="Courier New" pitchFamily="34" charset="0"/>
                <a:ea typeface="Courier New" pitchFamily="34" charset="-122"/>
                <a:cs typeface="Courier New" pitchFamily="34" charset="-120"/>
              </a:rPr>
              <a:t>DEBE034·PM10·18.4 → Berlin·DE300</a:t>
            </a:r>
            <a:endParaRPr lang="en-US" sz="1600" dirty="0"/>
          </a:p>
        </p:txBody>
      </p:sp>
      <p:sp>
        <p:nvSpPr>
          <p:cNvPr id="23" name="Shape 21"/>
          <p:cNvSpPr/>
          <p:nvPr/>
        </p:nvSpPr>
        <p:spPr>
          <a:xfrm>
            <a:off x="4251960" y="1682496"/>
            <a:ext cx="3657600" cy="329184"/>
          </a:xfrm>
          <a:prstGeom prst="roundRect">
            <a:avLst>
              <a:gd name="adj" fmla="val 22222"/>
            </a:avLst>
          </a:prstGeom>
          <a:solidFill>
            <a:srgbClr val="FFF0B8"/>
          </a:solidFill>
          <a:ln/>
        </p:spPr>
      </p:sp>
      <p:sp>
        <p:nvSpPr>
          <p:cNvPr id="24" name="Text 22"/>
          <p:cNvSpPr txBox="1"/>
          <p:nvPr/>
        </p:nvSpPr>
        <p:spPr>
          <a:xfrm>
            <a:off x="4379976" y="1682496"/>
            <a:ext cx="1243584" cy="329184"/>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TED</a:t>
            </a:r>
            <a:endParaRPr lang="en-US" sz="1700" dirty="0"/>
          </a:p>
        </p:txBody>
      </p:sp>
      <p:sp>
        <p:nvSpPr>
          <p:cNvPr id="25" name="Text 23"/>
          <p:cNvSpPr txBox="1"/>
          <p:nvPr/>
        </p:nvSpPr>
        <p:spPr>
          <a:xfrm>
            <a:off x="5349240" y="1682496"/>
            <a:ext cx="2487168" cy="329184"/>
          </a:xfrm>
          <a:prstGeom prst="rect">
            <a:avLst/>
          </a:prstGeom>
          <a:noFill/>
          <a:ln/>
        </p:spPr>
        <p:txBody>
          <a:bodyPr wrap="square" lIns="0" tIns="0" rIns="0" bIns="0" rtlCol="0" anchor="ctr"/>
          <a:lstStyle/>
          <a:p>
            <a:pPr algn="r" indent="0" marL="0">
              <a:buNone/>
            </a:pPr>
            <a:r>
              <a:rPr lang="en-US" sz="1600" dirty="0">
                <a:solidFill>
                  <a:srgbClr val="3F4E47"/>
                </a:solidFill>
                <a:latin typeface="Courier New" pitchFamily="34" charset="0"/>
                <a:ea typeface="Courier New" pitchFamily="34" charset="-122"/>
                <a:cs typeface="Courier New" pitchFamily="34" charset="-120"/>
              </a:rPr>
              <a:t>notices.py</a:t>
            </a:r>
            <a:endParaRPr lang="en-US" sz="1600" dirty="0"/>
          </a:p>
        </p:txBody>
      </p:sp>
      <p:sp>
        <p:nvSpPr>
          <p:cNvPr id="26" name="Text 24"/>
          <p:cNvSpPr txBox="1"/>
          <p:nvPr/>
        </p:nvSpPr>
        <p:spPr>
          <a:xfrm>
            <a:off x="4251960" y="2084832"/>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INGESTION — pagination</a:t>
            </a:r>
            <a:endParaRPr lang="en-US" sz="1600" dirty="0"/>
          </a:p>
        </p:txBody>
      </p:sp>
      <p:sp>
        <p:nvSpPr>
          <p:cNvPr id="27" name="Shape 25"/>
          <p:cNvSpPr/>
          <p:nvPr/>
        </p:nvSpPr>
        <p:spPr>
          <a:xfrm>
            <a:off x="4251960" y="2304288"/>
            <a:ext cx="3657600" cy="566928"/>
          </a:xfrm>
          <a:prstGeom prst="roundRect">
            <a:avLst>
              <a:gd name="adj" fmla="val 9677"/>
            </a:avLst>
          </a:prstGeom>
          <a:solidFill>
            <a:srgbClr val="2F3A35"/>
          </a:solidFill>
          <a:ln/>
        </p:spPr>
      </p:sp>
      <p:sp>
        <p:nvSpPr>
          <p:cNvPr id="28" name="Text 26"/>
          <p:cNvSpPr txBox="1"/>
          <p:nvPr/>
        </p:nvSpPr>
        <p:spPr>
          <a:xfrm>
            <a:off x="4361688" y="2340864"/>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WRITE notices.jsonl</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MANIFEST ingestion.json</a:t>
            </a:r>
            <a:endParaRPr lang="en-US" sz="1600" dirty="0"/>
          </a:p>
        </p:txBody>
      </p:sp>
      <p:sp>
        <p:nvSpPr>
          <p:cNvPr id="29" name="Text 27"/>
          <p:cNvSpPr txBox="1"/>
          <p:nvPr/>
        </p:nvSpPr>
        <p:spPr>
          <a:xfrm>
            <a:off x="4251960" y="2926080"/>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NORMALIZATION</a:t>
            </a:r>
            <a:endParaRPr lang="en-US" sz="1600" dirty="0"/>
          </a:p>
        </p:txBody>
      </p:sp>
      <p:sp>
        <p:nvSpPr>
          <p:cNvPr id="30" name="Shape 28"/>
          <p:cNvSpPr/>
          <p:nvPr/>
        </p:nvSpPr>
        <p:spPr>
          <a:xfrm>
            <a:off x="4251960" y="3145536"/>
            <a:ext cx="3657600" cy="566928"/>
          </a:xfrm>
          <a:prstGeom prst="roundRect">
            <a:avLst>
              <a:gd name="adj" fmla="val 9677"/>
            </a:avLst>
          </a:prstGeom>
          <a:solidFill>
            <a:srgbClr val="2F3A35"/>
          </a:solidFill>
          <a:ln/>
        </p:spPr>
      </p:sp>
      <p:sp>
        <p:nvSpPr>
          <p:cNvPr id="31" name="Text 29"/>
          <p:cNvSpPr txBox="1"/>
          <p:nvPr/>
        </p:nvSpPr>
        <p:spPr>
          <a:xfrm>
            <a:off x="4361688" y="3182112"/>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WRITE notices.parquet</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MANIFEST normalization.json</a:t>
            </a:r>
            <a:endParaRPr lang="en-US" sz="1600" dirty="0"/>
          </a:p>
        </p:txBody>
      </p:sp>
      <p:sp>
        <p:nvSpPr>
          <p:cNvPr id="32" name="Text 30"/>
          <p:cNvSpPr txBox="1"/>
          <p:nvPr/>
        </p:nvSpPr>
        <p:spPr>
          <a:xfrm>
            <a:off x="4251960" y="3767328"/>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TRANSFORMATION — +labels</a:t>
            </a:r>
            <a:endParaRPr lang="en-US" sz="1600" dirty="0"/>
          </a:p>
        </p:txBody>
      </p:sp>
      <p:sp>
        <p:nvSpPr>
          <p:cNvPr id="33" name="Shape 31"/>
          <p:cNvSpPr/>
          <p:nvPr/>
        </p:nvSpPr>
        <p:spPr>
          <a:xfrm>
            <a:off x="4251960" y="3986784"/>
            <a:ext cx="3657600" cy="566928"/>
          </a:xfrm>
          <a:prstGeom prst="roundRect">
            <a:avLst>
              <a:gd name="adj" fmla="val 9677"/>
            </a:avLst>
          </a:prstGeom>
          <a:solidFill>
            <a:srgbClr val="2F3A35"/>
          </a:solidFill>
          <a:ln/>
        </p:spPr>
      </p:sp>
      <p:sp>
        <p:nvSpPr>
          <p:cNvPr id="34" name="Text 32"/>
          <p:cNvSpPr txBox="1"/>
          <p:nvPr/>
        </p:nvSpPr>
        <p:spPr>
          <a:xfrm>
            <a:off x="4361688" y="4023360"/>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WRITE notices.parquet</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MANIFEST transformation.json</a:t>
            </a:r>
            <a:endParaRPr lang="en-US" sz="1600" dirty="0"/>
          </a:p>
        </p:txBody>
      </p:sp>
      <p:sp>
        <p:nvSpPr>
          <p:cNvPr id="35" name="Text 33"/>
          <p:cNvSpPr txBox="1"/>
          <p:nvPr/>
        </p:nvSpPr>
        <p:spPr>
          <a:xfrm>
            <a:off x="4251960" y="4608576"/>
            <a:ext cx="3657600" cy="201168"/>
          </a:xfrm>
          <a:prstGeom prst="rect">
            <a:avLst/>
          </a:prstGeom>
          <a:noFill/>
          <a:ln/>
        </p:spPr>
        <p:txBody>
          <a:bodyPr wrap="square" lIns="0" tIns="0" rIns="0" bIns="0" rtlCol="0" anchor="ctr"/>
          <a:lstStyle/>
          <a:p>
            <a:pPr indent="0" marL="0">
              <a:buNone/>
            </a:pPr>
            <a:r>
              <a:rPr lang="en-US" sz="1600" b="1" dirty="0">
                <a:solidFill>
                  <a:srgbClr val="F5D46F"/>
                </a:solidFill>
                <a:latin typeface="Calibri" pitchFamily="34" charset="0"/>
                <a:ea typeface="Calibri" pitchFamily="34" charset="-122"/>
                <a:cs typeface="Calibri" pitchFamily="34" charset="-120"/>
              </a:rPr>
              <a:t>GOLD  --discover</a:t>
            </a:r>
            <a:endParaRPr lang="en-US" sz="1600" dirty="0"/>
          </a:p>
        </p:txBody>
      </p:sp>
      <p:sp>
        <p:nvSpPr>
          <p:cNvPr id="36" name="Shape 34"/>
          <p:cNvSpPr/>
          <p:nvPr/>
        </p:nvSpPr>
        <p:spPr>
          <a:xfrm>
            <a:off x="4251960" y="4828032"/>
            <a:ext cx="3657600" cy="566928"/>
          </a:xfrm>
          <a:prstGeom prst="roundRect">
            <a:avLst>
              <a:gd name="adj" fmla="val 9677"/>
            </a:avLst>
          </a:prstGeom>
          <a:solidFill>
            <a:srgbClr val="2F3A35"/>
          </a:solidFill>
          <a:ln/>
        </p:spPr>
      </p:sp>
      <p:sp>
        <p:nvSpPr>
          <p:cNvPr id="37" name="Text 35"/>
          <p:cNvSpPr txBox="1"/>
          <p:nvPr/>
        </p:nvSpPr>
        <p:spPr>
          <a:xfrm>
            <a:off x="4361688" y="4864608"/>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WRITE notices.parquet</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MANIFEST gold.json</a:t>
            </a:r>
            <a:endParaRPr lang="en-US" sz="1600" dirty="0"/>
          </a:p>
        </p:txBody>
      </p:sp>
      <p:sp>
        <p:nvSpPr>
          <p:cNvPr id="38" name="Text 36"/>
          <p:cNvSpPr txBox="1"/>
          <p:nvPr/>
        </p:nvSpPr>
        <p:spPr>
          <a:xfrm>
            <a:off x="4251960" y="5468112"/>
            <a:ext cx="3657600" cy="219456"/>
          </a:xfrm>
          <a:prstGeom prst="rect">
            <a:avLst/>
          </a:prstGeom>
          <a:noFill/>
          <a:ln/>
        </p:spPr>
        <p:txBody>
          <a:bodyPr wrap="square" lIns="0" tIns="0" rIns="0" bIns="0" rtlCol="0" anchor="ctr"/>
          <a:lstStyle/>
          <a:p>
            <a:pPr indent="0" marL="0">
              <a:buNone/>
            </a:pPr>
            <a:r>
              <a:rPr lang="en-US" sz="1600" dirty="0">
                <a:solidFill>
                  <a:srgbClr val="26352F"/>
                </a:solidFill>
                <a:latin typeface="Courier New" pitchFamily="34" charset="0"/>
                <a:ea typeface="Courier New" pitchFamily="34" charset="-122"/>
                <a:cs typeface="Courier New" pitchFamily="34" charset="-120"/>
              </a:rPr>
              <a:t>123456-2025 → Berlin·Euro</a:t>
            </a:r>
            <a:endParaRPr lang="en-US" sz="1600" dirty="0"/>
          </a:p>
        </p:txBody>
      </p:sp>
      <p:sp>
        <p:nvSpPr>
          <p:cNvPr id="39" name="Shape 37"/>
          <p:cNvSpPr/>
          <p:nvPr/>
        </p:nvSpPr>
        <p:spPr>
          <a:xfrm>
            <a:off x="8138160" y="1682496"/>
            <a:ext cx="3657600" cy="329184"/>
          </a:xfrm>
          <a:prstGeom prst="roundRect">
            <a:avLst>
              <a:gd name="adj" fmla="val 22222"/>
            </a:avLst>
          </a:prstGeom>
          <a:solidFill>
            <a:srgbClr val="D7F4DE"/>
          </a:solidFill>
          <a:ln/>
        </p:spPr>
      </p:sp>
      <p:sp>
        <p:nvSpPr>
          <p:cNvPr id="40" name="Text 38"/>
          <p:cNvSpPr txBox="1"/>
          <p:nvPr/>
        </p:nvSpPr>
        <p:spPr>
          <a:xfrm>
            <a:off x="8266176" y="1682496"/>
            <a:ext cx="1243584" cy="329184"/>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Eurostat</a:t>
            </a:r>
            <a:endParaRPr lang="en-US" sz="1700" dirty="0"/>
          </a:p>
        </p:txBody>
      </p:sp>
      <p:sp>
        <p:nvSpPr>
          <p:cNvPr id="41" name="Text 39"/>
          <p:cNvSpPr txBox="1"/>
          <p:nvPr/>
        </p:nvSpPr>
        <p:spPr>
          <a:xfrm>
            <a:off x="9235440" y="1682496"/>
            <a:ext cx="2487168" cy="329184"/>
          </a:xfrm>
          <a:prstGeom prst="rect">
            <a:avLst/>
          </a:prstGeom>
          <a:noFill/>
          <a:ln/>
        </p:spPr>
        <p:txBody>
          <a:bodyPr wrap="square" lIns="0" tIns="0" rIns="0" bIns="0" rtlCol="0" anchor="ctr"/>
          <a:lstStyle/>
          <a:p>
            <a:pPr algn="r" indent="0" marL="0">
              <a:buNone/>
            </a:pPr>
            <a:r>
              <a:rPr lang="en-US" sz="1600" dirty="0">
                <a:solidFill>
                  <a:srgbClr val="3F4E47"/>
                </a:solidFill>
                <a:latin typeface="Courier New" pitchFamily="34" charset="0"/>
                <a:ea typeface="Courier New" pitchFamily="34" charset="-122"/>
                <a:cs typeface="Courier New" pitchFamily="34" charset="-120"/>
              </a:rPr>
              <a:t>agri_accounts.py</a:t>
            </a:r>
            <a:endParaRPr lang="en-US" sz="1600" dirty="0"/>
          </a:p>
        </p:txBody>
      </p:sp>
      <p:sp>
        <p:nvSpPr>
          <p:cNvPr id="42" name="Text 40"/>
          <p:cNvSpPr txBox="1"/>
          <p:nvPr/>
        </p:nvSpPr>
        <p:spPr>
          <a:xfrm>
            <a:off x="8138160" y="2084832"/>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INGESTION</a:t>
            </a:r>
            <a:endParaRPr lang="en-US" sz="1600" dirty="0"/>
          </a:p>
        </p:txBody>
      </p:sp>
      <p:sp>
        <p:nvSpPr>
          <p:cNvPr id="43" name="Shape 41"/>
          <p:cNvSpPr/>
          <p:nvPr/>
        </p:nvSpPr>
        <p:spPr>
          <a:xfrm>
            <a:off x="8138160" y="2304288"/>
            <a:ext cx="3657600" cy="566928"/>
          </a:xfrm>
          <a:prstGeom prst="roundRect">
            <a:avLst>
              <a:gd name="adj" fmla="val 9677"/>
            </a:avLst>
          </a:prstGeom>
          <a:solidFill>
            <a:srgbClr val="2F3A35"/>
          </a:solidFill>
          <a:ln/>
        </p:spPr>
      </p:sp>
      <p:sp>
        <p:nvSpPr>
          <p:cNvPr id="44" name="Text 42"/>
          <p:cNvSpPr txBox="1"/>
          <p:nvPr/>
        </p:nvSpPr>
        <p:spPr>
          <a:xfrm>
            <a:off x="8247888" y="2340864"/>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WRITE aact_eaa01_r.json</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MANIFEST ingestion.json</a:t>
            </a:r>
            <a:endParaRPr lang="en-US" sz="1600" dirty="0"/>
          </a:p>
        </p:txBody>
      </p:sp>
      <p:sp>
        <p:nvSpPr>
          <p:cNvPr id="45" name="Text 43"/>
          <p:cNvSpPr txBox="1"/>
          <p:nvPr/>
        </p:nvSpPr>
        <p:spPr>
          <a:xfrm>
            <a:off x="8138160" y="2926080"/>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NORMALIZATION — cube→rows</a:t>
            </a:r>
            <a:endParaRPr lang="en-US" sz="1600" dirty="0"/>
          </a:p>
        </p:txBody>
      </p:sp>
      <p:sp>
        <p:nvSpPr>
          <p:cNvPr id="46" name="Shape 44"/>
          <p:cNvSpPr/>
          <p:nvPr/>
        </p:nvSpPr>
        <p:spPr>
          <a:xfrm>
            <a:off x="8138160" y="3145536"/>
            <a:ext cx="3657600" cy="566928"/>
          </a:xfrm>
          <a:prstGeom prst="roundRect">
            <a:avLst>
              <a:gd name="adj" fmla="val 9677"/>
            </a:avLst>
          </a:prstGeom>
          <a:solidFill>
            <a:srgbClr val="2F3A35"/>
          </a:solidFill>
          <a:ln/>
        </p:spPr>
      </p:sp>
      <p:sp>
        <p:nvSpPr>
          <p:cNvPr id="47" name="Text 45"/>
          <p:cNvSpPr txBox="1"/>
          <p:nvPr/>
        </p:nvSpPr>
        <p:spPr>
          <a:xfrm>
            <a:off x="8247888" y="3182112"/>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WRITE aact_eaa01_r.parquet</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MANIFEST normalization.json</a:t>
            </a:r>
            <a:endParaRPr lang="en-US" sz="1600" dirty="0"/>
          </a:p>
        </p:txBody>
      </p:sp>
      <p:sp>
        <p:nvSpPr>
          <p:cNvPr id="48" name="Shape 46"/>
          <p:cNvSpPr/>
          <p:nvPr/>
        </p:nvSpPr>
        <p:spPr>
          <a:xfrm>
            <a:off x="8138160" y="3767328"/>
            <a:ext cx="3657600" cy="329184"/>
          </a:xfrm>
          <a:prstGeom prst="roundRect">
            <a:avLst>
              <a:gd name="adj" fmla="val 22222"/>
            </a:avLst>
          </a:prstGeom>
          <a:solidFill>
            <a:srgbClr val="F7F4EC"/>
          </a:solidFill>
          <a:ln w="12700">
            <a:solidFill>
              <a:srgbClr val="315B4C"/>
            </a:solidFill>
            <a:prstDash val="dash"/>
          </a:ln>
        </p:spPr>
      </p:sp>
      <p:sp>
        <p:nvSpPr>
          <p:cNvPr id="49" name="Text 47"/>
          <p:cNvSpPr txBox="1"/>
          <p:nvPr/>
        </p:nvSpPr>
        <p:spPr>
          <a:xfrm>
            <a:off x="8138160" y="3767328"/>
            <a:ext cx="3657600" cy="329184"/>
          </a:xfrm>
          <a:prstGeom prst="rect">
            <a:avLst/>
          </a:prstGeom>
          <a:noFill/>
          <a:ln/>
        </p:spPr>
        <p:txBody>
          <a:bodyPr wrap="square" lIns="0" tIns="0" rIns="0" bIns="0" rtlCol="0" anchor="ctr"/>
          <a:lstStyle/>
          <a:p>
            <a:pPr algn="ctr" indent="0" marL="0">
              <a:buNone/>
            </a:pPr>
            <a:r>
              <a:rPr lang="en-US" sz="1600" i="1" dirty="0">
                <a:solidFill>
                  <a:srgbClr val="56655D"/>
                </a:solidFill>
                <a:latin typeface="Calibri" pitchFamily="34" charset="0"/>
                <a:ea typeface="Calibri" pitchFamily="34" charset="-122"/>
                <a:cs typeface="Calibri" pitchFamily="34" charset="-120"/>
              </a:rPr>
              <a:t>NO TRANSFORMATION STAGE</a:t>
            </a:r>
            <a:endParaRPr lang="en-US" sz="1600" dirty="0"/>
          </a:p>
        </p:txBody>
      </p:sp>
      <p:sp>
        <p:nvSpPr>
          <p:cNvPr id="50" name="Text 48"/>
          <p:cNvSpPr txBox="1"/>
          <p:nvPr/>
        </p:nvSpPr>
        <p:spPr>
          <a:xfrm>
            <a:off x="8138160" y="4151376"/>
            <a:ext cx="3657600" cy="201168"/>
          </a:xfrm>
          <a:prstGeom prst="rect">
            <a:avLst/>
          </a:prstGeom>
          <a:noFill/>
          <a:ln/>
        </p:spPr>
        <p:txBody>
          <a:bodyPr wrap="square" lIns="0" tIns="0" rIns="0" bIns="0" rtlCol="0" anchor="ctr"/>
          <a:lstStyle/>
          <a:p>
            <a:pPr indent="0" marL="0">
              <a:buNone/>
            </a:pPr>
            <a:r>
              <a:rPr lang="en-US" sz="1600" b="1" dirty="0">
                <a:solidFill>
                  <a:srgbClr val="F5D46F"/>
                </a:solidFill>
                <a:latin typeface="Calibri" pitchFamily="34" charset="0"/>
                <a:ea typeface="Calibri" pitchFamily="34" charset="-122"/>
                <a:cs typeface="Calibri" pitchFamily="34" charset="-120"/>
              </a:rPr>
              <a:t>GOLD  --discover</a:t>
            </a:r>
            <a:endParaRPr lang="en-US" sz="1600" dirty="0"/>
          </a:p>
        </p:txBody>
      </p:sp>
      <p:sp>
        <p:nvSpPr>
          <p:cNvPr id="51" name="Shape 49"/>
          <p:cNvSpPr/>
          <p:nvPr/>
        </p:nvSpPr>
        <p:spPr>
          <a:xfrm>
            <a:off x="8138160" y="4370832"/>
            <a:ext cx="3657600" cy="566928"/>
          </a:xfrm>
          <a:prstGeom prst="roundRect">
            <a:avLst>
              <a:gd name="adj" fmla="val 9677"/>
            </a:avLst>
          </a:prstGeom>
          <a:solidFill>
            <a:srgbClr val="2F3A35"/>
          </a:solidFill>
          <a:ln/>
        </p:spPr>
      </p:sp>
      <p:sp>
        <p:nvSpPr>
          <p:cNvPr id="52" name="Text 50"/>
          <p:cNvSpPr txBox="1"/>
          <p:nvPr/>
        </p:nvSpPr>
        <p:spPr>
          <a:xfrm>
            <a:off x="8247888" y="4407408"/>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WRITE agri_accounts.parquet</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MANIFEST gold.json</a:t>
            </a:r>
            <a:endParaRPr lang="en-US" sz="1600" dirty="0"/>
          </a:p>
        </p:txBody>
      </p:sp>
      <p:sp>
        <p:nvSpPr>
          <p:cNvPr id="53" name="Text 51"/>
          <p:cNvSpPr txBox="1"/>
          <p:nvPr/>
        </p:nvSpPr>
        <p:spPr>
          <a:xfrm>
            <a:off x="8138160" y="5010912"/>
            <a:ext cx="3657600" cy="219456"/>
          </a:xfrm>
          <a:prstGeom prst="rect">
            <a:avLst/>
          </a:prstGeom>
          <a:noFill/>
          <a:ln/>
        </p:spPr>
        <p:txBody>
          <a:bodyPr wrap="square" lIns="0" tIns="0" rIns="0" bIns="0" rtlCol="0" anchor="ctr"/>
          <a:lstStyle/>
          <a:p>
            <a:pPr indent="0" marL="0">
              <a:buNone/>
            </a:pPr>
            <a:r>
              <a:rPr lang="en-US" sz="1600" dirty="0">
                <a:solidFill>
                  <a:srgbClr val="26352F"/>
                </a:solidFill>
                <a:latin typeface="Courier New" pitchFamily="34" charset="0"/>
                <a:ea typeface="Courier New" pitchFamily="34" charset="-122"/>
                <a:cs typeface="Courier New" pitchFamily="34" charset="-120"/>
              </a:rPr>
              <a:t>273.94 → DE11·2023·Cereals</a:t>
            </a:r>
            <a:endParaRPr lang="en-US" sz="1600" dirty="0"/>
          </a:p>
        </p:txBody>
      </p:sp>
      <p:sp>
        <p:nvSpPr>
          <p:cNvPr id="54" name="Shape 52"/>
          <p:cNvSpPr/>
          <p:nvPr/>
        </p:nvSpPr>
        <p:spPr>
          <a:xfrm>
            <a:off x="365760" y="5989320"/>
            <a:ext cx="7589520" cy="365760"/>
          </a:xfrm>
          <a:prstGeom prst="roundRect">
            <a:avLst>
              <a:gd name="adj" fmla="val 20000"/>
            </a:avLst>
          </a:prstGeom>
          <a:solidFill>
            <a:srgbClr val="DDD8FF"/>
          </a:solidFill>
          <a:ln/>
        </p:spPr>
      </p:sp>
      <p:sp>
        <p:nvSpPr>
          <p:cNvPr id="55" name="Text 53"/>
          <p:cNvSpPr txBox="1"/>
          <p:nvPr/>
        </p:nvSpPr>
        <p:spPr>
          <a:xfrm>
            <a:off x="548640" y="5989320"/>
            <a:ext cx="7223760" cy="365760"/>
          </a:xfrm>
          <a:prstGeom prst="rect">
            <a:avLst/>
          </a:prstGeom>
          <a:noFill/>
          <a:ln/>
        </p:spPr>
        <p:txBody>
          <a:bodyPr wrap="square" lIns="0" tIns="0" rIns="0" bIns="0" rtlCol="0" anchor="ctr"/>
          <a:lstStyle/>
          <a:p>
            <a:pPr indent="0" marL="0">
              <a:buNone/>
            </a:pPr>
            <a:r>
              <a:rPr lang="en-US" sz="1600" b="1" dirty="0">
                <a:solidFill>
                  <a:srgbClr val="26352F"/>
                </a:solidFill>
                <a:latin typeface="Courier New" pitchFamily="34" charset="0"/>
                <a:ea typeface="Courier New" pitchFamily="34" charset="-122"/>
                <a:cs typeface="Courier New" pitchFamily="34" charset="-120"/>
              </a:rPr>
              <a:t>EvaluateOverallStatus  →  HistoricalSucceeded | HistoricalFailed</a:t>
            </a:r>
            <a:endParaRPr lang="en-US" sz="1600" dirty="0"/>
          </a:p>
        </p:txBody>
      </p:sp>
      <p:sp>
        <p:nvSpPr>
          <p:cNvPr id="56" name="Text 54"/>
          <p:cNvSpPr txBox="1"/>
          <p:nvPr/>
        </p:nvSpPr>
        <p:spPr>
          <a:xfrm>
            <a:off x="8138160" y="5989320"/>
            <a:ext cx="3657600" cy="365760"/>
          </a:xfrm>
          <a:prstGeom prst="rect">
            <a:avLst/>
          </a:prstGeom>
          <a:noFill/>
          <a:ln/>
        </p:spPr>
        <p:txBody>
          <a:bodyPr wrap="square" lIns="0" tIns="0" rIns="0" bIns="0" rtlCol="0" anchor="ctr"/>
          <a:lstStyle/>
          <a:p>
            <a:pPr indent="0" marL="0">
              <a:buNone/>
            </a:pPr>
            <a:r>
              <a:rPr lang="en-US" sz="1600" i="1" dirty="0">
                <a:solidFill>
                  <a:srgbClr val="56655D"/>
                </a:solidFill>
                <a:latin typeface="Calibri" pitchFamily="34" charset="0"/>
                <a:ea typeface="Calibri" pitchFamily="34" charset="-122"/>
                <a:cs typeface="Calibri" pitchFamily="34" charset="-120"/>
              </a:rPr>
              <a:t>run_id links tasks · manifests · logs · resume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6F72B8"/>
                </a:solidFill>
                <a:latin typeface="Courier New" pitchFamily="34" charset="0"/>
                <a:ea typeface="Courier New" pitchFamily="34" charset="-122"/>
                <a:cs typeface="Courier New" pitchFamily="34" charset="-120"/>
              </a:rPr>
              <a:t>09</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Update: Source-Specific Change Detection</a:t>
            </a:r>
            <a:endParaRPr lang="en-US" sz="3500" dirty="0"/>
          </a:p>
        </p:txBody>
      </p:sp>
      <p:sp>
        <p:nvSpPr>
          <p:cNvPr id="5" name="Shape 3"/>
          <p:cNvSpPr/>
          <p:nvPr/>
        </p:nvSpPr>
        <p:spPr>
          <a:xfrm>
            <a:off x="365760" y="1170432"/>
            <a:ext cx="7818120" cy="384048"/>
          </a:xfrm>
          <a:prstGeom prst="roundRect">
            <a:avLst>
              <a:gd name="adj" fmla="val 19048"/>
            </a:avLst>
          </a:prstGeom>
          <a:solidFill>
            <a:srgbClr val="E8E5DF"/>
          </a:solidFill>
          <a:ln w="9525">
            <a:solidFill>
              <a:srgbClr val="D8D3C6"/>
            </a:solidFill>
            <a:prstDash val="solid"/>
          </a:ln>
        </p:spPr>
      </p:sp>
      <p:sp>
        <p:nvSpPr>
          <p:cNvPr id="6" name="Text 4"/>
          <p:cNvSpPr txBox="1"/>
          <p:nvPr/>
        </p:nvSpPr>
        <p:spPr>
          <a:xfrm>
            <a:off x="548640" y="1170432"/>
            <a:ext cx="7452360" cy="384048"/>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Manual or scheduled start → CheckBootstrapComplete → run_id → RunSources (parallel)</a:t>
            </a:r>
            <a:endParaRPr lang="en-US" sz="1600" dirty="0"/>
          </a:p>
        </p:txBody>
      </p:sp>
      <p:sp>
        <p:nvSpPr>
          <p:cNvPr id="7" name="Shape 5"/>
          <p:cNvSpPr/>
          <p:nvPr/>
        </p:nvSpPr>
        <p:spPr>
          <a:xfrm>
            <a:off x="8321040" y="1170432"/>
            <a:ext cx="3474720" cy="384048"/>
          </a:xfrm>
          <a:prstGeom prst="roundRect">
            <a:avLst>
              <a:gd name="adj" fmla="val 19048"/>
            </a:avLst>
          </a:prstGeom>
          <a:solidFill>
            <a:srgbClr val="FFD9B8"/>
          </a:solidFill>
          <a:ln/>
        </p:spPr>
      </p:sp>
      <p:sp>
        <p:nvSpPr>
          <p:cNvPr id="8" name="Text 6"/>
          <p:cNvSpPr txBox="1"/>
          <p:nvPr/>
        </p:nvSpPr>
        <p:spPr>
          <a:xfrm>
            <a:off x="8458200" y="1170432"/>
            <a:ext cx="3200400" cy="384048"/>
          </a:xfrm>
          <a:prstGeom prst="rect">
            <a:avLst/>
          </a:prstGeom>
          <a:noFill/>
          <a:ln/>
        </p:spPr>
        <p:txBody>
          <a:bodyPr wrap="square" lIns="0" tIns="0" rIns="0" bIns="0" rtlCol="0" anchor="ctr"/>
          <a:lstStyle/>
          <a:p>
            <a:pPr indent="0" marL="0">
              <a:lnSpc>
                <a:spcPct val="95000"/>
              </a:lnSpc>
              <a:buNone/>
            </a:pPr>
            <a:r>
              <a:rPr lang="en-US" sz="1600" b="1" dirty="0">
                <a:solidFill>
                  <a:srgbClr val="26352F"/>
                </a:solidFill>
                <a:latin typeface="Calibri" pitchFamily="34" charset="0"/>
                <a:ea typeface="Calibri" pitchFamily="34" charset="-122"/>
                <a:cs typeface="Calibri" pitchFamily="34" charset="-120"/>
              </a:rPr>
              <a:t>EventBridge: monthly, DISABLED by default</a:t>
            </a:r>
            <a:endParaRPr lang="en-US" sz="1600" dirty="0"/>
          </a:p>
        </p:txBody>
      </p:sp>
      <p:sp>
        <p:nvSpPr>
          <p:cNvPr id="9" name="Shape 7"/>
          <p:cNvSpPr/>
          <p:nvPr/>
        </p:nvSpPr>
        <p:spPr>
          <a:xfrm>
            <a:off x="365760" y="1682496"/>
            <a:ext cx="3657600" cy="329184"/>
          </a:xfrm>
          <a:prstGeom prst="roundRect">
            <a:avLst>
              <a:gd name="adj" fmla="val 22222"/>
            </a:avLst>
          </a:prstGeom>
          <a:solidFill>
            <a:srgbClr val="CFE8FF"/>
          </a:solidFill>
          <a:ln/>
        </p:spPr>
      </p:sp>
      <p:sp>
        <p:nvSpPr>
          <p:cNvPr id="10" name="Text 8"/>
          <p:cNvSpPr txBox="1"/>
          <p:nvPr/>
        </p:nvSpPr>
        <p:spPr>
          <a:xfrm>
            <a:off x="493776" y="1682496"/>
            <a:ext cx="1828800" cy="329184"/>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EEA</a:t>
            </a:r>
            <a:endParaRPr lang="en-US" sz="1700" dirty="0"/>
          </a:p>
        </p:txBody>
      </p:sp>
      <p:sp>
        <p:nvSpPr>
          <p:cNvPr id="11" name="Text 9"/>
          <p:cNvSpPr txBox="1"/>
          <p:nvPr/>
        </p:nvSpPr>
        <p:spPr>
          <a:xfrm>
            <a:off x="1901952" y="1682496"/>
            <a:ext cx="2048256" cy="329184"/>
          </a:xfrm>
          <a:prstGeom prst="rect">
            <a:avLst/>
          </a:prstGeom>
          <a:noFill/>
          <a:ln/>
        </p:spPr>
        <p:txBody>
          <a:bodyPr wrap="square" lIns="0" tIns="0" rIns="0" bIns="0" rtlCol="0" anchor="ctr"/>
          <a:lstStyle/>
          <a:p>
            <a:pPr algn="r" indent="0" marL="0">
              <a:buNone/>
            </a:pPr>
            <a:r>
              <a:rPr lang="en-US" sz="1600" dirty="0">
                <a:solidFill>
                  <a:srgbClr val="3F4E47"/>
                </a:solidFill>
                <a:latin typeface="Courier New" pitchFamily="34" charset="0"/>
                <a:ea typeface="Courier New" pitchFamily="34" charset="-122"/>
                <a:cs typeface="Courier New" pitchFamily="34" charset="-120"/>
              </a:rPr>
              <a:t>mode=refresh</a:t>
            </a:r>
            <a:endParaRPr lang="en-US" sz="1600" dirty="0"/>
          </a:p>
        </p:txBody>
      </p:sp>
      <p:sp>
        <p:nvSpPr>
          <p:cNvPr id="12" name="Text 10"/>
          <p:cNvSpPr txBox="1"/>
          <p:nvPr/>
        </p:nvSpPr>
        <p:spPr>
          <a:xfrm>
            <a:off x="365760" y="2084832"/>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REFRESH WINDOW</a:t>
            </a:r>
            <a:endParaRPr lang="en-US" sz="1600" dirty="0"/>
          </a:p>
        </p:txBody>
      </p:sp>
      <p:sp>
        <p:nvSpPr>
          <p:cNvPr id="13" name="Shape 11"/>
          <p:cNvSpPr/>
          <p:nvPr/>
        </p:nvSpPr>
        <p:spPr>
          <a:xfrm>
            <a:off x="365760" y="2304288"/>
            <a:ext cx="3657600" cy="566928"/>
          </a:xfrm>
          <a:prstGeom prst="roundRect">
            <a:avLst>
              <a:gd name="adj" fmla="val 9677"/>
            </a:avLst>
          </a:prstGeom>
          <a:solidFill>
            <a:srgbClr val="2F3A35"/>
          </a:solidFill>
          <a:ln/>
        </p:spPr>
      </p:sp>
      <p:sp>
        <p:nvSpPr>
          <p:cNvPr id="14" name="Text 12"/>
          <p:cNvSpPr txBox="1"/>
          <p:nvPr/>
        </p:nvSpPr>
        <p:spPr>
          <a:xfrm>
            <a:off x="475488" y="2340864"/>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current year: always</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prior year: until 30 Sep</a:t>
            </a:r>
            <a:endParaRPr lang="en-US" sz="1600" dirty="0"/>
          </a:p>
        </p:txBody>
      </p:sp>
      <p:sp>
        <p:nvSpPr>
          <p:cNvPr id="15" name="Text 13"/>
          <p:cNvSpPr txBox="1"/>
          <p:nvPr/>
        </p:nvSpPr>
        <p:spPr>
          <a:xfrm>
            <a:off x="365760" y="2926080"/>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CHANGE CHECK</a:t>
            </a:r>
            <a:endParaRPr lang="en-US" sz="1600" dirty="0"/>
          </a:p>
        </p:txBody>
      </p:sp>
      <p:sp>
        <p:nvSpPr>
          <p:cNvPr id="16" name="Shape 14"/>
          <p:cNvSpPr/>
          <p:nvPr/>
        </p:nvSpPr>
        <p:spPr>
          <a:xfrm>
            <a:off x="365760" y="3145536"/>
            <a:ext cx="3657600" cy="566928"/>
          </a:xfrm>
          <a:prstGeom prst="roundRect">
            <a:avLst>
              <a:gd name="adj" fmla="val 9677"/>
            </a:avLst>
          </a:prstGeom>
          <a:solidFill>
            <a:srgbClr val="2F3A35"/>
          </a:solidFill>
          <a:ln/>
        </p:spPr>
      </p:sp>
      <p:sp>
        <p:nvSpPr>
          <p:cNvPr id="17" name="Text 15"/>
          <p:cNvSpPr txBox="1"/>
          <p:nvPr/>
        </p:nvSpPr>
        <p:spPr>
          <a:xfrm>
            <a:off x="475488" y="3182112"/>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validate → SHA-256</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same → skip · diff → replace</a:t>
            </a:r>
            <a:endParaRPr lang="en-US" sz="1600" dirty="0"/>
          </a:p>
        </p:txBody>
      </p:sp>
      <p:sp>
        <p:nvSpPr>
          <p:cNvPr id="18" name="Text 16"/>
          <p:cNvSpPr txBox="1"/>
          <p:nvPr/>
        </p:nvSpPr>
        <p:spPr>
          <a:xfrm>
            <a:off x="365760" y="3767328"/>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DOWNSTREAM</a:t>
            </a:r>
            <a:endParaRPr lang="en-US" sz="1600" dirty="0"/>
          </a:p>
        </p:txBody>
      </p:sp>
      <p:sp>
        <p:nvSpPr>
          <p:cNvPr id="19" name="Shape 17"/>
          <p:cNvSpPr/>
          <p:nvPr/>
        </p:nvSpPr>
        <p:spPr>
          <a:xfrm>
            <a:off x="365760" y="3986784"/>
            <a:ext cx="3657600" cy="566928"/>
          </a:xfrm>
          <a:prstGeom prst="roundRect">
            <a:avLst>
              <a:gd name="adj" fmla="val 9677"/>
            </a:avLst>
          </a:prstGeom>
          <a:solidFill>
            <a:srgbClr val="2F3A35"/>
          </a:solidFill>
          <a:ln/>
        </p:spPr>
      </p:sp>
      <p:sp>
        <p:nvSpPr>
          <p:cNvPr id="20" name="Text 18"/>
          <p:cNvSpPr txBox="1"/>
          <p:nvPr/>
        </p:nvSpPr>
        <p:spPr>
          <a:xfrm>
            <a:off x="475488" y="4023360"/>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changed → normalize</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 transform → gold</a:t>
            </a:r>
            <a:endParaRPr lang="en-US" sz="1600" dirty="0"/>
          </a:p>
        </p:txBody>
      </p:sp>
      <p:sp>
        <p:nvSpPr>
          <p:cNvPr id="21" name="Text 19"/>
          <p:cNvSpPr txBox="1"/>
          <p:nvPr/>
        </p:nvSpPr>
        <p:spPr>
          <a:xfrm>
            <a:off x="365760" y="4736592"/>
            <a:ext cx="3657600" cy="457200"/>
          </a:xfrm>
          <a:prstGeom prst="rect">
            <a:avLst/>
          </a:prstGeom>
          <a:noFill/>
          <a:ln/>
        </p:spPr>
        <p:txBody>
          <a:bodyPr wrap="square" lIns="0" tIns="0" rIns="0" bIns="0" rtlCol="0" anchor="ctr"/>
          <a:lstStyle/>
          <a:p>
            <a:pPr indent="0" marL="0">
              <a:lnSpc>
                <a:spcPct val="105000"/>
              </a:lnSpc>
              <a:buNone/>
            </a:pPr>
            <a:r>
              <a:rPr lang="en-US" sz="1600" dirty="0">
                <a:solidFill>
                  <a:srgbClr val="26352F"/>
                </a:solidFill>
                <a:latin typeface="Courier New" pitchFamily="34" charset="0"/>
                <a:ea typeface="Courier New" pitchFamily="34" charset="-122"/>
                <a:cs typeface="Courier New" pitchFamily="34" charset="-120"/>
              </a:rPr>
              <a:t>state.json: { "content_hash":</a:t>
            </a:r>
            <a:endParaRPr lang="en-US" sz="1600" dirty="0"/>
          </a:p>
          <a:p>
            <a:pPr indent="0" marL="0">
              <a:lnSpc>
                <a:spcPct val="105000"/>
              </a:lnSpc>
              <a:buNone/>
            </a:pPr>
            <a:r>
              <a:rPr lang="en-US" sz="1600" dirty="0">
                <a:solidFill>
                  <a:srgbClr val="26352F"/>
                </a:solidFill>
                <a:latin typeface="Courier New" pitchFamily="34" charset="0"/>
                <a:ea typeface="Courier New" pitchFamily="34" charset="-122"/>
                <a:cs typeface="Courier New" pitchFamily="34" charset="-120"/>
              </a:rPr>
              <a:t>  "a81f8c8e21f4…" }</a:t>
            </a:r>
            <a:endParaRPr lang="en-US" sz="1600" dirty="0"/>
          </a:p>
        </p:txBody>
      </p:sp>
      <p:sp>
        <p:nvSpPr>
          <p:cNvPr id="22" name="Shape 20"/>
          <p:cNvSpPr/>
          <p:nvPr/>
        </p:nvSpPr>
        <p:spPr>
          <a:xfrm>
            <a:off x="4251960" y="1682496"/>
            <a:ext cx="3657600" cy="329184"/>
          </a:xfrm>
          <a:prstGeom prst="roundRect">
            <a:avLst>
              <a:gd name="adj" fmla="val 22222"/>
            </a:avLst>
          </a:prstGeom>
          <a:solidFill>
            <a:srgbClr val="FFF0B8"/>
          </a:solidFill>
          <a:ln/>
        </p:spPr>
      </p:sp>
      <p:sp>
        <p:nvSpPr>
          <p:cNvPr id="23" name="Text 21"/>
          <p:cNvSpPr txBox="1"/>
          <p:nvPr/>
        </p:nvSpPr>
        <p:spPr>
          <a:xfrm>
            <a:off x="4379976" y="1682496"/>
            <a:ext cx="1828800" cy="329184"/>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TED</a:t>
            </a:r>
            <a:endParaRPr lang="en-US" sz="1700" dirty="0"/>
          </a:p>
        </p:txBody>
      </p:sp>
      <p:sp>
        <p:nvSpPr>
          <p:cNvPr id="24" name="Text 22"/>
          <p:cNvSpPr txBox="1"/>
          <p:nvPr/>
        </p:nvSpPr>
        <p:spPr>
          <a:xfrm>
            <a:off x="5788152" y="1682496"/>
            <a:ext cx="2048256" cy="329184"/>
          </a:xfrm>
          <a:prstGeom prst="rect">
            <a:avLst/>
          </a:prstGeom>
          <a:noFill/>
          <a:ln/>
        </p:spPr>
        <p:txBody>
          <a:bodyPr wrap="square" lIns="0" tIns="0" rIns="0" bIns="0" rtlCol="0" anchor="ctr"/>
          <a:lstStyle/>
          <a:p>
            <a:pPr algn="r" indent="0" marL="0">
              <a:buNone/>
            </a:pPr>
            <a:r>
              <a:rPr lang="en-US" sz="1600" dirty="0">
                <a:solidFill>
                  <a:srgbClr val="3F4E47"/>
                </a:solidFill>
                <a:latin typeface="Courier New" pitchFamily="34" charset="0"/>
                <a:ea typeface="Courier New" pitchFamily="34" charset="-122"/>
                <a:cs typeface="Courier New" pitchFamily="34" charset="-120"/>
              </a:rPr>
              <a:t>mode=refresh</a:t>
            </a:r>
            <a:endParaRPr lang="en-US" sz="1600" dirty="0"/>
          </a:p>
        </p:txBody>
      </p:sp>
      <p:sp>
        <p:nvSpPr>
          <p:cNvPr id="25" name="Text 23"/>
          <p:cNvSpPr txBox="1"/>
          <p:nvPr/>
        </p:nvSpPr>
        <p:spPr>
          <a:xfrm>
            <a:off x="4251960" y="2084832"/>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CURSOR</a:t>
            </a:r>
            <a:endParaRPr lang="en-US" sz="1600" dirty="0"/>
          </a:p>
        </p:txBody>
      </p:sp>
      <p:sp>
        <p:nvSpPr>
          <p:cNvPr id="26" name="Shape 24"/>
          <p:cNvSpPr/>
          <p:nvPr/>
        </p:nvSpPr>
        <p:spPr>
          <a:xfrm>
            <a:off x="4251960" y="2304288"/>
            <a:ext cx="3657600" cy="566928"/>
          </a:xfrm>
          <a:prstGeom prst="roundRect">
            <a:avLst>
              <a:gd name="adj" fmla="val 9677"/>
            </a:avLst>
          </a:prstGeom>
          <a:solidFill>
            <a:srgbClr val="2F3A35"/>
          </a:solidFill>
          <a:ln/>
        </p:spPr>
      </p:sp>
      <p:sp>
        <p:nvSpPr>
          <p:cNvPr id="27" name="Text 25"/>
          <p:cNvSpPr txBox="1"/>
          <p:nvPr/>
        </p:nvSpPr>
        <p:spPr>
          <a:xfrm>
            <a:off x="4361688" y="2340864"/>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date &gt;= cursor</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last_successful_run_date</a:t>
            </a:r>
            <a:endParaRPr lang="en-US" sz="1600" dirty="0"/>
          </a:p>
        </p:txBody>
      </p:sp>
      <p:sp>
        <p:nvSpPr>
          <p:cNvPr id="28" name="Text 26"/>
          <p:cNvSpPr txBox="1"/>
          <p:nvPr/>
        </p:nvSpPr>
        <p:spPr>
          <a:xfrm>
            <a:off x="4251960" y="2926080"/>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DEDUP + APPEND</a:t>
            </a:r>
            <a:endParaRPr lang="en-US" sz="1600" dirty="0"/>
          </a:p>
        </p:txBody>
      </p:sp>
      <p:sp>
        <p:nvSpPr>
          <p:cNvPr id="29" name="Shape 27"/>
          <p:cNvSpPr/>
          <p:nvPr/>
        </p:nvSpPr>
        <p:spPr>
          <a:xfrm>
            <a:off x="4251960" y="3145536"/>
            <a:ext cx="3657600" cy="566928"/>
          </a:xfrm>
          <a:prstGeom prst="roundRect">
            <a:avLst>
              <a:gd name="adj" fmla="val 9677"/>
            </a:avLst>
          </a:prstGeom>
          <a:solidFill>
            <a:srgbClr val="2F3A35"/>
          </a:solidFill>
          <a:ln/>
        </p:spPr>
      </p:sp>
      <p:sp>
        <p:nvSpPr>
          <p:cNvPr id="30" name="Text 28"/>
          <p:cNvSpPr txBox="1"/>
          <p:nvPr/>
        </p:nvSpPr>
        <p:spPr>
          <a:xfrm>
            <a:off x="4361688" y="3182112"/>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dedupe by publication-number</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append → notices.jsonl</a:t>
            </a:r>
            <a:endParaRPr lang="en-US" sz="1600" dirty="0"/>
          </a:p>
        </p:txBody>
      </p:sp>
      <p:sp>
        <p:nvSpPr>
          <p:cNvPr id="31" name="Text 29"/>
          <p:cNvSpPr txBox="1"/>
          <p:nvPr/>
        </p:nvSpPr>
        <p:spPr>
          <a:xfrm>
            <a:off x="4251960" y="3767328"/>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CURSOR UPDATE</a:t>
            </a:r>
            <a:endParaRPr lang="en-US" sz="1600" dirty="0"/>
          </a:p>
        </p:txBody>
      </p:sp>
      <p:sp>
        <p:nvSpPr>
          <p:cNvPr id="32" name="Shape 30"/>
          <p:cNvSpPr/>
          <p:nvPr/>
        </p:nvSpPr>
        <p:spPr>
          <a:xfrm>
            <a:off x="4251960" y="3986784"/>
            <a:ext cx="3657600" cy="566928"/>
          </a:xfrm>
          <a:prstGeom prst="roundRect">
            <a:avLst>
              <a:gd name="adj" fmla="val 9677"/>
            </a:avLst>
          </a:prstGeom>
          <a:solidFill>
            <a:srgbClr val="2F3A35"/>
          </a:solidFill>
          <a:ln/>
        </p:spPr>
      </p:sp>
      <p:sp>
        <p:nvSpPr>
          <p:cNvPr id="33" name="Text 31"/>
          <p:cNvSpPr txBox="1"/>
          <p:nvPr/>
        </p:nvSpPr>
        <p:spPr>
          <a:xfrm>
            <a:off x="4361688" y="4023360"/>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success → advance cursor</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failure → cursor unchanged</a:t>
            </a:r>
            <a:endParaRPr lang="en-US" sz="1600" dirty="0"/>
          </a:p>
        </p:txBody>
      </p:sp>
      <p:sp>
        <p:nvSpPr>
          <p:cNvPr id="34" name="Text 32"/>
          <p:cNvSpPr txBox="1"/>
          <p:nvPr/>
        </p:nvSpPr>
        <p:spPr>
          <a:xfrm>
            <a:off x="4251960" y="4626864"/>
            <a:ext cx="3657600" cy="365760"/>
          </a:xfrm>
          <a:prstGeom prst="rect">
            <a:avLst/>
          </a:prstGeom>
          <a:noFill/>
          <a:ln/>
        </p:spPr>
        <p:txBody>
          <a:bodyPr wrap="square" lIns="0" tIns="0" rIns="0" bIns="0" rtlCol="0" anchor="ctr"/>
          <a:lstStyle/>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 "last_successful_run_date":</a:t>
            </a:r>
            <a:endParaRPr lang="en-US" sz="1600" dirty="0"/>
          </a:p>
          <a:p>
            <a:pPr indent="0" marL="0">
              <a:lnSpc>
                <a:spcPct val="100000"/>
              </a:lnSpc>
              <a:buNone/>
            </a:pPr>
            <a:r>
              <a:rPr lang="en-US" sz="1600" dirty="0">
                <a:solidFill>
                  <a:srgbClr val="26352F"/>
                </a:solidFill>
                <a:latin typeface="Courier New" pitchFamily="34" charset="0"/>
                <a:ea typeface="Courier New" pitchFamily="34" charset="-122"/>
                <a:cs typeface="Courier New" pitchFamily="34" charset="-120"/>
              </a:rPr>
              <a:t>  "2025-05-01" }</a:t>
            </a:r>
            <a:endParaRPr lang="en-US" sz="1600" dirty="0"/>
          </a:p>
        </p:txBody>
      </p:sp>
      <p:sp>
        <p:nvSpPr>
          <p:cNvPr id="35" name="Shape 33"/>
          <p:cNvSpPr/>
          <p:nvPr/>
        </p:nvSpPr>
        <p:spPr>
          <a:xfrm>
            <a:off x="8138160" y="1682496"/>
            <a:ext cx="3657600" cy="329184"/>
          </a:xfrm>
          <a:prstGeom prst="roundRect">
            <a:avLst>
              <a:gd name="adj" fmla="val 22222"/>
            </a:avLst>
          </a:prstGeom>
          <a:solidFill>
            <a:srgbClr val="D7F4DE"/>
          </a:solidFill>
          <a:ln/>
        </p:spPr>
      </p:sp>
      <p:sp>
        <p:nvSpPr>
          <p:cNvPr id="36" name="Text 34"/>
          <p:cNvSpPr txBox="1"/>
          <p:nvPr/>
        </p:nvSpPr>
        <p:spPr>
          <a:xfrm>
            <a:off x="8266176" y="1682496"/>
            <a:ext cx="1828800" cy="329184"/>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Eurostat</a:t>
            </a:r>
            <a:endParaRPr lang="en-US" sz="1700" dirty="0"/>
          </a:p>
        </p:txBody>
      </p:sp>
      <p:sp>
        <p:nvSpPr>
          <p:cNvPr id="37" name="Text 35"/>
          <p:cNvSpPr txBox="1"/>
          <p:nvPr/>
        </p:nvSpPr>
        <p:spPr>
          <a:xfrm>
            <a:off x="9674352" y="1682496"/>
            <a:ext cx="2048256" cy="329184"/>
          </a:xfrm>
          <a:prstGeom prst="rect">
            <a:avLst/>
          </a:prstGeom>
          <a:noFill/>
          <a:ln/>
        </p:spPr>
        <p:txBody>
          <a:bodyPr wrap="square" lIns="0" tIns="0" rIns="0" bIns="0" rtlCol="0" anchor="ctr"/>
          <a:lstStyle/>
          <a:p>
            <a:pPr algn="r" indent="0" marL="0">
              <a:buNone/>
            </a:pPr>
            <a:r>
              <a:rPr lang="en-US" sz="1600" dirty="0">
                <a:solidFill>
                  <a:srgbClr val="3F4E47"/>
                </a:solidFill>
                <a:latin typeface="Courier New" pitchFamily="34" charset="0"/>
                <a:ea typeface="Courier New" pitchFamily="34" charset="-122"/>
                <a:cs typeface="Courier New" pitchFamily="34" charset="-120"/>
              </a:rPr>
              <a:t>mode=refresh</a:t>
            </a:r>
            <a:endParaRPr lang="en-US" sz="1600" dirty="0"/>
          </a:p>
        </p:txBody>
      </p:sp>
      <p:sp>
        <p:nvSpPr>
          <p:cNvPr id="38" name="Text 36"/>
          <p:cNvSpPr txBox="1"/>
          <p:nvPr/>
        </p:nvSpPr>
        <p:spPr>
          <a:xfrm>
            <a:off x="8138160" y="2084832"/>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RE-QUERY</a:t>
            </a:r>
            <a:endParaRPr lang="en-US" sz="1600" dirty="0"/>
          </a:p>
        </p:txBody>
      </p:sp>
      <p:sp>
        <p:nvSpPr>
          <p:cNvPr id="39" name="Shape 37"/>
          <p:cNvSpPr/>
          <p:nvPr/>
        </p:nvSpPr>
        <p:spPr>
          <a:xfrm>
            <a:off x="8138160" y="2304288"/>
            <a:ext cx="3657600" cy="566928"/>
          </a:xfrm>
          <a:prstGeom prst="roundRect">
            <a:avLst>
              <a:gd name="adj" fmla="val 9677"/>
            </a:avLst>
          </a:prstGeom>
          <a:solidFill>
            <a:srgbClr val="2F3A35"/>
          </a:solidFill>
          <a:ln/>
        </p:spPr>
      </p:sp>
      <p:sp>
        <p:nvSpPr>
          <p:cNvPr id="40" name="Text 38"/>
          <p:cNvSpPr txBox="1"/>
          <p:nvPr/>
        </p:nvSpPr>
        <p:spPr>
          <a:xfrm>
            <a:off x="8247888" y="2340864"/>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years re-requested</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validate JSON-stat</a:t>
            </a:r>
            <a:endParaRPr lang="en-US" sz="1600" dirty="0"/>
          </a:p>
        </p:txBody>
      </p:sp>
      <p:sp>
        <p:nvSpPr>
          <p:cNvPr id="41" name="Text 39"/>
          <p:cNvSpPr txBox="1"/>
          <p:nvPr/>
        </p:nvSpPr>
        <p:spPr>
          <a:xfrm>
            <a:off x="8138160" y="2926080"/>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CHANGE CHECK</a:t>
            </a:r>
            <a:endParaRPr lang="en-US" sz="1600" dirty="0"/>
          </a:p>
        </p:txBody>
      </p:sp>
      <p:sp>
        <p:nvSpPr>
          <p:cNvPr id="42" name="Shape 40"/>
          <p:cNvSpPr/>
          <p:nvPr/>
        </p:nvSpPr>
        <p:spPr>
          <a:xfrm>
            <a:off x="8138160" y="3145536"/>
            <a:ext cx="3657600" cy="566928"/>
          </a:xfrm>
          <a:prstGeom prst="roundRect">
            <a:avLst>
              <a:gd name="adj" fmla="val 9677"/>
            </a:avLst>
          </a:prstGeom>
          <a:solidFill>
            <a:srgbClr val="2F3A35"/>
          </a:solidFill>
          <a:ln/>
        </p:spPr>
      </p:sp>
      <p:sp>
        <p:nvSpPr>
          <p:cNvPr id="43" name="Text 41"/>
          <p:cNvSpPr txBox="1"/>
          <p:nvPr/>
        </p:nvSpPr>
        <p:spPr>
          <a:xfrm>
            <a:off x="8247888" y="3182112"/>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SHA-256 → compare content</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same → skip · diff → replace</a:t>
            </a:r>
            <a:endParaRPr lang="en-US" sz="1600" dirty="0"/>
          </a:p>
        </p:txBody>
      </p:sp>
      <p:sp>
        <p:nvSpPr>
          <p:cNvPr id="44" name="Text 42"/>
          <p:cNvSpPr txBox="1"/>
          <p:nvPr/>
        </p:nvSpPr>
        <p:spPr>
          <a:xfrm>
            <a:off x="8138160" y="3767328"/>
            <a:ext cx="3657600" cy="201168"/>
          </a:xfrm>
          <a:prstGeom prst="rect">
            <a:avLst/>
          </a:prstGeom>
          <a:noFill/>
          <a:ln/>
        </p:spPr>
        <p:txBody>
          <a:bodyPr wrap="square" lIns="0" tIns="0" rIns="0" bIns="0" rtlCol="0" anchor="ctr"/>
          <a:lstStyle/>
          <a:p>
            <a:pPr indent="0" marL="0">
              <a:buNone/>
            </a:pPr>
            <a:r>
              <a:rPr lang="en-US" sz="1600" b="1" dirty="0">
                <a:solidFill>
                  <a:srgbClr val="6F72B8"/>
                </a:solidFill>
                <a:latin typeface="Calibri" pitchFamily="34" charset="0"/>
                <a:ea typeface="Calibri" pitchFamily="34" charset="-122"/>
                <a:cs typeface="Calibri" pitchFamily="34" charset="-120"/>
              </a:rPr>
              <a:t>DOWNSTREAM</a:t>
            </a:r>
            <a:endParaRPr lang="en-US" sz="1600" dirty="0"/>
          </a:p>
        </p:txBody>
      </p:sp>
      <p:sp>
        <p:nvSpPr>
          <p:cNvPr id="45" name="Shape 43"/>
          <p:cNvSpPr/>
          <p:nvPr/>
        </p:nvSpPr>
        <p:spPr>
          <a:xfrm>
            <a:off x="8138160" y="3986784"/>
            <a:ext cx="3657600" cy="566928"/>
          </a:xfrm>
          <a:prstGeom prst="roundRect">
            <a:avLst>
              <a:gd name="adj" fmla="val 9677"/>
            </a:avLst>
          </a:prstGeom>
          <a:solidFill>
            <a:srgbClr val="2F3A35"/>
          </a:solidFill>
          <a:ln/>
        </p:spPr>
      </p:sp>
      <p:sp>
        <p:nvSpPr>
          <p:cNvPr id="46" name="Text 44"/>
          <p:cNvSpPr txBox="1"/>
          <p:nvPr/>
        </p:nvSpPr>
        <p:spPr>
          <a:xfrm>
            <a:off x="8247888" y="4023360"/>
            <a:ext cx="3438144" cy="457200"/>
          </a:xfrm>
          <a:prstGeom prst="rect">
            <a:avLst/>
          </a:prstGeom>
          <a:noFill/>
          <a:ln/>
        </p:spPr>
        <p:txBody>
          <a:bodyPr wrap="square" lIns="0" tIns="0" rIns="0" bIns="0" rtlCol="0" anchor="t"/>
          <a:lstStyle/>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changed → normalize</a:t>
            </a:r>
            <a:endParaRPr lang="en-US" sz="1600" dirty="0"/>
          </a:p>
          <a:p>
            <a:pPr indent="0" marL="0">
              <a:lnSpc>
                <a:spcPct val="100000"/>
              </a:lnSpc>
              <a:buNone/>
            </a:pPr>
            <a:r>
              <a:rPr lang="en-US" sz="1600" dirty="0">
                <a:solidFill>
                  <a:srgbClr val="EDEAE0"/>
                </a:solidFill>
                <a:latin typeface="Courier New" pitchFamily="34" charset="0"/>
                <a:ea typeface="Courier New" pitchFamily="34" charset="-122"/>
                <a:cs typeface="Courier New" pitchFamily="34" charset="-120"/>
              </a:rPr>
              <a:t>(no transform) → gold</a:t>
            </a:r>
            <a:endParaRPr lang="en-US" sz="1600" dirty="0"/>
          </a:p>
        </p:txBody>
      </p:sp>
      <p:sp>
        <p:nvSpPr>
          <p:cNvPr id="47" name="Text 45"/>
          <p:cNvSpPr txBox="1"/>
          <p:nvPr/>
        </p:nvSpPr>
        <p:spPr>
          <a:xfrm>
            <a:off x="8138160" y="4626864"/>
            <a:ext cx="3657600" cy="365760"/>
          </a:xfrm>
          <a:prstGeom prst="rect">
            <a:avLst/>
          </a:prstGeom>
          <a:noFill/>
          <a:ln/>
        </p:spPr>
        <p:txBody>
          <a:bodyPr wrap="square" lIns="0" tIns="0" rIns="0" bIns="0" rtlCol="0" anchor="ctr"/>
          <a:lstStyle/>
          <a:p>
            <a:pPr indent="0" marL="0">
              <a:lnSpc>
                <a:spcPct val="100000"/>
              </a:lnSpc>
              <a:buNone/>
            </a:pPr>
            <a:r>
              <a:rPr lang="en-US" sz="1600" i="1" dirty="0">
                <a:solidFill>
                  <a:srgbClr val="56655D"/>
                </a:solidFill>
                <a:latin typeface="Calibri" pitchFamily="34" charset="0"/>
                <a:ea typeface="Calibri" pitchFamily="34" charset="-122"/>
                <a:cs typeface="Calibri" pitchFamily="34" charset="-120"/>
              </a:rPr>
              <a:t>≥ creates intentional overlap · ID dedup removes repeats</a:t>
            </a:r>
            <a:endParaRPr lang="en-US" sz="1600" dirty="0"/>
          </a:p>
        </p:txBody>
      </p:sp>
      <p:sp>
        <p:nvSpPr>
          <p:cNvPr id="48" name="Shape 46"/>
          <p:cNvSpPr/>
          <p:nvPr/>
        </p:nvSpPr>
        <p:spPr>
          <a:xfrm>
            <a:off x="365760" y="5934456"/>
            <a:ext cx="5120640" cy="420624"/>
          </a:xfrm>
          <a:prstGeom prst="roundRect">
            <a:avLst>
              <a:gd name="adj" fmla="val 17391"/>
            </a:avLst>
          </a:prstGeom>
          <a:solidFill>
            <a:srgbClr val="DDD8FF"/>
          </a:solidFill>
          <a:ln/>
        </p:spPr>
      </p:sp>
      <p:sp>
        <p:nvSpPr>
          <p:cNvPr id="49" name="Text 47"/>
          <p:cNvSpPr txBox="1"/>
          <p:nvPr/>
        </p:nvSpPr>
        <p:spPr>
          <a:xfrm>
            <a:off x="548640" y="5934456"/>
            <a:ext cx="4754880" cy="420624"/>
          </a:xfrm>
          <a:prstGeom prst="rect">
            <a:avLst/>
          </a:prstGeom>
          <a:noFill/>
          <a:ln/>
        </p:spPr>
        <p:txBody>
          <a:bodyPr wrap="square" lIns="0" tIns="0" rIns="0" bIns="0" rtlCol="0" anchor="ctr"/>
          <a:lstStyle/>
          <a:p>
            <a:pPr indent="0" marL="0">
              <a:buNone/>
            </a:pPr>
            <a:r>
              <a:rPr lang="en-US" sz="1600" b="1" dirty="0">
                <a:solidFill>
                  <a:srgbClr val="26352F"/>
                </a:solidFill>
                <a:latin typeface="Courier New" pitchFamily="34" charset="0"/>
                <a:ea typeface="Courier New" pitchFamily="34" charset="-122"/>
                <a:cs typeface="Courier New" pitchFamily="34" charset="-120"/>
              </a:rPr>
              <a:t>UpdateSucceeded | UpdateFailed</a:t>
            </a:r>
            <a:endParaRPr lang="en-US" sz="1600" dirty="0"/>
          </a:p>
        </p:txBody>
      </p:sp>
      <p:sp>
        <p:nvSpPr>
          <p:cNvPr id="50" name="Shape 48"/>
          <p:cNvSpPr/>
          <p:nvPr/>
        </p:nvSpPr>
        <p:spPr>
          <a:xfrm>
            <a:off x="5623560" y="5934456"/>
            <a:ext cx="6172200" cy="420624"/>
          </a:xfrm>
          <a:prstGeom prst="roundRect">
            <a:avLst>
              <a:gd name="adj" fmla="val 17391"/>
            </a:avLst>
          </a:prstGeom>
          <a:solidFill>
            <a:srgbClr val="6F72B8"/>
          </a:solidFill>
          <a:ln/>
        </p:spPr>
      </p:sp>
      <p:sp>
        <p:nvSpPr>
          <p:cNvPr id="51" name="Text 49"/>
          <p:cNvSpPr txBox="1"/>
          <p:nvPr/>
        </p:nvSpPr>
        <p:spPr>
          <a:xfrm>
            <a:off x="5806440" y="5934456"/>
            <a:ext cx="5806440" cy="42062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No changes → skip  ·  Changes → rebuild Gold</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8067A8"/>
                </a:solidFill>
                <a:latin typeface="Courier New" pitchFamily="34" charset="0"/>
                <a:ea typeface="Courier New" pitchFamily="34" charset="-122"/>
                <a:cs typeface="Courier New" pitchFamily="34" charset="-120"/>
              </a:rPr>
              <a:t>10</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Gold: One Analytical Table per Source</a:t>
            </a:r>
            <a:endParaRPr lang="en-US" sz="3500" dirty="0"/>
          </a:p>
        </p:txBody>
      </p:sp>
      <p:sp>
        <p:nvSpPr>
          <p:cNvPr id="5" name="Shape 3"/>
          <p:cNvSpPr/>
          <p:nvPr/>
        </p:nvSpPr>
        <p:spPr>
          <a:xfrm>
            <a:off x="365760" y="1280160"/>
            <a:ext cx="2468880" cy="402336"/>
          </a:xfrm>
          <a:prstGeom prst="roundRect">
            <a:avLst>
              <a:gd name="adj" fmla="val 18182"/>
            </a:avLst>
          </a:prstGeom>
          <a:solidFill>
            <a:srgbClr val="CFE8FF"/>
          </a:solidFill>
          <a:ln w="9525">
            <a:solidFill>
              <a:srgbClr val="315B4C"/>
            </a:solidFill>
            <a:prstDash val="solid"/>
          </a:ln>
        </p:spPr>
      </p:sp>
      <p:sp>
        <p:nvSpPr>
          <p:cNvPr id="6" name="Text 4"/>
          <p:cNvSpPr txBox="1"/>
          <p:nvPr/>
        </p:nvSpPr>
        <p:spPr>
          <a:xfrm>
            <a:off x="493776" y="1280160"/>
            <a:ext cx="2212848" cy="402336"/>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EEA transformed</a:t>
            </a:r>
            <a:endParaRPr lang="en-US" sz="1600" dirty="0"/>
          </a:p>
        </p:txBody>
      </p:sp>
      <p:sp>
        <p:nvSpPr>
          <p:cNvPr id="7" name="Shape 5"/>
          <p:cNvSpPr/>
          <p:nvPr/>
        </p:nvSpPr>
        <p:spPr>
          <a:xfrm>
            <a:off x="2834640" y="1481328"/>
            <a:ext cx="594360" cy="0"/>
          </a:xfrm>
          <a:prstGeom prst="line">
            <a:avLst/>
          </a:prstGeom>
          <a:noFill/>
          <a:ln w="19050">
            <a:solidFill>
              <a:srgbClr val="315B4C"/>
            </a:solidFill>
            <a:prstDash val="solid"/>
            <a:tailEnd type="triangle"/>
          </a:ln>
        </p:spPr>
      </p:sp>
      <p:sp>
        <p:nvSpPr>
          <p:cNvPr id="8" name="Shape 6"/>
          <p:cNvSpPr/>
          <p:nvPr/>
        </p:nvSpPr>
        <p:spPr>
          <a:xfrm>
            <a:off x="365760" y="1792224"/>
            <a:ext cx="2468880" cy="402336"/>
          </a:xfrm>
          <a:prstGeom prst="roundRect">
            <a:avLst>
              <a:gd name="adj" fmla="val 18182"/>
            </a:avLst>
          </a:prstGeom>
          <a:solidFill>
            <a:srgbClr val="FFF0B8"/>
          </a:solidFill>
          <a:ln w="9525">
            <a:solidFill>
              <a:srgbClr val="315B4C"/>
            </a:solidFill>
            <a:prstDash val="solid"/>
          </a:ln>
        </p:spPr>
      </p:sp>
      <p:sp>
        <p:nvSpPr>
          <p:cNvPr id="9" name="Text 7"/>
          <p:cNvSpPr txBox="1"/>
          <p:nvPr/>
        </p:nvSpPr>
        <p:spPr>
          <a:xfrm>
            <a:off x="493776" y="1792224"/>
            <a:ext cx="2212848" cy="402336"/>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TED transformed</a:t>
            </a:r>
            <a:endParaRPr lang="en-US" sz="1600" dirty="0"/>
          </a:p>
        </p:txBody>
      </p:sp>
      <p:sp>
        <p:nvSpPr>
          <p:cNvPr id="10" name="Shape 8"/>
          <p:cNvSpPr/>
          <p:nvPr/>
        </p:nvSpPr>
        <p:spPr>
          <a:xfrm>
            <a:off x="2834640" y="1993392"/>
            <a:ext cx="594360" cy="0"/>
          </a:xfrm>
          <a:prstGeom prst="line">
            <a:avLst/>
          </a:prstGeom>
          <a:noFill/>
          <a:ln w="19050">
            <a:solidFill>
              <a:srgbClr val="315B4C"/>
            </a:solidFill>
            <a:prstDash val="solid"/>
            <a:tailEnd type="triangle"/>
          </a:ln>
        </p:spPr>
      </p:sp>
      <p:sp>
        <p:nvSpPr>
          <p:cNvPr id="11" name="Shape 9"/>
          <p:cNvSpPr/>
          <p:nvPr/>
        </p:nvSpPr>
        <p:spPr>
          <a:xfrm>
            <a:off x="365760" y="2304288"/>
            <a:ext cx="2468880" cy="402336"/>
          </a:xfrm>
          <a:prstGeom prst="roundRect">
            <a:avLst>
              <a:gd name="adj" fmla="val 18182"/>
            </a:avLst>
          </a:prstGeom>
          <a:solidFill>
            <a:srgbClr val="D7F4DE"/>
          </a:solidFill>
          <a:ln w="9525">
            <a:solidFill>
              <a:srgbClr val="315B4C"/>
            </a:solidFill>
            <a:prstDash val="solid"/>
          </a:ln>
        </p:spPr>
      </p:sp>
      <p:sp>
        <p:nvSpPr>
          <p:cNvPr id="12" name="Text 10"/>
          <p:cNvSpPr txBox="1"/>
          <p:nvPr/>
        </p:nvSpPr>
        <p:spPr>
          <a:xfrm>
            <a:off x="493776" y="2304288"/>
            <a:ext cx="2212848" cy="402336"/>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Eurostat normalized</a:t>
            </a:r>
            <a:endParaRPr lang="en-US" sz="1600" dirty="0"/>
          </a:p>
        </p:txBody>
      </p:sp>
      <p:sp>
        <p:nvSpPr>
          <p:cNvPr id="13" name="Shape 11"/>
          <p:cNvSpPr/>
          <p:nvPr/>
        </p:nvSpPr>
        <p:spPr>
          <a:xfrm>
            <a:off x="2834640" y="2505456"/>
            <a:ext cx="594360" cy="0"/>
          </a:xfrm>
          <a:prstGeom prst="line">
            <a:avLst/>
          </a:prstGeom>
          <a:noFill/>
          <a:ln w="19050">
            <a:solidFill>
              <a:srgbClr val="315B4C"/>
            </a:solidFill>
            <a:prstDash val="solid"/>
            <a:tailEnd type="triangle"/>
          </a:ln>
        </p:spPr>
      </p:sp>
      <p:sp>
        <p:nvSpPr>
          <p:cNvPr id="14" name="Shape 12"/>
          <p:cNvSpPr/>
          <p:nvPr/>
        </p:nvSpPr>
        <p:spPr>
          <a:xfrm>
            <a:off x="3429000" y="1673352"/>
            <a:ext cx="2423160" cy="640080"/>
          </a:xfrm>
          <a:prstGeom prst="roundRect">
            <a:avLst>
              <a:gd name="adj" fmla="val 11429"/>
            </a:avLst>
          </a:prstGeom>
          <a:solidFill>
            <a:srgbClr val="F5D46F"/>
          </a:solidFill>
          <a:ln w="9525">
            <a:solidFill>
              <a:srgbClr val="315B4C"/>
            </a:solidFill>
            <a:prstDash val="solid"/>
          </a:ln>
        </p:spPr>
      </p:sp>
      <p:sp>
        <p:nvSpPr>
          <p:cNvPr id="15" name="Text 13"/>
          <p:cNvSpPr txBox="1"/>
          <p:nvPr/>
        </p:nvSpPr>
        <p:spPr>
          <a:xfrm>
            <a:off x="3557016" y="1673352"/>
            <a:ext cx="2167128" cy="640080"/>
          </a:xfrm>
          <a:prstGeom prst="rect">
            <a:avLst/>
          </a:prstGeom>
          <a:noFill/>
          <a:ln/>
        </p:spPr>
        <p:txBody>
          <a:bodyPr wrap="square" lIns="0" tIns="0" rIns="0" bIns="0" rtlCol="0" anchor="ctr"/>
          <a:lstStyle/>
          <a:p>
            <a:pPr algn="ctr" indent="0" marL="0">
              <a:lnSpc>
                <a:spcPct val="100000"/>
              </a:lnSpc>
              <a:buNone/>
            </a:pPr>
            <a:r>
              <a:rPr lang="en-US" sz="1600" b="1" dirty="0">
                <a:solidFill>
                  <a:srgbClr val="26352F"/>
                </a:solidFill>
                <a:latin typeface="Calibri" pitchFamily="34" charset="0"/>
                <a:ea typeface="Calibri" pitchFamily="34" charset="-122"/>
                <a:cs typeface="Calibri" pitchFamily="34" charset="-120"/>
              </a:rPr>
              <a:t>Gold builders</a:t>
            </a:r>
            <a:endParaRPr lang="en-US" sz="1600" dirty="0"/>
          </a:p>
          <a:p>
            <a:pPr algn="ctr" indent="0" marL="0">
              <a:lnSpc>
                <a:spcPct val="100000"/>
              </a:lnSpc>
              <a:buNone/>
            </a:pPr>
            <a:r>
              <a:rPr lang="en-US" sz="1600" b="1" dirty="0">
                <a:solidFill>
                  <a:srgbClr val="26352F"/>
                </a:solidFill>
                <a:latin typeface="Calibri" pitchFamily="34" charset="0"/>
                <a:ea typeface="Calibri" pitchFamily="34" charset="-122"/>
                <a:cs typeface="Calibri" pitchFamily="34" charset="-120"/>
              </a:rPr>
              <a:t>(gold/&lt;source&gt;/*.py)</a:t>
            </a:r>
            <a:endParaRPr lang="en-US" sz="1600" dirty="0"/>
          </a:p>
        </p:txBody>
      </p:sp>
      <p:sp>
        <p:nvSpPr>
          <p:cNvPr id="16" name="Shape 14"/>
          <p:cNvSpPr/>
          <p:nvPr/>
        </p:nvSpPr>
        <p:spPr>
          <a:xfrm>
            <a:off x="4640580" y="2313432"/>
            <a:ext cx="0" cy="822960"/>
          </a:xfrm>
          <a:prstGeom prst="line">
            <a:avLst/>
          </a:prstGeom>
          <a:noFill/>
          <a:ln w="19050">
            <a:solidFill>
              <a:srgbClr val="315B4C"/>
            </a:solidFill>
            <a:prstDash val="solid"/>
            <a:tailEnd type="triangle"/>
          </a:ln>
        </p:spPr>
      </p:sp>
      <p:sp>
        <p:nvSpPr>
          <p:cNvPr id="17" name="Shape 15"/>
          <p:cNvSpPr/>
          <p:nvPr/>
        </p:nvSpPr>
        <p:spPr>
          <a:xfrm>
            <a:off x="2240280" y="3136392"/>
            <a:ext cx="2377440" cy="457200"/>
          </a:xfrm>
          <a:prstGeom prst="ellipse">
            <a:avLst/>
          </a:prstGeom>
          <a:solidFill>
            <a:srgbClr val="E8E5DF"/>
          </a:solidFill>
          <a:ln w="12700">
            <a:solidFill>
              <a:srgbClr val="315B4C"/>
            </a:solidFill>
            <a:prstDash val="solid"/>
          </a:ln>
        </p:spPr>
      </p:sp>
      <p:sp>
        <p:nvSpPr>
          <p:cNvPr id="18" name="Text 16"/>
          <p:cNvSpPr txBox="1"/>
          <p:nvPr/>
        </p:nvSpPr>
        <p:spPr>
          <a:xfrm>
            <a:off x="2240280" y="3136392"/>
            <a:ext cx="2377440" cy="457200"/>
          </a:xfrm>
          <a:prstGeom prst="rect">
            <a:avLst/>
          </a:prstGeom>
          <a:noFill/>
          <a:ln/>
        </p:spPr>
        <p:txBody>
          <a:bodyPr wrap="square" lIns="0" tIns="0" rIns="0" bIns="0" rtlCol="0" anchor="ctr"/>
          <a:lstStyle/>
          <a:p>
            <a:pPr algn="ctr" indent="0" marL="0">
              <a:buNone/>
            </a:pPr>
            <a:r>
              <a:rPr lang="en-US" sz="1600" b="1" dirty="0">
                <a:solidFill>
                  <a:srgbClr val="26352F"/>
                </a:solidFill>
                <a:latin typeface="Calibri" pitchFamily="34" charset="0"/>
                <a:ea typeface="Calibri" pitchFamily="34" charset="-122"/>
                <a:cs typeface="Calibri" pitchFamily="34" charset="-120"/>
              </a:rPr>
              <a:t>S3 Gold Parquet</a:t>
            </a:r>
            <a:endParaRPr lang="en-US" sz="1600" dirty="0"/>
          </a:p>
        </p:txBody>
      </p:sp>
      <p:sp>
        <p:nvSpPr>
          <p:cNvPr id="19" name="Shape 17"/>
          <p:cNvSpPr/>
          <p:nvPr/>
        </p:nvSpPr>
        <p:spPr>
          <a:xfrm>
            <a:off x="365760" y="3776472"/>
            <a:ext cx="5486400" cy="1170432"/>
          </a:xfrm>
          <a:prstGeom prst="roundRect">
            <a:avLst>
              <a:gd name="adj" fmla="val 4688"/>
            </a:avLst>
          </a:prstGeom>
          <a:solidFill>
            <a:srgbClr val="2F3A35"/>
          </a:solidFill>
          <a:ln/>
        </p:spPr>
      </p:sp>
      <p:sp>
        <p:nvSpPr>
          <p:cNvPr id="20" name="Text 18"/>
          <p:cNvSpPr txBox="1"/>
          <p:nvPr/>
        </p:nvSpPr>
        <p:spPr>
          <a:xfrm>
            <a:off x="493776" y="3849624"/>
            <a:ext cx="5230368" cy="1024128"/>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data/gold/eea/measurements.parquet</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data/gold/ted/notices.parquet</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data/gold/eurostat/</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  agriculture_accounts.parquet</a:t>
            </a:r>
            <a:endParaRPr lang="en-US" sz="1600" dirty="0"/>
          </a:p>
        </p:txBody>
      </p:sp>
      <p:sp>
        <p:nvSpPr>
          <p:cNvPr id="21" name="Text 19"/>
          <p:cNvSpPr txBox="1"/>
          <p:nvPr/>
        </p:nvSpPr>
        <p:spPr>
          <a:xfrm>
            <a:off x="365760" y="5093208"/>
            <a:ext cx="5486400" cy="201168"/>
          </a:xfrm>
          <a:prstGeom prst="rect">
            <a:avLst/>
          </a:prstGeom>
          <a:noFill/>
          <a:ln/>
        </p:spPr>
        <p:txBody>
          <a:bodyPr wrap="square" lIns="0" tIns="0" rIns="0" bIns="0" rtlCol="0" anchor="ctr"/>
          <a:lstStyle/>
          <a:p>
            <a:pPr indent="0" marL="0">
              <a:buNone/>
            </a:pPr>
            <a:r>
              <a:rPr lang="en-US" sz="1600" b="1" dirty="0">
                <a:solidFill>
                  <a:srgbClr val="8067A8"/>
                </a:solidFill>
                <a:latin typeface="Calibri" pitchFamily="34" charset="0"/>
                <a:ea typeface="Calibri" pitchFamily="34" charset="-122"/>
                <a:cs typeface="Calibri" pitchFamily="34" charset="-120"/>
              </a:rPr>
              <a:t>GOLD PRINCIPLES</a:t>
            </a:r>
            <a:endParaRPr lang="en-US" sz="1600" dirty="0"/>
          </a:p>
        </p:txBody>
      </p:sp>
      <p:sp>
        <p:nvSpPr>
          <p:cNvPr id="22" name="Text 20"/>
          <p:cNvSpPr txBox="1"/>
          <p:nvPr/>
        </p:nvSpPr>
        <p:spPr>
          <a:xfrm>
            <a:off x="365760" y="5312664"/>
            <a:ext cx="5486400" cy="201168"/>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One schema per source</a:t>
            </a:r>
            <a:endParaRPr lang="en-US" sz="1600" dirty="0"/>
          </a:p>
        </p:txBody>
      </p:sp>
      <p:sp>
        <p:nvSpPr>
          <p:cNvPr id="23" name="Text 21"/>
          <p:cNvSpPr txBox="1"/>
          <p:nvPr/>
        </p:nvSpPr>
        <p:spPr>
          <a:xfrm>
            <a:off x="365760" y="5522976"/>
            <a:ext cx="5486400" cy="201168"/>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Required columns only</a:t>
            </a:r>
            <a:endParaRPr lang="en-US" sz="1600" dirty="0"/>
          </a:p>
        </p:txBody>
      </p:sp>
      <p:sp>
        <p:nvSpPr>
          <p:cNvPr id="24" name="Text 22"/>
          <p:cNvSpPr txBox="1"/>
          <p:nvPr/>
        </p:nvSpPr>
        <p:spPr>
          <a:xfrm>
            <a:off x="365760" y="5733288"/>
            <a:ext cx="5486400" cy="201168"/>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Stable names and data types</a:t>
            </a:r>
            <a:endParaRPr lang="en-US" sz="1600" dirty="0"/>
          </a:p>
        </p:txBody>
      </p:sp>
      <p:sp>
        <p:nvSpPr>
          <p:cNvPr id="25" name="Text 23"/>
          <p:cNvSpPr txBox="1"/>
          <p:nvPr/>
        </p:nvSpPr>
        <p:spPr>
          <a:xfrm>
            <a:off x="365760" y="5943600"/>
            <a:ext cx="5486400" cy="201168"/>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Exact duplicate removal</a:t>
            </a:r>
            <a:endParaRPr lang="en-US" sz="1600" dirty="0"/>
          </a:p>
        </p:txBody>
      </p:sp>
      <p:sp>
        <p:nvSpPr>
          <p:cNvPr id="26" name="Text 24"/>
          <p:cNvSpPr txBox="1"/>
          <p:nvPr/>
        </p:nvSpPr>
        <p:spPr>
          <a:xfrm>
            <a:off x="365760" y="6153912"/>
            <a:ext cx="5486400" cy="201168"/>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Dashboard-ready Parquet</a:t>
            </a:r>
            <a:endParaRPr lang="en-US" sz="1600" dirty="0"/>
          </a:p>
        </p:txBody>
      </p:sp>
      <p:sp>
        <p:nvSpPr>
          <p:cNvPr id="27" name="Shape 25"/>
          <p:cNvSpPr/>
          <p:nvPr/>
        </p:nvSpPr>
        <p:spPr>
          <a:xfrm>
            <a:off x="6172200" y="1280160"/>
            <a:ext cx="5623560" cy="310896"/>
          </a:xfrm>
          <a:prstGeom prst="roundRect">
            <a:avLst>
              <a:gd name="adj" fmla="val 23529"/>
            </a:avLst>
          </a:prstGeom>
          <a:solidFill>
            <a:srgbClr val="CFE8FF"/>
          </a:solidFill>
          <a:ln w="12700">
            <a:solidFill>
              <a:srgbClr val="315B4C"/>
            </a:solidFill>
            <a:prstDash val="solid"/>
          </a:ln>
        </p:spPr>
      </p:sp>
      <p:sp>
        <p:nvSpPr>
          <p:cNvPr id="28" name="Text 26"/>
          <p:cNvSpPr txBox="1"/>
          <p:nvPr/>
        </p:nvSpPr>
        <p:spPr>
          <a:xfrm>
            <a:off x="6300216" y="1280160"/>
            <a:ext cx="5367528" cy="310896"/>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EEA</a:t>
            </a:r>
            <a:endParaRPr lang="en-US" sz="1700" dirty="0"/>
          </a:p>
        </p:txBody>
      </p:sp>
      <p:sp>
        <p:nvSpPr>
          <p:cNvPr id="29" name="Shape 27"/>
          <p:cNvSpPr/>
          <p:nvPr/>
        </p:nvSpPr>
        <p:spPr>
          <a:xfrm>
            <a:off x="6172200" y="1627632"/>
            <a:ext cx="5623560" cy="841248"/>
          </a:xfrm>
          <a:prstGeom prst="roundRect">
            <a:avLst>
              <a:gd name="adj" fmla="val 6522"/>
            </a:avLst>
          </a:prstGeom>
          <a:solidFill>
            <a:srgbClr val="2F3A35"/>
          </a:solidFill>
          <a:ln/>
        </p:spPr>
      </p:sp>
      <p:sp>
        <p:nvSpPr>
          <p:cNvPr id="30" name="Text 28"/>
          <p:cNvSpPr txBox="1"/>
          <p:nvPr/>
        </p:nvSpPr>
        <p:spPr>
          <a:xfrm>
            <a:off x="6300216" y="1700784"/>
            <a:ext cx="5367528" cy="694944"/>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country_code · sampling_point_id</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pollutant_code · measurement_value</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period_start · nuts1 · nuts2 · nuts3</a:t>
            </a:r>
            <a:endParaRPr lang="en-US" sz="1600" dirty="0"/>
          </a:p>
        </p:txBody>
      </p:sp>
      <p:sp>
        <p:nvSpPr>
          <p:cNvPr id="31" name="Shape 29"/>
          <p:cNvSpPr/>
          <p:nvPr/>
        </p:nvSpPr>
        <p:spPr>
          <a:xfrm>
            <a:off x="6172200" y="2688336"/>
            <a:ext cx="5623560" cy="310896"/>
          </a:xfrm>
          <a:prstGeom prst="roundRect">
            <a:avLst>
              <a:gd name="adj" fmla="val 23529"/>
            </a:avLst>
          </a:prstGeom>
          <a:solidFill>
            <a:srgbClr val="FFF0B8"/>
          </a:solidFill>
          <a:ln w="12700">
            <a:solidFill>
              <a:srgbClr val="315B4C"/>
            </a:solidFill>
            <a:prstDash val="solid"/>
          </a:ln>
        </p:spPr>
      </p:sp>
      <p:sp>
        <p:nvSpPr>
          <p:cNvPr id="32" name="Text 30"/>
          <p:cNvSpPr txBox="1"/>
          <p:nvPr/>
        </p:nvSpPr>
        <p:spPr>
          <a:xfrm>
            <a:off x="6300216" y="2688336"/>
            <a:ext cx="5367528" cy="310896"/>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TED</a:t>
            </a:r>
            <a:endParaRPr lang="en-US" sz="1700" dirty="0"/>
          </a:p>
        </p:txBody>
      </p:sp>
      <p:sp>
        <p:nvSpPr>
          <p:cNvPr id="33" name="Shape 31"/>
          <p:cNvSpPr/>
          <p:nvPr/>
        </p:nvSpPr>
        <p:spPr>
          <a:xfrm>
            <a:off x="6172200" y="3035808"/>
            <a:ext cx="5623560" cy="1078992"/>
          </a:xfrm>
          <a:prstGeom prst="roundRect">
            <a:avLst>
              <a:gd name="adj" fmla="val 5085"/>
            </a:avLst>
          </a:prstGeom>
          <a:solidFill>
            <a:srgbClr val="2F3A35"/>
          </a:solidFill>
          <a:ln/>
        </p:spPr>
      </p:sp>
      <p:sp>
        <p:nvSpPr>
          <p:cNvPr id="34" name="Text 32"/>
          <p:cNvSpPr txBox="1"/>
          <p:nvPr/>
        </p:nvSpPr>
        <p:spPr>
          <a:xfrm>
            <a:off x="6300216" y="3108960"/>
            <a:ext cx="5367528" cy="932688"/>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notice_publication_number</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notice_publication_date · nuts2</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contract_total_value</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contract_currency_code</a:t>
            </a:r>
            <a:endParaRPr lang="en-US" sz="1600" dirty="0"/>
          </a:p>
        </p:txBody>
      </p:sp>
      <p:sp>
        <p:nvSpPr>
          <p:cNvPr id="35" name="Shape 33"/>
          <p:cNvSpPr/>
          <p:nvPr/>
        </p:nvSpPr>
        <p:spPr>
          <a:xfrm>
            <a:off x="6172200" y="4334256"/>
            <a:ext cx="5623560" cy="310896"/>
          </a:xfrm>
          <a:prstGeom prst="roundRect">
            <a:avLst>
              <a:gd name="adj" fmla="val 23529"/>
            </a:avLst>
          </a:prstGeom>
          <a:solidFill>
            <a:srgbClr val="D7F4DE"/>
          </a:solidFill>
          <a:ln w="12700">
            <a:solidFill>
              <a:srgbClr val="315B4C"/>
            </a:solidFill>
            <a:prstDash val="solid"/>
          </a:ln>
        </p:spPr>
      </p:sp>
      <p:sp>
        <p:nvSpPr>
          <p:cNvPr id="36" name="Text 34"/>
          <p:cNvSpPr txBox="1"/>
          <p:nvPr/>
        </p:nvSpPr>
        <p:spPr>
          <a:xfrm>
            <a:off x="6300216" y="4334256"/>
            <a:ext cx="5367528" cy="310896"/>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Eurostat</a:t>
            </a:r>
            <a:endParaRPr lang="en-US" sz="1700" dirty="0"/>
          </a:p>
        </p:txBody>
      </p:sp>
      <p:sp>
        <p:nvSpPr>
          <p:cNvPr id="37" name="Shape 35"/>
          <p:cNvSpPr/>
          <p:nvPr/>
        </p:nvSpPr>
        <p:spPr>
          <a:xfrm>
            <a:off x="6172200" y="4681728"/>
            <a:ext cx="5623560" cy="1078992"/>
          </a:xfrm>
          <a:prstGeom prst="roundRect">
            <a:avLst>
              <a:gd name="adj" fmla="val 5085"/>
            </a:avLst>
          </a:prstGeom>
          <a:solidFill>
            <a:srgbClr val="2F3A35"/>
          </a:solidFill>
          <a:ln/>
        </p:spPr>
      </p:sp>
      <p:sp>
        <p:nvSpPr>
          <p:cNvPr id="38" name="Text 36"/>
          <p:cNvSpPr txBox="1"/>
          <p:nvPr/>
        </p:nvSpPr>
        <p:spPr>
          <a:xfrm>
            <a:off x="6300216" y="4754880"/>
            <a:ext cx="5367528" cy="932688"/>
          </a:xfrm>
          <a:prstGeom prst="rect">
            <a:avLst/>
          </a:prstGeom>
          <a:noFill/>
          <a:ln/>
        </p:spPr>
        <p:txBody>
          <a:bodyPr wrap="square" lIns="0" tIns="0" rIns="0" bIns="0" rtlCol="0" anchor="t"/>
          <a:lstStyle/>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country_code · nuts2</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agricultural_item_label</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agricultural_indicator_label</a:t>
            </a:r>
            <a:endParaRPr lang="en-US" sz="1600" dirty="0"/>
          </a:p>
          <a:p>
            <a:pPr indent="0" marL="0">
              <a:lnSpc>
                <a:spcPct val="102000"/>
              </a:lnSpc>
              <a:buNone/>
            </a:pPr>
            <a:r>
              <a:rPr lang="en-US" sz="1600" dirty="0">
                <a:solidFill>
                  <a:srgbClr val="EDEAE0"/>
                </a:solidFill>
                <a:latin typeface="Courier New" pitchFamily="34" charset="0"/>
                <a:ea typeface="Courier New" pitchFamily="34" charset="-122"/>
                <a:cs typeface="Courier New" pitchFamily="34" charset="-120"/>
              </a:rPr>
              <a:t>reference_year · indicator_value</a:t>
            </a:r>
            <a:endParaRPr lang="en-US" sz="1600" dirty="0"/>
          </a:p>
        </p:txBody>
      </p:sp>
      <p:sp>
        <p:nvSpPr>
          <p:cNvPr id="39" name="Shape 37"/>
          <p:cNvSpPr/>
          <p:nvPr/>
        </p:nvSpPr>
        <p:spPr>
          <a:xfrm>
            <a:off x="6172200" y="5980176"/>
            <a:ext cx="5623560" cy="457200"/>
          </a:xfrm>
          <a:prstGeom prst="roundRect">
            <a:avLst>
              <a:gd name="adj" fmla="val 20000"/>
            </a:avLst>
          </a:prstGeom>
          <a:solidFill>
            <a:srgbClr val="8067A8"/>
          </a:solidFill>
          <a:ln/>
        </p:spPr>
      </p:sp>
      <p:sp>
        <p:nvSpPr>
          <p:cNvPr id="40" name="Text 38"/>
          <p:cNvSpPr txBox="1"/>
          <p:nvPr/>
        </p:nvSpPr>
        <p:spPr>
          <a:xfrm>
            <a:off x="6355080" y="5980176"/>
            <a:ext cx="52578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Gold runs inside Historical and Update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8067A8"/>
                </a:solidFill>
                <a:latin typeface="Courier New" pitchFamily="34" charset="0"/>
                <a:ea typeface="Courier New" pitchFamily="34" charset="-122"/>
                <a:cs typeface="Courier New" pitchFamily="34" charset="-120"/>
              </a:rPr>
              <a:t>11</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Glue and Athena Expose Gold as SQL</a:t>
            </a:r>
            <a:endParaRPr lang="en-US" sz="3500" dirty="0"/>
          </a:p>
        </p:txBody>
      </p:sp>
      <p:sp>
        <p:nvSpPr>
          <p:cNvPr id="5" name="Shape 3"/>
          <p:cNvSpPr/>
          <p:nvPr/>
        </p:nvSpPr>
        <p:spPr>
          <a:xfrm>
            <a:off x="1463040" y="1371600"/>
            <a:ext cx="4023360" cy="566928"/>
          </a:xfrm>
          <a:prstGeom prst="roundRect">
            <a:avLst>
              <a:gd name="adj" fmla="val 14516"/>
            </a:avLst>
          </a:prstGeom>
          <a:solidFill>
            <a:srgbClr val="E8E5DF"/>
          </a:solidFill>
          <a:ln w="12700">
            <a:solidFill>
              <a:srgbClr val="315B4C"/>
            </a:solidFill>
            <a:prstDash val="solid"/>
          </a:ln>
        </p:spPr>
      </p:sp>
      <p:sp>
        <p:nvSpPr>
          <p:cNvPr id="6" name="Text 4"/>
          <p:cNvSpPr txBox="1"/>
          <p:nvPr/>
        </p:nvSpPr>
        <p:spPr>
          <a:xfrm>
            <a:off x="1645920" y="1426464"/>
            <a:ext cx="3657600" cy="292608"/>
          </a:xfrm>
          <a:prstGeom prst="rect">
            <a:avLst/>
          </a:prstGeom>
          <a:noFill/>
          <a:ln/>
        </p:spPr>
        <p:txBody>
          <a:bodyPr wrap="square" lIns="0" tIns="0" rIns="0" bIns="0" rtlCol="0" anchor="ctr"/>
          <a:lstStyle/>
          <a:p>
            <a:pPr indent="0" marL="0">
              <a:buNone/>
            </a:pPr>
            <a:r>
              <a:rPr lang="en-US" sz="1800" b="1" dirty="0">
                <a:solidFill>
                  <a:srgbClr val="26352F"/>
                </a:solidFill>
                <a:latin typeface="Calibri" pitchFamily="34" charset="0"/>
                <a:ea typeface="Calibri" pitchFamily="34" charset="-122"/>
                <a:cs typeface="Calibri" pitchFamily="34" charset="-120"/>
              </a:rPr>
              <a:t>Gold Parquet in S3</a:t>
            </a:r>
            <a:endParaRPr lang="en-US" sz="1800" dirty="0"/>
          </a:p>
        </p:txBody>
      </p:sp>
      <p:sp>
        <p:nvSpPr>
          <p:cNvPr id="7" name="Text 5"/>
          <p:cNvSpPr txBox="1"/>
          <p:nvPr/>
        </p:nvSpPr>
        <p:spPr>
          <a:xfrm>
            <a:off x="1645920" y="1700784"/>
            <a:ext cx="3657600" cy="219456"/>
          </a:xfrm>
          <a:prstGeom prst="rect">
            <a:avLst/>
          </a:prstGeom>
          <a:noFill/>
          <a:ln/>
        </p:spPr>
        <p:txBody>
          <a:bodyPr wrap="square" lIns="0" tIns="0" rIns="0" bIns="0" rtlCol="0" anchor="ctr"/>
          <a:lstStyle/>
          <a:p>
            <a:pPr indent="0" marL="0">
              <a:buNone/>
            </a:pPr>
            <a:r>
              <a:rPr lang="en-US" sz="1600" dirty="0">
                <a:solidFill>
                  <a:srgbClr val="3F4E47"/>
                </a:solidFill>
                <a:latin typeface="Courier New" pitchFamily="34" charset="0"/>
                <a:ea typeface="Courier New" pitchFamily="34" charset="-122"/>
                <a:cs typeface="Courier New" pitchFamily="34" charset="-120"/>
              </a:rPr>
              <a:t>data/gold/&lt;source&gt;/*.parquet</a:t>
            </a:r>
            <a:endParaRPr lang="en-US" sz="1600" dirty="0"/>
          </a:p>
        </p:txBody>
      </p:sp>
      <p:sp>
        <p:nvSpPr>
          <p:cNvPr id="8" name="Shape 6"/>
          <p:cNvSpPr/>
          <p:nvPr/>
        </p:nvSpPr>
        <p:spPr>
          <a:xfrm>
            <a:off x="3474720" y="1938528"/>
            <a:ext cx="0" cy="457200"/>
          </a:xfrm>
          <a:prstGeom prst="line">
            <a:avLst/>
          </a:prstGeom>
          <a:noFill/>
          <a:ln w="19050">
            <a:solidFill>
              <a:srgbClr val="315B4C"/>
            </a:solidFill>
            <a:prstDash val="solid"/>
            <a:tailEnd type="triangle"/>
          </a:ln>
        </p:spPr>
      </p:sp>
      <p:sp>
        <p:nvSpPr>
          <p:cNvPr id="9" name="Shape 7"/>
          <p:cNvSpPr/>
          <p:nvPr/>
        </p:nvSpPr>
        <p:spPr>
          <a:xfrm>
            <a:off x="1463040" y="2395728"/>
            <a:ext cx="4023360" cy="566928"/>
          </a:xfrm>
          <a:prstGeom prst="roundRect">
            <a:avLst>
              <a:gd name="adj" fmla="val 14516"/>
            </a:avLst>
          </a:prstGeom>
          <a:solidFill>
            <a:srgbClr val="DDD8FF"/>
          </a:solidFill>
          <a:ln w="12700">
            <a:solidFill>
              <a:srgbClr val="315B4C"/>
            </a:solidFill>
            <a:prstDash val="solid"/>
          </a:ln>
        </p:spPr>
      </p:sp>
      <p:sp>
        <p:nvSpPr>
          <p:cNvPr id="10" name="Text 8"/>
          <p:cNvSpPr txBox="1"/>
          <p:nvPr/>
        </p:nvSpPr>
        <p:spPr>
          <a:xfrm>
            <a:off x="1645920" y="2450592"/>
            <a:ext cx="3657600" cy="292608"/>
          </a:xfrm>
          <a:prstGeom prst="rect">
            <a:avLst/>
          </a:prstGeom>
          <a:noFill/>
          <a:ln/>
        </p:spPr>
        <p:txBody>
          <a:bodyPr wrap="square" lIns="0" tIns="0" rIns="0" bIns="0" rtlCol="0" anchor="ctr"/>
          <a:lstStyle/>
          <a:p>
            <a:pPr indent="0" marL="0">
              <a:buNone/>
            </a:pPr>
            <a:r>
              <a:rPr lang="en-US" sz="1800" b="1" dirty="0">
                <a:solidFill>
                  <a:srgbClr val="26352F"/>
                </a:solidFill>
                <a:latin typeface="Calibri" pitchFamily="34" charset="0"/>
                <a:ea typeface="Calibri" pitchFamily="34" charset="-122"/>
                <a:cs typeface="Calibri" pitchFamily="34" charset="-120"/>
              </a:rPr>
              <a:t>Glue Data Catalog</a:t>
            </a:r>
            <a:endParaRPr lang="en-US" sz="1800" dirty="0"/>
          </a:p>
        </p:txBody>
      </p:sp>
      <p:sp>
        <p:nvSpPr>
          <p:cNvPr id="11" name="Text 9"/>
          <p:cNvSpPr txBox="1"/>
          <p:nvPr/>
        </p:nvSpPr>
        <p:spPr>
          <a:xfrm>
            <a:off x="1645920" y="2724912"/>
            <a:ext cx="3657600" cy="219456"/>
          </a:xfrm>
          <a:prstGeom prst="rect">
            <a:avLst/>
          </a:prstGeom>
          <a:noFill/>
          <a:ln/>
        </p:spPr>
        <p:txBody>
          <a:bodyPr wrap="square" lIns="0" tIns="0" rIns="0" bIns="0" rtlCol="0" anchor="ctr"/>
          <a:lstStyle/>
          <a:p>
            <a:pPr indent="0" marL="0">
              <a:buNone/>
            </a:pPr>
            <a:r>
              <a:rPr lang="en-US" sz="1600" dirty="0">
                <a:solidFill>
                  <a:srgbClr val="3F4E47"/>
                </a:solidFill>
                <a:latin typeface="Courier New" pitchFamily="34" charset="0"/>
                <a:ea typeface="Courier New" pitchFamily="34" charset="-122"/>
                <a:cs typeface="Courier New" pitchFamily="34" charset="-120"/>
              </a:rPr>
              <a:t>procurement_gold · 3 tables</a:t>
            </a:r>
            <a:endParaRPr lang="en-US" sz="1600" dirty="0"/>
          </a:p>
        </p:txBody>
      </p:sp>
      <p:sp>
        <p:nvSpPr>
          <p:cNvPr id="12" name="Shape 10"/>
          <p:cNvSpPr/>
          <p:nvPr/>
        </p:nvSpPr>
        <p:spPr>
          <a:xfrm>
            <a:off x="3474720" y="2962656"/>
            <a:ext cx="0" cy="457200"/>
          </a:xfrm>
          <a:prstGeom prst="line">
            <a:avLst/>
          </a:prstGeom>
          <a:noFill/>
          <a:ln w="19050">
            <a:solidFill>
              <a:srgbClr val="315B4C"/>
            </a:solidFill>
            <a:prstDash val="solid"/>
            <a:tailEnd type="triangle"/>
          </a:ln>
        </p:spPr>
      </p:sp>
      <p:sp>
        <p:nvSpPr>
          <p:cNvPr id="13" name="Shape 11"/>
          <p:cNvSpPr/>
          <p:nvPr/>
        </p:nvSpPr>
        <p:spPr>
          <a:xfrm>
            <a:off x="1463040" y="3419856"/>
            <a:ext cx="4023360" cy="566928"/>
          </a:xfrm>
          <a:prstGeom prst="roundRect">
            <a:avLst>
              <a:gd name="adj" fmla="val 14516"/>
            </a:avLst>
          </a:prstGeom>
          <a:solidFill>
            <a:srgbClr val="FFD9B8"/>
          </a:solidFill>
          <a:ln w="12700">
            <a:solidFill>
              <a:srgbClr val="315B4C"/>
            </a:solidFill>
            <a:prstDash val="solid"/>
          </a:ln>
        </p:spPr>
      </p:sp>
      <p:sp>
        <p:nvSpPr>
          <p:cNvPr id="14" name="Text 12"/>
          <p:cNvSpPr txBox="1"/>
          <p:nvPr/>
        </p:nvSpPr>
        <p:spPr>
          <a:xfrm>
            <a:off x="1645920" y="3474720"/>
            <a:ext cx="3657600" cy="292608"/>
          </a:xfrm>
          <a:prstGeom prst="rect">
            <a:avLst/>
          </a:prstGeom>
          <a:noFill/>
          <a:ln/>
        </p:spPr>
        <p:txBody>
          <a:bodyPr wrap="square" lIns="0" tIns="0" rIns="0" bIns="0" rtlCol="0" anchor="ctr"/>
          <a:lstStyle/>
          <a:p>
            <a:pPr indent="0" marL="0">
              <a:buNone/>
            </a:pPr>
            <a:r>
              <a:rPr lang="en-US" sz="1800" b="1" dirty="0">
                <a:solidFill>
                  <a:srgbClr val="26352F"/>
                </a:solidFill>
                <a:latin typeface="Calibri" pitchFamily="34" charset="0"/>
                <a:ea typeface="Calibri" pitchFamily="34" charset="-122"/>
                <a:cs typeface="Calibri" pitchFamily="34" charset="-120"/>
              </a:rPr>
              <a:t>Athena Workgroup</a:t>
            </a:r>
            <a:endParaRPr lang="en-US" sz="1800" dirty="0"/>
          </a:p>
        </p:txBody>
      </p:sp>
      <p:sp>
        <p:nvSpPr>
          <p:cNvPr id="15" name="Text 13"/>
          <p:cNvSpPr txBox="1"/>
          <p:nvPr/>
        </p:nvSpPr>
        <p:spPr>
          <a:xfrm>
            <a:off x="1645920" y="3749040"/>
            <a:ext cx="3657600" cy="219456"/>
          </a:xfrm>
          <a:prstGeom prst="rect">
            <a:avLst/>
          </a:prstGeom>
          <a:noFill/>
          <a:ln/>
        </p:spPr>
        <p:txBody>
          <a:bodyPr wrap="square" lIns="0" tIns="0" rIns="0" bIns="0" rtlCol="0" anchor="ctr"/>
          <a:lstStyle/>
          <a:p>
            <a:pPr indent="0" marL="0">
              <a:buNone/>
            </a:pPr>
            <a:r>
              <a:rPr lang="en-US" sz="1600" dirty="0">
                <a:solidFill>
                  <a:srgbClr val="3F4E47"/>
                </a:solidFill>
                <a:latin typeface="Courier New" pitchFamily="34" charset="0"/>
                <a:ea typeface="Courier New" pitchFamily="34" charset="-122"/>
                <a:cs typeface="Courier New" pitchFamily="34" charset="-120"/>
              </a:rPr>
              <a:t>&lt;project&gt;-gold</a:t>
            </a:r>
            <a:endParaRPr lang="en-US" sz="1600" dirty="0"/>
          </a:p>
        </p:txBody>
      </p:sp>
      <p:sp>
        <p:nvSpPr>
          <p:cNvPr id="16" name="Shape 14"/>
          <p:cNvSpPr/>
          <p:nvPr/>
        </p:nvSpPr>
        <p:spPr>
          <a:xfrm>
            <a:off x="3474720" y="3986784"/>
            <a:ext cx="0" cy="457200"/>
          </a:xfrm>
          <a:prstGeom prst="line">
            <a:avLst/>
          </a:prstGeom>
          <a:noFill/>
          <a:ln w="19050">
            <a:solidFill>
              <a:srgbClr val="315B4C"/>
            </a:solidFill>
            <a:prstDash val="solid"/>
            <a:tailEnd type="triangle"/>
          </a:ln>
        </p:spPr>
      </p:sp>
      <p:sp>
        <p:nvSpPr>
          <p:cNvPr id="17" name="Shape 15"/>
          <p:cNvSpPr/>
          <p:nvPr/>
        </p:nvSpPr>
        <p:spPr>
          <a:xfrm>
            <a:off x="1463040" y="4443984"/>
            <a:ext cx="4023360" cy="566928"/>
          </a:xfrm>
          <a:prstGeom prst="roundRect">
            <a:avLst>
              <a:gd name="adj" fmla="val 14516"/>
            </a:avLst>
          </a:prstGeom>
          <a:solidFill>
            <a:srgbClr val="BFE6C8"/>
          </a:solidFill>
          <a:ln w="12700">
            <a:solidFill>
              <a:srgbClr val="315B4C"/>
            </a:solidFill>
            <a:prstDash val="solid"/>
          </a:ln>
        </p:spPr>
      </p:sp>
      <p:sp>
        <p:nvSpPr>
          <p:cNvPr id="18" name="Text 16"/>
          <p:cNvSpPr txBox="1"/>
          <p:nvPr/>
        </p:nvSpPr>
        <p:spPr>
          <a:xfrm>
            <a:off x="1645920" y="4498848"/>
            <a:ext cx="3657600" cy="292608"/>
          </a:xfrm>
          <a:prstGeom prst="rect">
            <a:avLst/>
          </a:prstGeom>
          <a:noFill/>
          <a:ln/>
        </p:spPr>
        <p:txBody>
          <a:bodyPr wrap="square" lIns="0" tIns="0" rIns="0" bIns="0" rtlCol="0" anchor="ctr"/>
          <a:lstStyle/>
          <a:p>
            <a:pPr indent="0" marL="0">
              <a:buNone/>
            </a:pPr>
            <a:r>
              <a:rPr lang="en-US" sz="1800" b="1" dirty="0">
                <a:solidFill>
                  <a:srgbClr val="26352F"/>
                </a:solidFill>
                <a:latin typeface="Calibri" pitchFamily="34" charset="0"/>
                <a:ea typeface="Calibri" pitchFamily="34" charset="-122"/>
                <a:cs typeface="Calibri" pitchFamily="34" charset="-120"/>
              </a:rPr>
              <a:t>Query results</a:t>
            </a:r>
            <a:endParaRPr lang="en-US" sz="1800" dirty="0"/>
          </a:p>
        </p:txBody>
      </p:sp>
      <p:sp>
        <p:nvSpPr>
          <p:cNvPr id="19" name="Text 17"/>
          <p:cNvSpPr txBox="1"/>
          <p:nvPr/>
        </p:nvSpPr>
        <p:spPr>
          <a:xfrm>
            <a:off x="1645920" y="4773168"/>
            <a:ext cx="3657600" cy="219456"/>
          </a:xfrm>
          <a:prstGeom prst="rect">
            <a:avLst/>
          </a:prstGeom>
          <a:noFill/>
          <a:ln/>
        </p:spPr>
        <p:txBody>
          <a:bodyPr wrap="square" lIns="0" tIns="0" rIns="0" bIns="0" rtlCol="0" anchor="ctr"/>
          <a:lstStyle/>
          <a:p>
            <a:pPr indent="0" marL="0">
              <a:buNone/>
            </a:pPr>
            <a:r>
              <a:rPr lang="en-US" sz="1600" dirty="0">
                <a:solidFill>
                  <a:srgbClr val="3F4E47"/>
                </a:solidFill>
                <a:latin typeface="Courier New" pitchFamily="34" charset="0"/>
                <a:ea typeface="Courier New" pitchFamily="34" charset="-122"/>
                <a:cs typeface="Courier New" pitchFamily="34" charset="-120"/>
              </a:rPr>
              <a:t>s3://&lt;bucket&gt;/athena-results/</a:t>
            </a:r>
            <a:endParaRPr lang="en-US" sz="1600" dirty="0"/>
          </a:p>
        </p:txBody>
      </p:sp>
      <p:sp>
        <p:nvSpPr>
          <p:cNvPr id="20" name="Text 18"/>
          <p:cNvSpPr txBox="1"/>
          <p:nvPr/>
        </p:nvSpPr>
        <p:spPr>
          <a:xfrm>
            <a:off x="1280160" y="5559552"/>
            <a:ext cx="4389120" cy="548640"/>
          </a:xfrm>
          <a:prstGeom prst="rect">
            <a:avLst/>
          </a:prstGeom>
          <a:noFill/>
          <a:ln/>
        </p:spPr>
        <p:txBody>
          <a:bodyPr wrap="square" lIns="0" tIns="0" rIns="0" bIns="0" rtlCol="0" anchor="ctr"/>
          <a:lstStyle/>
          <a:p>
            <a:pPr algn="ctr" indent="0" marL="0">
              <a:lnSpc>
                <a:spcPct val="110000"/>
              </a:lnSpc>
              <a:buNone/>
            </a:pPr>
            <a:r>
              <a:rPr lang="en-US" sz="1600" i="1" dirty="0">
                <a:solidFill>
                  <a:srgbClr val="56655D"/>
                </a:solidFill>
                <a:latin typeface="Calibri" pitchFamily="34" charset="0"/>
                <a:ea typeface="Calibri" pitchFamily="34" charset="-122"/>
                <a:cs typeface="Calibri" pitchFamily="34" charset="-120"/>
              </a:rPr>
              <a:t>Tables are defined explicitly in Terraform (glue.tf) — not discovered by a crawler.</a:t>
            </a:r>
            <a:endParaRPr lang="en-US" sz="1600" dirty="0"/>
          </a:p>
          <a:p>
            <a:pPr algn="ctr" indent="0" marL="0">
              <a:lnSpc>
                <a:spcPct val="110000"/>
              </a:lnSpc>
              <a:buNone/>
            </a:pPr>
            <a:r>
              <a:rPr lang="en-US" sz="1600" i="1" dirty="0">
                <a:solidFill>
                  <a:srgbClr val="56655D"/>
                </a:solidFill>
                <a:latin typeface="Calibri" pitchFamily="34" charset="0"/>
                <a:ea typeface="Calibri" pitchFamily="34" charset="-122"/>
                <a:cs typeface="Calibri" pitchFamily="34" charset="-120"/>
              </a:rPr>
              <a:t>Each Gold build already produces one fixed, documented schema.</a:t>
            </a:r>
            <a:endParaRPr lang="en-US" sz="1600" dirty="0"/>
          </a:p>
        </p:txBody>
      </p:sp>
      <p:sp>
        <p:nvSpPr>
          <p:cNvPr id="21" name="Shape 19"/>
          <p:cNvSpPr/>
          <p:nvPr/>
        </p:nvSpPr>
        <p:spPr>
          <a:xfrm>
            <a:off x="7772400" y="1371600"/>
            <a:ext cx="4023360" cy="658368"/>
          </a:xfrm>
          <a:prstGeom prst="roundRect">
            <a:avLst>
              <a:gd name="adj" fmla="val 13889"/>
            </a:avLst>
          </a:prstGeom>
          <a:solidFill>
            <a:srgbClr val="CFE8FF"/>
          </a:solidFill>
          <a:ln/>
        </p:spPr>
      </p:sp>
      <p:sp>
        <p:nvSpPr>
          <p:cNvPr id="22" name="Text 20"/>
          <p:cNvSpPr txBox="1"/>
          <p:nvPr/>
        </p:nvSpPr>
        <p:spPr>
          <a:xfrm>
            <a:off x="7936992" y="1444752"/>
            <a:ext cx="3694176" cy="237744"/>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EEA measurements</a:t>
            </a:r>
            <a:endParaRPr lang="en-US" sz="1600" dirty="0"/>
          </a:p>
        </p:txBody>
      </p:sp>
      <p:sp>
        <p:nvSpPr>
          <p:cNvPr id="23" name="Text 21"/>
          <p:cNvSpPr txBox="1"/>
          <p:nvPr/>
        </p:nvSpPr>
        <p:spPr>
          <a:xfrm>
            <a:off x="7936992" y="1700784"/>
            <a:ext cx="3694176" cy="256032"/>
          </a:xfrm>
          <a:prstGeom prst="rect">
            <a:avLst/>
          </a:prstGeom>
          <a:noFill/>
          <a:ln/>
        </p:spPr>
        <p:txBody>
          <a:bodyPr wrap="square" lIns="0" tIns="0" rIns="0" bIns="0" rtlCol="0" anchor="ctr"/>
          <a:lstStyle/>
          <a:p>
            <a:pPr indent="0" marL="0">
              <a:buNone/>
            </a:pPr>
            <a:r>
              <a:rPr lang="en-US" sz="1600" dirty="0">
                <a:solidFill>
                  <a:srgbClr val="3F4E47"/>
                </a:solidFill>
                <a:latin typeface="Courier New" pitchFamily="34" charset="0"/>
                <a:ea typeface="Courier New" pitchFamily="34" charset="-122"/>
                <a:cs typeface="Courier New" pitchFamily="34" charset="-120"/>
              </a:rPr>
              <a:t>eea_measurements</a:t>
            </a:r>
            <a:endParaRPr lang="en-US" sz="1600" dirty="0"/>
          </a:p>
        </p:txBody>
      </p:sp>
      <p:sp>
        <p:nvSpPr>
          <p:cNvPr id="24" name="Shape 22"/>
          <p:cNvSpPr/>
          <p:nvPr/>
        </p:nvSpPr>
        <p:spPr>
          <a:xfrm>
            <a:off x="7772400" y="2176272"/>
            <a:ext cx="4023360" cy="658368"/>
          </a:xfrm>
          <a:prstGeom prst="roundRect">
            <a:avLst>
              <a:gd name="adj" fmla="val 13889"/>
            </a:avLst>
          </a:prstGeom>
          <a:solidFill>
            <a:srgbClr val="FFF0B8"/>
          </a:solidFill>
          <a:ln/>
        </p:spPr>
      </p:sp>
      <p:sp>
        <p:nvSpPr>
          <p:cNvPr id="25" name="Text 23"/>
          <p:cNvSpPr txBox="1"/>
          <p:nvPr/>
        </p:nvSpPr>
        <p:spPr>
          <a:xfrm>
            <a:off x="7936992" y="2249424"/>
            <a:ext cx="3694176" cy="237744"/>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TED notices</a:t>
            </a:r>
            <a:endParaRPr lang="en-US" sz="1600" dirty="0"/>
          </a:p>
        </p:txBody>
      </p:sp>
      <p:sp>
        <p:nvSpPr>
          <p:cNvPr id="26" name="Text 24"/>
          <p:cNvSpPr txBox="1"/>
          <p:nvPr/>
        </p:nvSpPr>
        <p:spPr>
          <a:xfrm>
            <a:off x="7936992" y="2505456"/>
            <a:ext cx="3694176" cy="256032"/>
          </a:xfrm>
          <a:prstGeom prst="rect">
            <a:avLst/>
          </a:prstGeom>
          <a:noFill/>
          <a:ln/>
        </p:spPr>
        <p:txBody>
          <a:bodyPr wrap="square" lIns="0" tIns="0" rIns="0" bIns="0" rtlCol="0" anchor="ctr"/>
          <a:lstStyle/>
          <a:p>
            <a:pPr indent="0" marL="0">
              <a:buNone/>
            </a:pPr>
            <a:r>
              <a:rPr lang="en-US" sz="1600" dirty="0">
                <a:solidFill>
                  <a:srgbClr val="3F4E47"/>
                </a:solidFill>
                <a:latin typeface="Courier New" pitchFamily="34" charset="0"/>
                <a:ea typeface="Courier New" pitchFamily="34" charset="-122"/>
                <a:cs typeface="Courier New" pitchFamily="34" charset="-120"/>
              </a:rPr>
              <a:t>ted_notices</a:t>
            </a:r>
            <a:endParaRPr lang="en-US" sz="1600" dirty="0"/>
          </a:p>
        </p:txBody>
      </p:sp>
      <p:sp>
        <p:nvSpPr>
          <p:cNvPr id="27" name="Shape 25"/>
          <p:cNvSpPr/>
          <p:nvPr/>
        </p:nvSpPr>
        <p:spPr>
          <a:xfrm>
            <a:off x="7772400" y="2980944"/>
            <a:ext cx="4023360" cy="658368"/>
          </a:xfrm>
          <a:prstGeom prst="roundRect">
            <a:avLst>
              <a:gd name="adj" fmla="val 13889"/>
            </a:avLst>
          </a:prstGeom>
          <a:solidFill>
            <a:srgbClr val="D7F4DE"/>
          </a:solidFill>
          <a:ln/>
        </p:spPr>
      </p:sp>
      <p:sp>
        <p:nvSpPr>
          <p:cNvPr id="28" name="Text 26"/>
          <p:cNvSpPr txBox="1"/>
          <p:nvPr/>
        </p:nvSpPr>
        <p:spPr>
          <a:xfrm>
            <a:off x="7936992" y="3054096"/>
            <a:ext cx="3694176" cy="237744"/>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Eurostat agriculture accounts</a:t>
            </a:r>
            <a:endParaRPr lang="en-US" sz="1600" dirty="0"/>
          </a:p>
        </p:txBody>
      </p:sp>
      <p:sp>
        <p:nvSpPr>
          <p:cNvPr id="29" name="Text 27"/>
          <p:cNvSpPr txBox="1"/>
          <p:nvPr/>
        </p:nvSpPr>
        <p:spPr>
          <a:xfrm>
            <a:off x="7936992" y="3310128"/>
            <a:ext cx="3694176" cy="256032"/>
          </a:xfrm>
          <a:prstGeom prst="rect">
            <a:avLst/>
          </a:prstGeom>
          <a:noFill/>
          <a:ln/>
        </p:spPr>
        <p:txBody>
          <a:bodyPr wrap="square" lIns="0" tIns="0" rIns="0" bIns="0" rtlCol="0" anchor="ctr"/>
          <a:lstStyle/>
          <a:p>
            <a:pPr indent="0" marL="0">
              <a:buNone/>
            </a:pPr>
            <a:r>
              <a:rPr lang="en-US" sz="1600" dirty="0">
                <a:solidFill>
                  <a:srgbClr val="3F4E47"/>
                </a:solidFill>
                <a:latin typeface="Courier New" pitchFamily="34" charset="0"/>
                <a:ea typeface="Courier New" pitchFamily="34" charset="-122"/>
                <a:cs typeface="Courier New" pitchFamily="34" charset="-120"/>
              </a:rPr>
              <a:t>eurostat_agriculture_accounts</a:t>
            </a:r>
            <a:endParaRPr lang="en-US" sz="1600" dirty="0"/>
          </a:p>
        </p:txBody>
      </p:sp>
      <p:sp>
        <p:nvSpPr>
          <p:cNvPr id="30" name="Shape 28"/>
          <p:cNvSpPr/>
          <p:nvPr/>
        </p:nvSpPr>
        <p:spPr>
          <a:xfrm>
            <a:off x="7772400" y="3931920"/>
            <a:ext cx="91440" cy="91440"/>
          </a:xfrm>
          <a:prstGeom prst="ellipse">
            <a:avLst/>
          </a:prstGeom>
          <a:solidFill>
            <a:srgbClr val="8067A8"/>
          </a:solidFill>
          <a:ln/>
        </p:spPr>
      </p:sp>
      <p:sp>
        <p:nvSpPr>
          <p:cNvPr id="31" name="Text 29"/>
          <p:cNvSpPr txBox="1"/>
          <p:nvPr/>
        </p:nvSpPr>
        <p:spPr>
          <a:xfrm>
            <a:off x="7991856" y="3877056"/>
            <a:ext cx="3803904" cy="310896"/>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Glue stores schema, not data</a:t>
            </a:r>
            <a:endParaRPr lang="en-US" sz="1600" dirty="0"/>
          </a:p>
        </p:txBody>
      </p:sp>
      <p:sp>
        <p:nvSpPr>
          <p:cNvPr id="32" name="Shape 30"/>
          <p:cNvSpPr/>
          <p:nvPr/>
        </p:nvSpPr>
        <p:spPr>
          <a:xfrm>
            <a:off x="7772400" y="4315968"/>
            <a:ext cx="91440" cy="91440"/>
          </a:xfrm>
          <a:prstGeom prst="ellipse">
            <a:avLst/>
          </a:prstGeom>
          <a:solidFill>
            <a:srgbClr val="8067A8"/>
          </a:solidFill>
          <a:ln/>
        </p:spPr>
      </p:sp>
      <p:sp>
        <p:nvSpPr>
          <p:cNvPr id="33" name="Text 31"/>
          <p:cNvSpPr txBox="1"/>
          <p:nvPr/>
        </p:nvSpPr>
        <p:spPr>
          <a:xfrm>
            <a:off x="7991856" y="4261104"/>
            <a:ext cx="3803904" cy="310896"/>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Athena reads Parquet in place</a:t>
            </a:r>
            <a:endParaRPr lang="en-US" sz="1600" dirty="0"/>
          </a:p>
        </p:txBody>
      </p:sp>
      <p:sp>
        <p:nvSpPr>
          <p:cNvPr id="34" name="Shape 32"/>
          <p:cNvSpPr/>
          <p:nvPr/>
        </p:nvSpPr>
        <p:spPr>
          <a:xfrm>
            <a:off x="7772400" y="4700016"/>
            <a:ext cx="91440" cy="91440"/>
          </a:xfrm>
          <a:prstGeom prst="ellipse">
            <a:avLst/>
          </a:prstGeom>
          <a:solidFill>
            <a:srgbClr val="8067A8"/>
          </a:solidFill>
          <a:ln/>
        </p:spPr>
      </p:sp>
      <p:sp>
        <p:nvSpPr>
          <p:cNvPr id="35" name="Text 33"/>
          <p:cNvSpPr txBox="1"/>
          <p:nvPr/>
        </p:nvSpPr>
        <p:spPr>
          <a:xfrm>
            <a:off x="7991856" y="4645152"/>
            <a:ext cx="3803904" cy="310896"/>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Pay per data scanned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8067A8"/>
                </a:solidFill>
                <a:latin typeface="Courier New" pitchFamily="34" charset="0"/>
                <a:ea typeface="Courier New" pitchFamily="34" charset="-122"/>
                <a:cs typeface="Courier New" pitchFamily="34" charset="-120"/>
              </a:rPr>
              <a:t>12</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Local Metabase Queries Athena</a:t>
            </a:r>
            <a:endParaRPr lang="en-US" sz="3500" dirty="0"/>
          </a:p>
        </p:txBody>
      </p:sp>
      <p:sp>
        <p:nvSpPr>
          <p:cNvPr id="5" name="Shape 3"/>
          <p:cNvSpPr/>
          <p:nvPr/>
        </p:nvSpPr>
        <p:spPr>
          <a:xfrm>
            <a:off x="365760" y="1298448"/>
            <a:ext cx="4937760" cy="512064"/>
          </a:xfrm>
          <a:prstGeom prst="roundRect">
            <a:avLst>
              <a:gd name="adj" fmla="val 16071"/>
            </a:avLst>
          </a:prstGeom>
          <a:solidFill>
            <a:srgbClr val="DDD8FF"/>
          </a:solidFill>
          <a:ln w="12700">
            <a:solidFill>
              <a:srgbClr val="315B4C"/>
            </a:solidFill>
            <a:prstDash val="solid"/>
          </a:ln>
        </p:spPr>
      </p:sp>
      <p:sp>
        <p:nvSpPr>
          <p:cNvPr id="6" name="Text 4"/>
          <p:cNvSpPr txBox="1"/>
          <p:nvPr/>
        </p:nvSpPr>
        <p:spPr>
          <a:xfrm>
            <a:off x="530352" y="1344168"/>
            <a:ext cx="4608576" cy="274320"/>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Local Metabase container</a:t>
            </a:r>
            <a:endParaRPr lang="en-US" sz="1700" dirty="0"/>
          </a:p>
        </p:txBody>
      </p:sp>
      <p:sp>
        <p:nvSpPr>
          <p:cNvPr id="7" name="Text 5"/>
          <p:cNvSpPr txBox="1"/>
          <p:nvPr/>
        </p:nvSpPr>
        <p:spPr>
          <a:xfrm>
            <a:off x="530352" y="1591056"/>
            <a:ext cx="4608576" cy="201168"/>
          </a:xfrm>
          <a:prstGeom prst="rect">
            <a:avLst/>
          </a:prstGeom>
          <a:noFill/>
          <a:ln/>
        </p:spPr>
        <p:txBody>
          <a:bodyPr wrap="square" lIns="0" tIns="0" rIns="0" bIns="0" rtlCol="0" anchor="ctr"/>
          <a:lstStyle/>
          <a:p>
            <a:pPr indent="0" marL="0">
              <a:buNone/>
            </a:pPr>
            <a:r>
              <a:rPr lang="en-US" sz="1600" dirty="0">
                <a:solidFill>
                  <a:srgbClr val="3F4E47"/>
                </a:solidFill>
                <a:latin typeface="Courier New" pitchFamily="34" charset="0"/>
                <a:ea typeface="Courier New" pitchFamily="34" charset="-122"/>
                <a:cs typeface="Courier New" pitchFamily="34" charset="-120"/>
              </a:rPr>
              <a:t>http://localhost:3000</a:t>
            </a:r>
            <a:endParaRPr lang="en-US" sz="1600" dirty="0"/>
          </a:p>
        </p:txBody>
      </p:sp>
      <p:sp>
        <p:nvSpPr>
          <p:cNvPr id="8" name="Shape 6"/>
          <p:cNvSpPr/>
          <p:nvPr/>
        </p:nvSpPr>
        <p:spPr>
          <a:xfrm>
            <a:off x="621792" y="1810512"/>
            <a:ext cx="0" cy="384048"/>
          </a:xfrm>
          <a:prstGeom prst="line">
            <a:avLst/>
          </a:prstGeom>
          <a:noFill/>
          <a:ln w="19050">
            <a:solidFill>
              <a:srgbClr val="315B4C"/>
            </a:solidFill>
            <a:prstDash val="solid"/>
            <a:tailEnd type="triangle"/>
          </a:ln>
        </p:spPr>
      </p:sp>
      <p:sp>
        <p:nvSpPr>
          <p:cNvPr id="9" name="Shape 7"/>
          <p:cNvSpPr/>
          <p:nvPr/>
        </p:nvSpPr>
        <p:spPr>
          <a:xfrm>
            <a:off x="365760" y="2194560"/>
            <a:ext cx="4937760" cy="512064"/>
          </a:xfrm>
          <a:prstGeom prst="roundRect">
            <a:avLst>
              <a:gd name="adj" fmla="val 16071"/>
            </a:avLst>
          </a:prstGeom>
          <a:solidFill>
            <a:srgbClr val="FFD9B8"/>
          </a:solidFill>
          <a:ln w="12700">
            <a:solidFill>
              <a:srgbClr val="315B4C"/>
            </a:solidFill>
            <a:prstDash val="solid"/>
          </a:ln>
        </p:spPr>
      </p:sp>
      <p:sp>
        <p:nvSpPr>
          <p:cNvPr id="10" name="Text 8"/>
          <p:cNvSpPr txBox="1"/>
          <p:nvPr/>
        </p:nvSpPr>
        <p:spPr>
          <a:xfrm>
            <a:off x="530352" y="2240280"/>
            <a:ext cx="4608576" cy="274320"/>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Athena workgroup</a:t>
            </a:r>
            <a:endParaRPr lang="en-US" sz="1700" dirty="0"/>
          </a:p>
        </p:txBody>
      </p:sp>
      <p:sp>
        <p:nvSpPr>
          <p:cNvPr id="11" name="Text 9"/>
          <p:cNvSpPr txBox="1"/>
          <p:nvPr/>
        </p:nvSpPr>
        <p:spPr>
          <a:xfrm>
            <a:off x="530352" y="2487168"/>
            <a:ext cx="4608576" cy="201168"/>
          </a:xfrm>
          <a:prstGeom prst="rect">
            <a:avLst/>
          </a:prstGeom>
          <a:noFill/>
          <a:ln/>
        </p:spPr>
        <p:txBody>
          <a:bodyPr wrap="square" lIns="0" tIns="0" rIns="0" bIns="0" rtlCol="0" anchor="ctr"/>
          <a:lstStyle/>
          <a:p>
            <a:pPr indent="0" marL="0">
              <a:buNone/>
            </a:pPr>
            <a:r>
              <a:rPr lang="en-US" sz="1600" dirty="0">
                <a:solidFill>
                  <a:srgbClr val="3F4E47"/>
                </a:solidFill>
                <a:latin typeface="Courier New" pitchFamily="34" charset="0"/>
                <a:ea typeface="Courier New" pitchFamily="34" charset="-122"/>
                <a:cs typeface="Courier New" pitchFamily="34" charset="-120"/>
              </a:rPr>
              <a:t>Amazon Athena driver</a:t>
            </a:r>
            <a:endParaRPr lang="en-US" sz="1600" dirty="0"/>
          </a:p>
        </p:txBody>
      </p:sp>
      <p:sp>
        <p:nvSpPr>
          <p:cNvPr id="12" name="Shape 10"/>
          <p:cNvSpPr/>
          <p:nvPr/>
        </p:nvSpPr>
        <p:spPr>
          <a:xfrm>
            <a:off x="621792" y="2706624"/>
            <a:ext cx="0" cy="384048"/>
          </a:xfrm>
          <a:prstGeom prst="line">
            <a:avLst/>
          </a:prstGeom>
          <a:noFill/>
          <a:ln w="19050">
            <a:solidFill>
              <a:srgbClr val="315B4C"/>
            </a:solidFill>
            <a:prstDash val="solid"/>
            <a:tailEnd type="triangle"/>
          </a:ln>
        </p:spPr>
      </p:sp>
      <p:sp>
        <p:nvSpPr>
          <p:cNvPr id="13" name="Shape 11"/>
          <p:cNvSpPr/>
          <p:nvPr/>
        </p:nvSpPr>
        <p:spPr>
          <a:xfrm>
            <a:off x="365760" y="3090672"/>
            <a:ext cx="4937760" cy="512064"/>
          </a:xfrm>
          <a:prstGeom prst="roundRect">
            <a:avLst>
              <a:gd name="adj" fmla="val 16071"/>
            </a:avLst>
          </a:prstGeom>
          <a:solidFill>
            <a:srgbClr val="E8E5DF"/>
          </a:solidFill>
          <a:ln w="12700">
            <a:solidFill>
              <a:srgbClr val="315B4C"/>
            </a:solidFill>
            <a:prstDash val="solid"/>
          </a:ln>
        </p:spPr>
      </p:sp>
      <p:sp>
        <p:nvSpPr>
          <p:cNvPr id="14" name="Text 12"/>
          <p:cNvSpPr txBox="1"/>
          <p:nvPr/>
        </p:nvSpPr>
        <p:spPr>
          <a:xfrm>
            <a:off x="530352" y="3136392"/>
            <a:ext cx="4608576" cy="274320"/>
          </a:xfrm>
          <a:prstGeom prst="rect">
            <a:avLst/>
          </a:prstGeom>
          <a:noFill/>
          <a:ln/>
        </p:spPr>
        <p:txBody>
          <a:bodyPr wrap="square" lIns="0" tIns="0" rIns="0" bIns="0" rtlCol="0" anchor="ctr"/>
          <a:lstStyle/>
          <a:p>
            <a:pPr indent="0" marL="0">
              <a:buNone/>
            </a:pPr>
            <a:r>
              <a:rPr lang="en-US" sz="1700" b="1" dirty="0">
                <a:solidFill>
                  <a:srgbClr val="26352F"/>
                </a:solidFill>
                <a:latin typeface="Calibri" pitchFamily="34" charset="0"/>
                <a:ea typeface="Calibri" pitchFamily="34" charset="-122"/>
                <a:cs typeface="Calibri" pitchFamily="34" charset="-120"/>
              </a:rPr>
              <a:t>Gold Parquet in S3</a:t>
            </a:r>
            <a:endParaRPr lang="en-US" sz="1700" dirty="0"/>
          </a:p>
        </p:txBody>
      </p:sp>
      <p:sp>
        <p:nvSpPr>
          <p:cNvPr id="15" name="Text 13"/>
          <p:cNvSpPr txBox="1"/>
          <p:nvPr/>
        </p:nvSpPr>
        <p:spPr>
          <a:xfrm>
            <a:off x="530352" y="3383280"/>
            <a:ext cx="4608576" cy="201168"/>
          </a:xfrm>
          <a:prstGeom prst="rect">
            <a:avLst/>
          </a:prstGeom>
          <a:noFill/>
          <a:ln/>
        </p:spPr>
        <p:txBody>
          <a:bodyPr wrap="square" lIns="0" tIns="0" rIns="0" bIns="0" rtlCol="0" anchor="ctr"/>
          <a:lstStyle/>
          <a:p>
            <a:pPr indent="0" marL="0">
              <a:buNone/>
            </a:pPr>
            <a:r>
              <a:rPr lang="en-US" sz="1600" dirty="0">
                <a:solidFill>
                  <a:srgbClr val="3F4E47"/>
                </a:solidFill>
                <a:latin typeface="Courier New" pitchFamily="34" charset="0"/>
                <a:ea typeface="Courier New" pitchFamily="34" charset="-122"/>
                <a:cs typeface="Courier New" pitchFamily="34" charset="-120"/>
              </a:rPr>
              <a:t>via Glue table schema</a:t>
            </a:r>
            <a:endParaRPr lang="en-US" sz="1600" dirty="0"/>
          </a:p>
        </p:txBody>
      </p:sp>
      <p:sp>
        <p:nvSpPr>
          <p:cNvPr id="16" name="Shape 14"/>
          <p:cNvSpPr/>
          <p:nvPr/>
        </p:nvSpPr>
        <p:spPr>
          <a:xfrm>
            <a:off x="365760" y="4041648"/>
            <a:ext cx="4937760" cy="822960"/>
          </a:xfrm>
          <a:prstGeom prst="roundRect">
            <a:avLst>
              <a:gd name="adj" fmla="val 11111"/>
            </a:avLst>
          </a:prstGeom>
          <a:solidFill>
            <a:srgbClr val="D9C7F2"/>
          </a:solidFill>
          <a:ln/>
        </p:spPr>
      </p:sp>
      <p:sp>
        <p:nvSpPr>
          <p:cNvPr id="17" name="Text 15"/>
          <p:cNvSpPr txBox="1"/>
          <p:nvPr/>
        </p:nvSpPr>
        <p:spPr>
          <a:xfrm>
            <a:off x="548640" y="4114800"/>
            <a:ext cx="4572000" cy="676656"/>
          </a:xfrm>
          <a:prstGeom prst="rect">
            <a:avLst/>
          </a:prstGeom>
          <a:noFill/>
          <a:ln/>
        </p:spPr>
        <p:txBody>
          <a:bodyPr wrap="square" lIns="0" tIns="0" rIns="0" bIns="0" rtlCol="0" anchor="ctr"/>
          <a:lstStyle/>
          <a:p>
            <a:pPr indent="0" marL="0">
              <a:lnSpc>
                <a:spcPct val="115000"/>
              </a:lnSpc>
              <a:buNone/>
            </a:pPr>
            <a:r>
              <a:rPr lang="en-US" sz="1600" b="1" dirty="0">
                <a:solidFill>
                  <a:srgbClr val="26352F"/>
                </a:solidFill>
                <a:latin typeface="Calibri" pitchFamily="34" charset="0"/>
                <a:ea typeface="Calibri" pitchFamily="34" charset="-122"/>
                <a:cs typeface="Calibri" pitchFamily="34" charset="-120"/>
              </a:rPr>
              <a:t>Local AWS CLI / SSO profile</a:t>
            </a:r>
            <a:endParaRPr lang="en-US" sz="1600" dirty="0"/>
          </a:p>
          <a:p>
            <a:pPr indent="0" marL="0">
              <a:lnSpc>
                <a:spcPct val="115000"/>
              </a:lnSpc>
              <a:buNone/>
            </a:pPr>
            <a:r>
              <a:rPr lang="en-US" sz="1600" b="1" dirty="0">
                <a:solidFill>
                  <a:srgbClr val="26352F"/>
                </a:solidFill>
                <a:latin typeface="Calibri" pitchFamily="34" charset="0"/>
                <a:ea typeface="Calibri" pitchFamily="34" charset="-122"/>
                <a:cs typeface="Calibri" pitchFamily="34" charset="-120"/>
              </a:rPr>
              <a:t>→ mounted read-only</a:t>
            </a:r>
            <a:endParaRPr lang="en-US" sz="1600" dirty="0"/>
          </a:p>
          <a:p>
            <a:pPr indent="0" marL="0">
              <a:lnSpc>
                <a:spcPct val="115000"/>
              </a:lnSpc>
              <a:buNone/>
            </a:pPr>
            <a:r>
              <a:rPr lang="en-US" sz="1600" b="1" dirty="0">
                <a:solidFill>
                  <a:srgbClr val="26352F"/>
                </a:solidFill>
                <a:latin typeface="Calibri" pitchFamily="34" charset="0"/>
                <a:ea typeface="Calibri" pitchFamily="34" charset="-122"/>
                <a:cs typeface="Calibri" pitchFamily="34" charset="-120"/>
              </a:rPr>
              <a:t>→ AWS credentials provider chain</a:t>
            </a:r>
            <a:endParaRPr lang="en-US" sz="1600" dirty="0"/>
          </a:p>
        </p:txBody>
      </p:sp>
      <p:sp>
        <p:nvSpPr>
          <p:cNvPr id="18" name="Text 16"/>
          <p:cNvSpPr txBox="1"/>
          <p:nvPr/>
        </p:nvSpPr>
        <p:spPr>
          <a:xfrm>
            <a:off x="365760" y="5047488"/>
            <a:ext cx="4937760" cy="237744"/>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Started manually · stopped manually</a:t>
            </a:r>
            <a:endParaRPr lang="en-US" sz="1600" dirty="0"/>
          </a:p>
        </p:txBody>
      </p:sp>
      <p:sp>
        <p:nvSpPr>
          <p:cNvPr id="19" name="Text 17"/>
          <p:cNvSpPr txBox="1"/>
          <p:nvPr/>
        </p:nvSpPr>
        <p:spPr>
          <a:xfrm>
            <a:off x="365760" y="5294376"/>
            <a:ext cx="4937760" cy="237744"/>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No public endpoint</a:t>
            </a:r>
            <a:endParaRPr lang="en-US" sz="1600" dirty="0"/>
          </a:p>
        </p:txBody>
      </p:sp>
      <p:sp>
        <p:nvSpPr>
          <p:cNvPr id="20" name="Text 18"/>
          <p:cNvSpPr txBox="1"/>
          <p:nvPr/>
        </p:nvSpPr>
        <p:spPr>
          <a:xfrm>
            <a:off x="365760" y="5541264"/>
            <a:ext cx="4937760" cy="237744"/>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Dashboard state in Docker volume</a:t>
            </a:r>
            <a:endParaRPr lang="en-US" sz="1600" dirty="0"/>
          </a:p>
        </p:txBody>
      </p:sp>
      <p:sp>
        <p:nvSpPr>
          <p:cNvPr id="21" name="Text 19"/>
          <p:cNvSpPr txBox="1"/>
          <p:nvPr/>
        </p:nvSpPr>
        <p:spPr>
          <a:xfrm>
            <a:off x="365760" y="5788152"/>
            <a:ext cx="4937760" cy="237744"/>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Gold data remains in S3</a:t>
            </a:r>
            <a:endParaRPr lang="en-US" sz="1600" dirty="0"/>
          </a:p>
        </p:txBody>
      </p:sp>
      <p:sp>
        <p:nvSpPr>
          <p:cNvPr id="22" name="Shape 20"/>
          <p:cNvSpPr/>
          <p:nvPr/>
        </p:nvSpPr>
        <p:spPr>
          <a:xfrm>
            <a:off x="5623560" y="1298448"/>
            <a:ext cx="6172200" cy="4663440"/>
          </a:xfrm>
          <a:prstGeom prst="roundRect">
            <a:avLst>
              <a:gd name="adj" fmla="val 2353"/>
            </a:avLst>
          </a:prstGeom>
          <a:solidFill>
            <a:srgbClr val="FFFFFF"/>
          </a:solidFill>
          <a:ln w="12700">
            <a:solidFill>
              <a:srgbClr val="D8D3C6"/>
            </a:solidFill>
            <a:prstDash val="solid"/>
          </a:ln>
          <a:effectLst>
            <a:outerShdw sx="100000" sy="100000" kx="0" ky="0" algn="bl" rotWithShape="0" blurRad="76200" dist="25400" dir="5400000">
              <a:srgbClr val="999999">
                <a:alpha val="15000"/>
              </a:srgbClr>
            </a:outerShdw>
          </a:effectLst>
        </p:spPr>
      </p:sp>
      <p:sp>
        <p:nvSpPr>
          <p:cNvPr id="23" name="Shape 21"/>
          <p:cNvSpPr/>
          <p:nvPr/>
        </p:nvSpPr>
        <p:spPr>
          <a:xfrm>
            <a:off x="5843016" y="1481328"/>
            <a:ext cx="2468880" cy="365760"/>
          </a:xfrm>
          <a:prstGeom prst="roundRect">
            <a:avLst>
              <a:gd name="adj" fmla="val 50000"/>
            </a:avLst>
          </a:prstGeom>
          <a:solidFill>
            <a:srgbClr val="E8E5DF"/>
          </a:solidFill>
          <a:ln w="9525">
            <a:solidFill>
              <a:srgbClr val="D8D3C6"/>
            </a:solidFill>
            <a:prstDash val="solid"/>
          </a:ln>
        </p:spPr>
      </p:sp>
      <p:sp>
        <p:nvSpPr>
          <p:cNvPr id="24" name="Text 22"/>
          <p:cNvSpPr txBox="1"/>
          <p:nvPr/>
        </p:nvSpPr>
        <p:spPr>
          <a:xfrm>
            <a:off x="6007608" y="1481328"/>
            <a:ext cx="2194560" cy="365760"/>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Country:  DE | PL</a:t>
            </a:r>
            <a:endParaRPr lang="en-US" sz="1600" dirty="0"/>
          </a:p>
        </p:txBody>
      </p:sp>
      <p:sp>
        <p:nvSpPr>
          <p:cNvPr id="25" name="Shape 23"/>
          <p:cNvSpPr/>
          <p:nvPr/>
        </p:nvSpPr>
        <p:spPr>
          <a:xfrm>
            <a:off x="5843016" y="2029968"/>
            <a:ext cx="2756916" cy="1636776"/>
          </a:xfrm>
          <a:prstGeom prst="roundRect">
            <a:avLst>
              <a:gd name="adj" fmla="val 4469"/>
            </a:avLst>
          </a:prstGeom>
          <a:solidFill>
            <a:srgbClr val="F7F4EC"/>
          </a:solidFill>
          <a:ln w="12700">
            <a:solidFill>
              <a:srgbClr val="E3DFD3"/>
            </a:solidFill>
            <a:prstDash val="solid"/>
          </a:ln>
        </p:spPr>
      </p:sp>
      <p:sp>
        <p:nvSpPr>
          <p:cNvPr id="26" name="Text 24"/>
          <p:cNvSpPr txBox="1"/>
          <p:nvPr/>
        </p:nvSpPr>
        <p:spPr>
          <a:xfrm>
            <a:off x="5971032" y="2103120"/>
            <a:ext cx="2500884" cy="219456"/>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Air quality by month · pollutant</a:t>
            </a:r>
            <a:endParaRPr lang="en-US" sz="1600" dirty="0"/>
          </a:p>
        </p:txBody>
      </p:sp>
      <p:sp>
        <p:nvSpPr>
          <p:cNvPr id="27" name="Shape 25"/>
          <p:cNvSpPr/>
          <p:nvPr/>
        </p:nvSpPr>
        <p:spPr>
          <a:xfrm>
            <a:off x="6117336" y="3054096"/>
            <a:ext cx="201168" cy="411480"/>
          </a:xfrm>
          <a:prstGeom prst="rect">
            <a:avLst/>
          </a:prstGeom>
          <a:solidFill>
            <a:srgbClr val="CFE8FF"/>
          </a:solidFill>
          <a:ln/>
        </p:spPr>
      </p:sp>
      <p:sp>
        <p:nvSpPr>
          <p:cNvPr id="28" name="Shape 26"/>
          <p:cNvSpPr/>
          <p:nvPr/>
        </p:nvSpPr>
        <p:spPr>
          <a:xfrm>
            <a:off x="6409944" y="2807208"/>
            <a:ext cx="201168" cy="658368"/>
          </a:xfrm>
          <a:prstGeom prst="rect">
            <a:avLst/>
          </a:prstGeom>
          <a:solidFill>
            <a:srgbClr val="CFE8FF"/>
          </a:solidFill>
          <a:ln/>
        </p:spPr>
      </p:sp>
      <p:sp>
        <p:nvSpPr>
          <p:cNvPr id="29" name="Shape 27"/>
          <p:cNvSpPr/>
          <p:nvPr/>
        </p:nvSpPr>
        <p:spPr>
          <a:xfrm>
            <a:off x="6702552" y="2930652"/>
            <a:ext cx="201168" cy="534924"/>
          </a:xfrm>
          <a:prstGeom prst="rect">
            <a:avLst/>
          </a:prstGeom>
          <a:solidFill>
            <a:srgbClr val="CFE8FF"/>
          </a:solidFill>
          <a:ln/>
        </p:spPr>
      </p:sp>
      <p:sp>
        <p:nvSpPr>
          <p:cNvPr id="30" name="Shape 28"/>
          <p:cNvSpPr/>
          <p:nvPr/>
        </p:nvSpPr>
        <p:spPr>
          <a:xfrm>
            <a:off x="6995160" y="2642616"/>
            <a:ext cx="201168" cy="822960"/>
          </a:xfrm>
          <a:prstGeom prst="rect">
            <a:avLst/>
          </a:prstGeom>
          <a:solidFill>
            <a:srgbClr val="CFE8FF"/>
          </a:solidFill>
          <a:ln/>
        </p:spPr>
      </p:sp>
      <p:sp>
        <p:nvSpPr>
          <p:cNvPr id="31" name="Shape 29"/>
          <p:cNvSpPr/>
          <p:nvPr/>
        </p:nvSpPr>
        <p:spPr>
          <a:xfrm>
            <a:off x="7287768" y="2889504"/>
            <a:ext cx="201168" cy="576072"/>
          </a:xfrm>
          <a:prstGeom prst="rect">
            <a:avLst/>
          </a:prstGeom>
          <a:solidFill>
            <a:srgbClr val="CFE8FF"/>
          </a:solidFill>
          <a:ln/>
        </p:spPr>
      </p:sp>
      <p:sp>
        <p:nvSpPr>
          <p:cNvPr id="32" name="Shape 30"/>
          <p:cNvSpPr/>
          <p:nvPr/>
        </p:nvSpPr>
        <p:spPr>
          <a:xfrm>
            <a:off x="7580376" y="2724912"/>
            <a:ext cx="201168" cy="740664"/>
          </a:xfrm>
          <a:prstGeom prst="rect">
            <a:avLst/>
          </a:prstGeom>
          <a:solidFill>
            <a:srgbClr val="CFE8FF"/>
          </a:solidFill>
          <a:ln/>
        </p:spPr>
      </p:sp>
      <p:sp>
        <p:nvSpPr>
          <p:cNvPr id="33" name="Shape 31"/>
          <p:cNvSpPr/>
          <p:nvPr/>
        </p:nvSpPr>
        <p:spPr>
          <a:xfrm>
            <a:off x="8819388" y="2029968"/>
            <a:ext cx="2756916" cy="1636776"/>
          </a:xfrm>
          <a:prstGeom prst="roundRect">
            <a:avLst>
              <a:gd name="adj" fmla="val 4469"/>
            </a:avLst>
          </a:prstGeom>
          <a:solidFill>
            <a:srgbClr val="F7F4EC"/>
          </a:solidFill>
          <a:ln w="12700">
            <a:solidFill>
              <a:srgbClr val="E3DFD3"/>
            </a:solidFill>
            <a:prstDash val="solid"/>
          </a:ln>
        </p:spPr>
      </p:sp>
      <p:sp>
        <p:nvSpPr>
          <p:cNvPr id="34" name="Text 32"/>
          <p:cNvSpPr txBox="1"/>
          <p:nvPr/>
        </p:nvSpPr>
        <p:spPr>
          <a:xfrm>
            <a:off x="8947404" y="2103120"/>
            <a:ext cx="2500884" cy="219456"/>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Tender count by month</a:t>
            </a:r>
            <a:endParaRPr lang="en-US" sz="1600" dirty="0"/>
          </a:p>
        </p:txBody>
      </p:sp>
      <p:sp>
        <p:nvSpPr>
          <p:cNvPr id="35" name="Shape 33"/>
          <p:cNvSpPr/>
          <p:nvPr/>
        </p:nvSpPr>
        <p:spPr>
          <a:xfrm>
            <a:off x="9093708" y="3035808"/>
            <a:ext cx="548640" cy="-182880"/>
          </a:xfrm>
          <a:prstGeom prst="line">
            <a:avLst/>
          </a:prstGeom>
          <a:noFill/>
          <a:ln w="31750">
            <a:solidFill>
              <a:srgbClr val="8A6D1D"/>
            </a:solidFill>
            <a:prstDash val="solid"/>
          </a:ln>
        </p:spPr>
      </p:sp>
      <p:sp>
        <p:nvSpPr>
          <p:cNvPr id="36" name="Shape 34"/>
          <p:cNvSpPr/>
          <p:nvPr/>
        </p:nvSpPr>
        <p:spPr>
          <a:xfrm>
            <a:off x="9642348" y="2852928"/>
            <a:ext cx="548640" cy="274320"/>
          </a:xfrm>
          <a:prstGeom prst="line">
            <a:avLst/>
          </a:prstGeom>
          <a:noFill/>
          <a:ln w="31750">
            <a:solidFill>
              <a:srgbClr val="8A6D1D"/>
            </a:solidFill>
            <a:prstDash val="solid"/>
          </a:ln>
        </p:spPr>
      </p:sp>
      <p:sp>
        <p:nvSpPr>
          <p:cNvPr id="37" name="Shape 35"/>
          <p:cNvSpPr/>
          <p:nvPr/>
        </p:nvSpPr>
        <p:spPr>
          <a:xfrm>
            <a:off x="10190988" y="3127248"/>
            <a:ext cx="548640" cy="-365760"/>
          </a:xfrm>
          <a:prstGeom prst="line">
            <a:avLst/>
          </a:prstGeom>
          <a:noFill/>
          <a:ln w="31750">
            <a:solidFill>
              <a:srgbClr val="8A6D1D"/>
            </a:solidFill>
            <a:prstDash val="solid"/>
          </a:ln>
        </p:spPr>
      </p:sp>
      <p:sp>
        <p:nvSpPr>
          <p:cNvPr id="38" name="Shape 36"/>
          <p:cNvSpPr/>
          <p:nvPr/>
        </p:nvSpPr>
        <p:spPr>
          <a:xfrm>
            <a:off x="10739628" y="2761488"/>
            <a:ext cx="548640" cy="228600"/>
          </a:xfrm>
          <a:prstGeom prst="line">
            <a:avLst/>
          </a:prstGeom>
          <a:noFill/>
          <a:ln w="31750">
            <a:solidFill>
              <a:srgbClr val="8A6D1D"/>
            </a:solidFill>
            <a:prstDash val="solid"/>
          </a:ln>
        </p:spPr>
      </p:sp>
      <p:sp>
        <p:nvSpPr>
          <p:cNvPr id="39" name="Shape 37"/>
          <p:cNvSpPr/>
          <p:nvPr/>
        </p:nvSpPr>
        <p:spPr>
          <a:xfrm>
            <a:off x="5843016" y="3886200"/>
            <a:ext cx="2756916" cy="1636776"/>
          </a:xfrm>
          <a:prstGeom prst="roundRect">
            <a:avLst>
              <a:gd name="adj" fmla="val 4469"/>
            </a:avLst>
          </a:prstGeom>
          <a:solidFill>
            <a:srgbClr val="F7F4EC"/>
          </a:solidFill>
          <a:ln w="12700">
            <a:solidFill>
              <a:srgbClr val="E3DFD3"/>
            </a:solidFill>
            <a:prstDash val="solid"/>
          </a:ln>
        </p:spPr>
      </p:sp>
      <p:sp>
        <p:nvSpPr>
          <p:cNvPr id="40" name="Text 38"/>
          <p:cNvSpPr txBox="1"/>
          <p:nvPr/>
        </p:nvSpPr>
        <p:spPr>
          <a:xfrm>
            <a:off x="5971032" y="3959352"/>
            <a:ext cx="2500884" cy="219456"/>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Procurement value by month</a:t>
            </a:r>
            <a:endParaRPr lang="en-US" sz="1600" dirty="0"/>
          </a:p>
        </p:txBody>
      </p:sp>
      <p:sp>
        <p:nvSpPr>
          <p:cNvPr id="41" name="Shape 39"/>
          <p:cNvSpPr/>
          <p:nvPr/>
        </p:nvSpPr>
        <p:spPr>
          <a:xfrm>
            <a:off x="6117336" y="4992624"/>
            <a:ext cx="201168" cy="329184"/>
          </a:xfrm>
          <a:prstGeom prst="rect">
            <a:avLst/>
          </a:prstGeom>
          <a:solidFill>
            <a:srgbClr val="E8BE5C"/>
          </a:solidFill>
          <a:ln/>
        </p:spPr>
      </p:sp>
      <p:sp>
        <p:nvSpPr>
          <p:cNvPr id="42" name="Shape 40"/>
          <p:cNvSpPr/>
          <p:nvPr/>
        </p:nvSpPr>
        <p:spPr>
          <a:xfrm>
            <a:off x="6409944" y="4869180"/>
            <a:ext cx="201168" cy="452628"/>
          </a:xfrm>
          <a:prstGeom prst="rect">
            <a:avLst/>
          </a:prstGeom>
          <a:solidFill>
            <a:srgbClr val="E8BE5C"/>
          </a:solidFill>
          <a:ln/>
        </p:spPr>
      </p:sp>
      <p:sp>
        <p:nvSpPr>
          <p:cNvPr id="43" name="Shape 41"/>
          <p:cNvSpPr/>
          <p:nvPr/>
        </p:nvSpPr>
        <p:spPr>
          <a:xfrm>
            <a:off x="6702552" y="4581144"/>
            <a:ext cx="201168" cy="740664"/>
          </a:xfrm>
          <a:prstGeom prst="rect">
            <a:avLst/>
          </a:prstGeom>
          <a:solidFill>
            <a:srgbClr val="E8BE5C"/>
          </a:solidFill>
          <a:ln/>
        </p:spPr>
      </p:sp>
      <p:sp>
        <p:nvSpPr>
          <p:cNvPr id="44" name="Shape 42"/>
          <p:cNvSpPr/>
          <p:nvPr/>
        </p:nvSpPr>
        <p:spPr>
          <a:xfrm>
            <a:off x="6995160" y="4828032"/>
            <a:ext cx="201168" cy="493776"/>
          </a:xfrm>
          <a:prstGeom prst="rect">
            <a:avLst/>
          </a:prstGeom>
          <a:solidFill>
            <a:srgbClr val="E8BE5C"/>
          </a:solidFill>
          <a:ln/>
        </p:spPr>
      </p:sp>
      <p:sp>
        <p:nvSpPr>
          <p:cNvPr id="45" name="Shape 43"/>
          <p:cNvSpPr/>
          <p:nvPr/>
        </p:nvSpPr>
        <p:spPr>
          <a:xfrm>
            <a:off x="7287768" y="4704588"/>
            <a:ext cx="201168" cy="617220"/>
          </a:xfrm>
          <a:prstGeom prst="rect">
            <a:avLst/>
          </a:prstGeom>
          <a:solidFill>
            <a:srgbClr val="E8BE5C"/>
          </a:solidFill>
          <a:ln/>
        </p:spPr>
      </p:sp>
      <p:sp>
        <p:nvSpPr>
          <p:cNvPr id="46" name="Shape 44"/>
          <p:cNvSpPr/>
          <p:nvPr/>
        </p:nvSpPr>
        <p:spPr>
          <a:xfrm>
            <a:off x="7580376" y="4498848"/>
            <a:ext cx="201168" cy="822960"/>
          </a:xfrm>
          <a:prstGeom prst="rect">
            <a:avLst/>
          </a:prstGeom>
          <a:solidFill>
            <a:srgbClr val="E8BE5C"/>
          </a:solidFill>
          <a:ln/>
        </p:spPr>
      </p:sp>
      <p:sp>
        <p:nvSpPr>
          <p:cNvPr id="47" name="Shape 45"/>
          <p:cNvSpPr/>
          <p:nvPr/>
        </p:nvSpPr>
        <p:spPr>
          <a:xfrm>
            <a:off x="8819388" y="3886200"/>
            <a:ext cx="2756916" cy="1636776"/>
          </a:xfrm>
          <a:prstGeom prst="roundRect">
            <a:avLst>
              <a:gd name="adj" fmla="val 4469"/>
            </a:avLst>
          </a:prstGeom>
          <a:solidFill>
            <a:srgbClr val="F7F4EC"/>
          </a:solidFill>
          <a:ln w="12700">
            <a:solidFill>
              <a:srgbClr val="E3DFD3"/>
            </a:solidFill>
            <a:prstDash val="solid"/>
          </a:ln>
        </p:spPr>
      </p:sp>
      <p:sp>
        <p:nvSpPr>
          <p:cNvPr id="48" name="Text 46"/>
          <p:cNvSpPr txBox="1"/>
          <p:nvPr/>
        </p:nvSpPr>
        <p:spPr>
          <a:xfrm>
            <a:off x="8947404" y="3959352"/>
            <a:ext cx="2500884" cy="219456"/>
          </a:xfrm>
          <a:prstGeom prst="rect">
            <a:avLst/>
          </a:prstGeom>
          <a:noFill/>
          <a:ln/>
        </p:spPr>
        <p:txBody>
          <a:bodyPr wrap="square" lIns="0" tIns="0" rIns="0" bIns="0" rtlCol="0" anchor="ctr"/>
          <a:lstStyle/>
          <a:p>
            <a:pPr indent="0" marL="0">
              <a:buNone/>
            </a:pPr>
            <a:r>
              <a:rPr lang="en-US" sz="1600" b="1" dirty="0">
                <a:solidFill>
                  <a:srgbClr val="26352F"/>
                </a:solidFill>
                <a:latin typeface="Calibri" pitchFamily="34" charset="0"/>
                <a:ea typeface="Calibri" pitchFamily="34" charset="-122"/>
                <a:cs typeface="Calibri" pitchFamily="34" charset="-120"/>
              </a:rPr>
              <a:t>Top agricultural items / NUTS2</a:t>
            </a:r>
            <a:endParaRPr lang="en-US" sz="1600" dirty="0"/>
          </a:p>
        </p:txBody>
      </p:sp>
      <p:sp>
        <p:nvSpPr>
          <p:cNvPr id="49" name="Shape 47"/>
          <p:cNvSpPr/>
          <p:nvPr/>
        </p:nvSpPr>
        <p:spPr>
          <a:xfrm>
            <a:off x="9093708" y="4270248"/>
            <a:ext cx="1737360" cy="201168"/>
          </a:xfrm>
          <a:prstGeom prst="rect">
            <a:avLst/>
          </a:prstGeom>
          <a:solidFill>
            <a:srgbClr val="6FA97D"/>
          </a:solidFill>
          <a:ln/>
        </p:spPr>
      </p:sp>
      <p:sp>
        <p:nvSpPr>
          <p:cNvPr id="50" name="Shape 48"/>
          <p:cNvSpPr/>
          <p:nvPr/>
        </p:nvSpPr>
        <p:spPr>
          <a:xfrm>
            <a:off x="9093708" y="4544568"/>
            <a:ext cx="1371600" cy="201168"/>
          </a:xfrm>
          <a:prstGeom prst="rect">
            <a:avLst/>
          </a:prstGeom>
          <a:solidFill>
            <a:srgbClr val="6FA97D"/>
          </a:solidFill>
          <a:ln/>
        </p:spPr>
      </p:sp>
      <p:sp>
        <p:nvSpPr>
          <p:cNvPr id="51" name="Shape 49"/>
          <p:cNvSpPr/>
          <p:nvPr/>
        </p:nvSpPr>
        <p:spPr>
          <a:xfrm>
            <a:off x="9093708" y="4818888"/>
            <a:ext cx="1005840" cy="201168"/>
          </a:xfrm>
          <a:prstGeom prst="rect">
            <a:avLst/>
          </a:prstGeom>
          <a:solidFill>
            <a:srgbClr val="6FA97D"/>
          </a:solidFill>
          <a:ln/>
        </p:spPr>
      </p:sp>
      <p:sp>
        <p:nvSpPr>
          <p:cNvPr id="52" name="Shape 50"/>
          <p:cNvSpPr/>
          <p:nvPr/>
        </p:nvSpPr>
        <p:spPr>
          <a:xfrm>
            <a:off x="9093708" y="5093208"/>
            <a:ext cx="640080" cy="201168"/>
          </a:xfrm>
          <a:prstGeom prst="rect">
            <a:avLst/>
          </a:prstGeom>
          <a:solidFill>
            <a:srgbClr val="6FA97D"/>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9969A8"/>
                </a:solidFill>
                <a:latin typeface="Courier New" pitchFamily="34" charset="0"/>
                <a:ea typeface="Courier New" pitchFamily="34" charset="-122"/>
                <a:cs typeface="Courier New" pitchFamily="34" charset="-120"/>
              </a:rPr>
              <a:t>13</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Current Data Snapshot</a:t>
            </a:r>
            <a:endParaRPr lang="en-US" sz="3500" dirty="0"/>
          </a:p>
        </p:txBody>
      </p:sp>
      <p:sp>
        <p:nvSpPr>
          <p:cNvPr id="5" name="Shape 3"/>
          <p:cNvSpPr/>
          <p:nvPr/>
        </p:nvSpPr>
        <p:spPr>
          <a:xfrm>
            <a:off x="365760" y="1207008"/>
            <a:ext cx="2715768" cy="566928"/>
          </a:xfrm>
          <a:prstGeom prst="roundRect">
            <a:avLst>
              <a:gd name="adj" fmla="val 16129"/>
            </a:avLst>
          </a:prstGeom>
          <a:solidFill>
            <a:srgbClr val="FFFFFF"/>
          </a:solidFill>
          <a:ln w="12700">
            <a:solidFill>
              <a:srgbClr val="D8D3C6"/>
            </a:solidFill>
            <a:prstDash val="solid"/>
          </a:ln>
        </p:spPr>
      </p:sp>
      <p:sp>
        <p:nvSpPr>
          <p:cNvPr id="6" name="Text 4"/>
          <p:cNvSpPr txBox="1"/>
          <p:nvPr/>
        </p:nvSpPr>
        <p:spPr>
          <a:xfrm>
            <a:off x="493776" y="1207008"/>
            <a:ext cx="1357884" cy="566928"/>
          </a:xfrm>
          <a:prstGeom prst="rect">
            <a:avLst/>
          </a:prstGeom>
          <a:noFill/>
          <a:ln/>
        </p:spPr>
        <p:txBody>
          <a:bodyPr wrap="square" lIns="0" tIns="0" rIns="0" bIns="0" rtlCol="0" anchor="ctr"/>
          <a:lstStyle/>
          <a:p>
            <a:pPr indent="0" marL="0">
              <a:buNone/>
            </a:pPr>
            <a:r>
              <a:rPr lang="en-US" sz="2600" b="1" dirty="0">
                <a:solidFill>
                  <a:srgbClr val="1D5F8A"/>
                </a:solidFill>
                <a:latin typeface="Calibri" pitchFamily="34" charset="0"/>
                <a:ea typeface="Calibri" pitchFamily="34" charset="-122"/>
                <a:cs typeface="Calibri" pitchFamily="34" charset="-120"/>
              </a:rPr>
              <a:t>54,099</a:t>
            </a:r>
            <a:endParaRPr lang="en-US" sz="2600" dirty="0"/>
          </a:p>
        </p:txBody>
      </p:sp>
      <p:sp>
        <p:nvSpPr>
          <p:cNvPr id="7" name="Text 5"/>
          <p:cNvSpPr txBox="1"/>
          <p:nvPr/>
        </p:nvSpPr>
        <p:spPr>
          <a:xfrm>
            <a:off x="1777959" y="1207008"/>
            <a:ext cx="1249253" cy="566928"/>
          </a:xfrm>
          <a:prstGeom prst="rect">
            <a:avLst/>
          </a:prstGeom>
          <a:noFill/>
          <a:ln/>
        </p:spPr>
        <p:txBody>
          <a:bodyPr wrap="square" lIns="0" tIns="0" rIns="0" bIns="0" rtlCol="0" anchor="ctr"/>
          <a:lstStyle/>
          <a:p>
            <a:pPr indent="0" marL="0">
              <a:lnSpc>
                <a:spcPct val="100000"/>
              </a:lnSpc>
              <a:buNone/>
            </a:pPr>
            <a:r>
              <a:rPr lang="en-US" sz="1600" dirty="0">
                <a:solidFill>
                  <a:srgbClr val="26352F"/>
                </a:solidFill>
                <a:latin typeface="Calibri" pitchFamily="34" charset="0"/>
                <a:ea typeface="Calibri" pitchFamily="34" charset="-122"/>
                <a:cs typeface="Calibri" pitchFamily="34" charset="-120"/>
              </a:rPr>
              <a:t>EEA rows</a:t>
            </a:r>
            <a:endParaRPr lang="en-US" sz="1600" dirty="0"/>
          </a:p>
        </p:txBody>
      </p:sp>
      <p:sp>
        <p:nvSpPr>
          <p:cNvPr id="8" name="Shape 6"/>
          <p:cNvSpPr/>
          <p:nvPr/>
        </p:nvSpPr>
        <p:spPr>
          <a:xfrm>
            <a:off x="3236976" y="1207008"/>
            <a:ext cx="2715768" cy="566928"/>
          </a:xfrm>
          <a:prstGeom prst="roundRect">
            <a:avLst>
              <a:gd name="adj" fmla="val 16129"/>
            </a:avLst>
          </a:prstGeom>
          <a:solidFill>
            <a:srgbClr val="FFFFFF"/>
          </a:solidFill>
          <a:ln w="12700">
            <a:solidFill>
              <a:srgbClr val="D8D3C6"/>
            </a:solidFill>
            <a:prstDash val="solid"/>
          </a:ln>
        </p:spPr>
      </p:sp>
      <p:sp>
        <p:nvSpPr>
          <p:cNvPr id="9" name="Text 7"/>
          <p:cNvSpPr txBox="1"/>
          <p:nvPr/>
        </p:nvSpPr>
        <p:spPr>
          <a:xfrm>
            <a:off x="3364992" y="1207008"/>
            <a:ext cx="1357884" cy="566928"/>
          </a:xfrm>
          <a:prstGeom prst="rect">
            <a:avLst/>
          </a:prstGeom>
          <a:noFill/>
          <a:ln/>
        </p:spPr>
        <p:txBody>
          <a:bodyPr wrap="square" lIns="0" tIns="0" rIns="0" bIns="0" rtlCol="0" anchor="ctr"/>
          <a:lstStyle/>
          <a:p>
            <a:pPr indent="0" marL="0">
              <a:buNone/>
            </a:pPr>
            <a:r>
              <a:rPr lang="en-US" sz="2600" b="1" dirty="0">
                <a:solidFill>
                  <a:srgbClr val="8A6D1D"/>
                </a:solidFill>
                <a:latin typeface="Calibri" pitchFamily="34" charset="0"/>
                <a:ea typeface="Calibri" pitchFamily="34" charset="-122"/>
                <a:cs typeface="Calibri" pitchFamily="34" charset="-120"/>
              </a:rPr>
              <a:t>61,794</a:t>
            </a:r>
            <a:endParaRPr lang="en-US" sz="2600" dirty="0"/>
          </a:p>
        </p:txBody>
      </p:sp>
      <p:sp>
        <p:nvSpPr>
          <p:cNvPr id="10" name="Text 8"/>
          <p:cNvSpPr txBox="1"/>
          <p:nvPr/>
        </p:nvSpPr>
        <p:spPr>
          <a:xfrm>
            <a:off x="4649175" y="1207008"/>
            <a:ext cx="1249253" cy="566928"/>
          </a:xfrm>
          <a:prstGeom prst="rect">
            <a:avLst/>
          </a:prstGeom>
          <a:noFill/>
          <a:ln/>
        </p:spPr>
        <p:txBody>
          <a:bodyPr wrap="square" lIns="0" tIns="0" rIns="0" bIns="0" rtlCol="0" anchor="ctr"/>
          <a:lstStyle/>
          <a:p>
            <a:pPr indent="0" marL="0">
              <a:lnSpc>
                <a:spcPct val="100000"/>
              </a:lnSpc>
              <a:buNone/>
            </a:pPr>
            <a:r>
              <a:rPr lang="en-US" sz="1600" dirty="0">
                <a:solidFill>
                  <a:srgbClr val="26352F"/>
                </a:solidFill>
                <a:latin typeface="Calibri" pitchFamily="34" charset="0"/>
                <a:ea typeface="Calibri" pitchFamily="34" charset="-122"/>
                <a:cs typeface="Calibri" pitchFamily="34" charset="-120"/>
              </a:rPr>
              <a:t>TED notices</a:t>
            </a:r>
            <a:endParaRPr lang="en-US" sz="1600" dirty="0"/>
          </a:p>
        </p:txBody>
      </p:sp>
      <p:sp>
        <p:nvSpPr>
          <p:cNvPr id="11" name="Shape 9"/>
          <p:cNvSpPr/>
          <p:nvPr/>
        </p:nvSpPr>
        <p:spPr>
          <a:xfrm>
            <a:off x="6108192" y="1207008"/>
            <a:ext cx="2715768" cy="566928"/>
          </a:xfrm>
          <a:prstGeom prst="roundRect">
            <a:avLst>
              <a:gd name="adj" fmla="val 16129"/>
            </a:avLst>
          </a:prstGeom>
          <a:solidFill>
            <a:srgbClr val="FFFFFF"/>
          </a:solidFill>
          <a:ln w="12700">
            <a:solidFill>
              <a:srgbClr val="D8D3C6"/>
            </a:solidFill>
            <a:prstDash val="solid"/>
          </a:ln>
        </p:spPr>
      </p:sp>
      <p:sp>
        <p:nvSpPr>
          <p:cNvPr id="12" name="Text 10"/>
          <p:cNvSpPr txBox="1"/>
          <p:nvPr/>
        </p:nvSpPr>
        <p:spPr>
          <a:xfrm>
            <a:off x="6236208" y="1207008"/>
            <a:ext cx="1357884" cy="566928"/>
          </a:xfrm>
          <a:prstGeom prst="rect">
            <a:avLst/>
          </a:prstGeom>
          <a:noFill/>
          <a:ln/>
        </p:spPr>
        <p:txBody>
          <a:bodyPr wrap="square" lIns="0" tIns="0" rIns="0" bIns="0" rtlCol="0" anchor="ctr"/>
          <a:lstStyle/>
          <a:p>
            <a:pPr indent="0" marL="0">
              <a:buNone/>
            </a:pPr>
            <a:r>
              <a:rPr lang="en-US" sz="2600" b="1" dirty="0">
                <a:solidFill>
                  <a:srgbClr val="2E7A4A"/>
                </a:solidFill>
                <a:latin typeface="Calibri" pitchFamily="34" charset="0"/>
                <a:ea typeface="Calibri" pitchFamily="34" charset="-122"/>
                <a:cs typeface="Calibri" pitchFamily="34" charset="-120"/>
              </a:rPr>
              <a:t>27,585</a:t>
            </a:r>
            <a:endParaRPr lang="en-US" sz="2600" dirty="0"/>
          </a:p>
        </p:txBody>
      </p:sp>
      <p:sp>
        <p:nvSpPr>
          <p:cNvPr id="13" name="Text 11"/>
          <p:cNvSpPr txBox="1"/>
          <p:nvPr/>
        </p:nvSpPr>
        <p:spPr>
          <a:xfrm>
            <a:off x="7520391" y="1207008"/>
            <a:ext cx="1249253" cy="566928"/>
          </a:xfrm>
          <a:prstGeom prst="rect">
            <a:avLst/>
          </a:prstGeom>
          <a:noFill/>
          <a:ln/>
        </p:spPr>
        <p:txBody>
          <a:bodyPr wrap="square" lIns="0" tIns="0" rIns="0" bIns="0" rtlCol="0" anchor="ctr"/>
          <a:lstStyle/>
          <a:p>
            <a:pPr indent="0" marL="0">
              <a:lnSpc>
                <a:spcPct val="100000"/>
              </a:lnSpc>
              <a:buNone/>
            </a:pPr>
            <a:r>
              <a:rPr lang="en-US" sz="1600" dirty="0">
                <a:solidFill>
                  <a:srgbClr val="26352F"/>
                </a:solidFill>
                <a:latin typeface="Calibri" pitchFamily="34" charset="0"/>
                <a:ea typeface="Calibri" pitchFamily="34" charset="-122"/>
                <a:cs typeface="Calibri" pitchFamily="34" charset="-120"/>
              </a:rPr>
              <a:t>Eurostat rows</a:t>
            </a:r>
            <a:endParaRPr lang="en-US" sz="1600" dirty="0"/>
          </a:p>
        </p:txBody>
      </p:sp>
      <p:sp>
        <p:nvSpPr>
          <p:cNvPr id="14" name="Shape 12"/>
          <p:cNvSpPr/>
          <p:nvPr/>
        </p:nvSpPr>
        <p:spPr>
          <a:xfrm>
            <a:off x="8979408" y="1207008"/>
            <a:ext cx="2715768" cy="566928"/>
          </a:xfrm>
          <a:prstGeom prst="roundRect">
            <a:avLst>
              <a:gd name="adj" fmla="val 16129"/>
            </a:avLst>
          </a:prstGeom>
          <a:solidFill>
            <a:srgbClr val="FFFFFF"/>
          </a:solidFill>
          <a:ln w="12700">
            <a:solidFill>
              <a:srgbClr val="D8D3C6"/>
            </a:solidFill>
            <a:prstDash val="solid"/>
          </a:ln>
        </p:spPr>
      </p:sp>
      <p:sp>
        <p:nvSpPr>
          <p:cNvPr id="15" name="Text 13"/>
          <p:cNvSpPr txBox="1"/>
          <p:nvPr/>
        </p:nvSpPr>
        <p:spPr>
          <a:xfrm>
            <a:off x="9107424" y="1207008"/>
            <a:ext cx="1357884" cy="566928"/>
          </a:xfrm>
          <a:prstGeom prst="rect">
            <a:avLst/>
          </a:prstGeom>
          <a:noFill/>
          <a:ln/>
        </p:spPr>
        <p:txBody>
          <a:bodyPr wrap="square" lIns="0" tIns="0" rIns="0" bIns="0" rtlCol="0" anchor="ctr"/>
          <a:lstStyle/>
          <a:p>
            <a:pPr indent="0" marL="0">
              <a:buNone/>
            </a:pPr>
            <a:r>
              <a:rPr lang="en-US" sz="2600" b="1" dirty="0">
                <a:solidFill>
                  <a:srgbClr val="26352F"/>
                </a:solidFill>
                <a:latin typeface="Calibri" pitchFamily="34" charset="0"/>
                <a:ea typeface="Calibri" pitchFamily="34" charset="-122"/>
                <a:cs typeface="Calibri" pitchFamily="34" charset="-120"/>
              </a:rPr>
              <a:t>0</a:t>
            </a:r>
            <a:endParaRPr lang="en-US" sz="2600" dirty="0"/>
          </a:p>
        </p:txBody>
      </p:sp>
      <p:sp>
        <p:nvSpPr>
          <p:cNvPr id="16" name="Text 14"/>
          <p:cNvSpPr txBox="1"/>
          <p:nvPr/>
        </p:nvSpPr>
        <p:spPr>
          <a:xfrm>
            <a:off x="10391607" y="1207008"/>
            <a:ext cx="1249253" cy="566928"/>
          </a:xfrm>
          <a:prstGeom prst="rect">
            <a:avLst/>
          </a:prstGeom>
          <a:noFill/>
          <a:ln/>
        </p:spPr>
        <p:txBody>
          <a:bodyPr wrap="square" lIns="0" tIns="0" rIns="0" bIns="0" rtlCol="0" anchor="ctr"/>
          <a:lstStyle/>
          <a:p>
            <a:pPr indent="0" marL="0">
              <a:lnSpc>
                <a:spcPct val="100000"/>
              </a:lnSpc>
              <a:buNone/>
            </a:pPr>
            <a:r>
              <a:rPr lang="en-US" sz="1600" dirty="0">
                <a:solidFill>
                  <a:srgbClr val="26352F"/>
                </a:solidFill>
                <a:latin typeface="Calibri" pitchFamily="34" charset="0"/>
                <a:ea typeface="Calibri" pitchFamily="34" charset="-122"/>
                <a:cs typeface="Calibri" pitchFamily="34" charset="-120"/>
              </a:rPr>
              <a:t>duplicate rows</a:t>
            </a:r>
            <a:endParaRPr lang="en-US" sz="1600" dirty="0"/>
          </a:p>
        </p:txBody>
      </p:sp>
      <p:sp>
        <p:nvSpPr>
          <p:cNvPr id="17" name="Text 15"/>
          <p:cNvSpPr txBox="1"/>
          <p:nvPr/>
        </p:nvSpPr>
        <p:spPr>
          <a:xfrm>
            <a:off x="365760" y="1956816"/>
            <a:ext cx="5577840" cy="219456"/>
          </a:xfrm>
          <a:prstGeom prst="rect">
            <a:avLst/>
          </a:prstGeom>
          <a:noFill/>
          <a:ln/>
        </p:spPr>
        <p:txBody>
          <a:bodyPr wrap="square" lIns="0" tIns="0" rIns="0" bIns="0" rtlCol="0" anchor="ctr"/>
          <a:lstStyle/>
          <a:p>
            <a:pPr indent="0" marL="0">
              <a:buNone/>
            </a:pPr>
            <a:r>
              <a:rPr lang="en-US" sz="1600" b="1" dirty="0">
                <a:solidFill>
                  <a:srgbClr val="9969A8"/>
                </a:solidFill>
                <a:latin typeface="Calibri" pitchFamily="34" charset="0"/>
                <a:ea typeface="Calibri" pitchFamily="34" charset="-122"/>
                <a:cs typeface="Calibri" pitchFamily="34" charset="-120"/>
              </a:rPr>
              <a:t>COVERAGE</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2212848"/>
          <a:ext cx="5577840" cy="914400"/>
        </p:xfrm>
        <a:graphic>
          <a:graphicData uri="http://schemas.openxmlformats.org/drawingml/2006/table">
            <a:tbl>
              <a:tblPr/>
              <a:tblGrid>
                <a:gridCol w="1554480"/>
                <a:gridCol w="548640"/>
                <a:gridCol w="914400"/>
                <a:gridCol w="548640"/>
                <a:gridCol w="2011680"/>
              </a:tblGrid>
              <a:tr h="315468">
                <a:tc>
                  <a:txBody>
                    <a:bodyPr/>
                    <a:lstStyle/>
                    <a:p>
                      <a:pPr algn="l" indent="0" marL="0">
                        <a:buNone/>
                      </a:pPr>
                      <a:r>
                        <a:rPr lang="en-US" sz="1600" b="1" dirty="0">
                          <a:solidFill>
                            <a:srgbClr val="26352F"/>
                          </a:solidFill>
                          <a:latin typeface="Calibri" pitchFamily="34" charset="0"/>
                          <a:ea typeface="Calibri" pitchFamily="34" charset="-122"/>
                          <a:cs typeface="Calibri" pitchFamily="34" charset="-120"/>
                        </a:rPr>
                        <a:t>Dataset</a:t>
                      </a:r>
                      <a:endParaRPr lang="en-US" sz="1600" dirty="0">
                        <a:latin typeface="Calibri" charset="0"/>
                        <a:ea typeface="Calibri" charset="0"/>
                        <a:cs typeface="Calibri" charset="0"/>
                      </a:endParaRPr>
                    </a:p>
                  </a:txBody>
                  <a:tcPr marL="91440" marR="91440" marT="45720" marB="45720"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E8E5DF"/>
                    </a:solidFill>
                  </a:tcPr>
                </a:tc>
                <a:tc>
                  <a:txBody>
                    <a:bodyPr/>
                    <a:lstStyle/>
                    <a:p>
                      <a:pPr algn="ctr" indent="0" marL="0">
                        <a:buNone/>
                      </a:pPr>
                      <a:r>
                        <a:rPr lang="en-US" sz="1600" b="1" dirty="0">
                          <a:solidFill>
                            <a:srgbClr val="26352F"/>
                          </a:solidFill>
                          <a:latin typeface="Calibri" pitchFamily="34" charset="0"/>
                          <a:ea typeface="Calibri" pitchFamily="34" charset="-122"/>
                          <a:cs typeface="Calibri" pitchFamily="34" charset="-120"/>
                        </a:rPr>
                        <a:t>Ctry</a:t>
                      </a:r>
                      <a:endParaRPr lang="en-US" sz="1600" dirty="0">
                        <a:latin typeface="Calibri" charset="0"/>
                        <a:ea typeface="Calibri" charset="0"/>
                        <a:cs typeface="Calibri" charset="0"/>
                      </a:endParaRPr>
                    </a:p>
                  </a:txBody>
                  <a:tcPr marL="91440" marR="91440" marT="45720" marB="45720"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E8E5DF"/>
                    </a:solidFill>
                  </a:tcPr>
                </a:tc>
                <a:tc>
                  <a:txBody>
                    <a:bodyPr/>
                    <a:lstStyle/>
                    <a:p>
                      <a:pPr algn="r" indent="0" marL="0">
                        <a:buNone/>
                      </a:pPr>
                      <a:r>
                        <a:rPr lang="en-US" sz="1600" b="1" dirty="0">
                          <a:solidFill>
                            <a:srgbClr val="26352F"/>
                          </a:solidFill>
                          <a:latin typeface="Calibri" pitchFamily="34" charset="0"/>
                          <a:ea typeface="Calibri" pitchFamily="34" charset="-122"/>
                          <a:cs typeface="Calibri" pitchFamily="34" charset="-120"/>
                        </a:rPr>
                        <a:t>Rows</a:t>
                      </a:r>
                      <a:endParaRPr lang="en-US" sz="1600" dirty="0">
                        <a:latin typeface="Calibri" charset="0"/>
                        <a:ea typeface="Calibri" charset="0"/>
                        <a:cs typeface="Calibri" charset="0"/>
                      </a:endParaRPr>
                    </a:p>
                  </a:txBody>
                  <a:tcPr marL="91440" marR="91440" marT="45720" marB="45720"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E8E5DF"/>
                    </a:solidFill>
                  </a:tcPr>
                </a:tc>
                <a:tc>
                  <a:txBody>
                    <a:bodyPr/>
                    <a:lstStyle/>
                    <a:p>
                      <a:pPr algn="ctr" indent="0" marL="0">
                        <a:buNone/>
                      </a:pPr>
                      <a:r>
                        <a:rPr lang="en-US" sz="1600" b="1" dirty="0">
                          <a:solidFill>
                            <a:srgbClr val="26352F"/>
                          </a:solidFill>
                          <a:latin typeface="Calibri" pitchFamily="34" charset="0"/>
                          <a:ea typeface="Calibri" pitchFamily="34" charset="-122"/>
                          <a:cs typeface="Calibri" pitchFamily="34" charset="-120"/>
                        </a:rPr>
                        <a:t>Yrs</a:t>
                      </a:r>
                      <a:endParaRPr lang="en-US" sz="1600" dirty="0">
                        <a:latin typeface="Calibri" charset="0"/>
                        <a:ea typeface="Calibri" charset="0"/>
                        <a:cs typeface="Calibri" charset="0"/>
                      </a:endParaRPr>
                    </a:p>
                  </a:txBody>
                  <a:tcPr marL="91440" marR="91440" marT="45720" marB="45720"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E8E5DF"/>
                    </a:solidFill>
                  </a:tcPr>
                </a:tc>
                <a:tc>
                  <a:txBody>
                    <a:bodyPr/>
                    <a:lstStyle/>
                    <a:p>
                      <a:pPr algn="l" indent="0" marL="0">
                        <a:buNone/>
                      </a:pPr>
                      <a:r>
                        <a:rPr lang="en-US" sz="1600" b="1" dirty="0">
                          <a:solidFill>
                            <a:srgbClr val="26352F"/>
                          </a:solidFill>
                          <a:latin typeface="Calibri" pitchFamily="34" charset="0"/>
                          <a:ea typeface="Calibri" pitchFamily="34" charset="-122"/>
                          <a:cs typeface="Calibri" pitchFamily="34" charset="-120"/>
                        </a:rPr>
                        <a:t>Available years</a:t>
                      </a:r>
                      <a:endParaRPr lang="en-US" sz="1600" dirty="0">
                        <a:latin typeface="Calibri" charset="0"/>
                        <a:ea typeface="Calibri" charset="0"/>
                        <a:cs typeface="Calibri" charset="0"/>
                      </a:endParaRPr>
                    </a:p>
                  </a:txBody>
                  <a:tcPr marL="91440" marR="91440" marT="45720" marB="45720"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E8E5DF"/>
                    </a:solidFill>
                  </a:tcPr>
                </a:tc>
              </a:tr>
              <a:tr h="274320">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EEA meas.</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DE</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53,796</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2025, 2026</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r>
              <a:tr h="274320">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EEA meas.</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PL</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303</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2025</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r>
              <a:tr h="274320">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TED notices</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DE</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24,154</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2021–2026</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r>
              <a:tr h="274320">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TED notices</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PL</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37,640</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2021–2026</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r>
              <a:tr h="274320">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Eurostat agri</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DE</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19,904</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2021–2023</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r>
              <a:tr h="274320">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Eurostat agri</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PL</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7,681</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6352F"/>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2021, 2023</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r>
            </a:tbl>
          </a:graphicData>
        </a:graphic>
      </p:graphicFrame>
      <p:sp>
        <p:nvSpPr>
          <p:cNvPr id="19" name="Text 16"/>
          <p:cNvSpPr txBox="1"/>
          <p:nvPr/>
        </p:nvSpPr>
        <p:spPr>
          <a:xfrm>
            <a:off x="6172200" y="1956816"/>
            <a:ext cx="5623560" cy="219456"/>
          </a:xfrm>
          <a:prstGeom prst="rect">
            <a:avLst/>
          </a:prstGeom>
          <a:noFill/>
          <a:ln/>
        </p:spPr>
        <p:txBody>
          <a:bodyPr wrap="square" lIns="0" tIns="0" rIns="0" bIns="0" rtlCol="0" anchor="ctr"/>
          <a:lstStyle/>
          <a:p>
            <a:pPr indent="0" marL="0">
              <a:buNone/>
            </a:pPr>
            <a:r>
              <a:rPr lang="en-US" sz="1600" b="1" dirty="0">
                <a:solidFill>
                  <a:srgbClr val="9969A8"/>
                </a:solidFill>
                <a:latin typeface="Calibri" pitchFamily="34" charset="0"/>
                <a:ea typeface="Calibri" pitchFamily="34" charset="-122"/>
                <a:cs typeface="Calibri" pitchFamily="34" charset="-120"/>
              </a:rPr>
              <a:t>QUALITY</a:t>
            </a:r>
            <a:endParaRPr lang="en-US" sz="16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172200" y="2212848"/>
          <a:ext cx="5623560" cy="914400"/>
        </p:xfrm>
        <a:graphic>
          <a:graphicData uri="http://schemas.openxmlformats.org/drawingml/2006/table">
            <a:tbl>
              <a:tblPr/>
              <a:tblGrid>
                <a:gridCol w="1965960"/>
                <a:gridCol w="1005840"/>
                <a:gridCol w="685800"/>
                <a:gridCol w="1005840"/>
                <a:gridCol w="960120"/>
              </a:tblGrid>
              <a:tr h="315468">
                <a:tc>
                  <a:txBody>
                    <a:bodyPr/>
                    <a:lstStyle/>
                    <a:p>
                      <a:pPr algn="l" indent="0" marL="0">
                        <a:buNone/>
                      </a:pPr>
                      <a:r>
                        <a:rPr lang="en-US" sz="1600" b="1" dirty="0">
                          <a:solidFill>
                            <a:srgbClr val="26352F"/>
                          </a:solidFill>
                          <a:latin typeface="Calibri" pitchFamily="34" charset="0"/>
                          <a:ea typeface="Calibri" pitchFamily="34" charset="-122"/>
                          <a:cs typeface="Calibri" pitchFamily="34" charset="-120"/>
                        </a:rPr>
                        <a:t>Dataset</a:t>
                      </a:r>
                      <a:endParaRPr lang="en-US" sz="1600" dirty="0">
                        <a:latin typeface="Calibri" charset="0"/>
                        <a:ea typeface="Calibri" charset="0"/>
                        <a:cs typeface="Calibri" charset="0"/>
                      </a:endParaRPr>
                    </a:p>
                  </a:txBody>
                  <a:tcPr marL="91440" marR="91440" marT="45720" marB="45720"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E8E5DF"/>
                    </a:solidFill>
                  </a:tcPr>
                </a:tc>
                <a:tc>
                  <a:txBody>
                    <a:bodyPr/>
                    <a:lstStyle/>
                    <a:p>
                      <a:pPr algn="r" indent="0" marL="0">
                        <a:buNone/>
                      </a:pPr>
                      <a:r>
                        <a:rPr lang="en-US" sz="1600" b="1" dirty="0">
                          <a:solidFill>
                            <a:srgbClr val="26352F"/>
                          </a:solidFill>
                          <a:latin typeface="Calibri" pitchFamily="34" charset="0"/>
                          <a:ea typeface="Calibri" pitchFamily="34" charset="-122"/>
                          <a:cs typeface="Calibri" pitchFamily="34" charset="-120"/>
                        </a:rPr>
                        <a:t>Rows</a:t>
                      </a:r>
                      <a:endParaRPr lang="en-US" sz="1600" dirty="0">
                        <a:latin typeface="Calibri" charset="0"/>
                        <a:ea typeface="Calibri" charset="0"/>
                        <a:cs typeface="Calibri" charset="0"/>
                      </a:endParaRPr>
                    </a:p>
                  </a:txBody>
                  <a:tcPr marL="91440" marR="91440" marT="45720" marB="45720"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E8E5DF"/>
                    </a:solidFill>
                  </a:tcPr>
                </a:tc>
                <a:tc>
                  <a:txBody>
                    <a:bodyPr/>
                    <a:lstStyle/>
                    <a:p>
                      <a:pPr algn="r" indent="0" marL="0">
                        <a:buNone/>
                      </a:pPr>
                      <a:r>
                        <a:rPr lang="en-US" sz="1600" b="1" dirty="0">
                          <a:solidFill>
                            <a:srgbClr val="26352F"/>
                          </a:solidFill>
                          <a:latin typeface="Calibri" pitchFamily="34" charset="0"/>
                          <a:ea typeface="Calibri" pitchFamily="34" charset="-122"/>
                          <a:cs typeface="Calibri" pitchFamily="34" charset="-120"/>
                        </a:rPr>
                        <a:t>Cols</a:t>
                      </a:r>
                      <a:endParaRPr lang="en-US" sz="1600" dirty="0">
                        <a:latin typeface="Calibri" charset="0"/>
                        <a:ea typeface="Calibri" charset="0"/>
                        <a:cs typeface="Calibri" charset="0"/>
                      </a:endParaRPr>
                    </a:p>
                  </a:txBody>
                  <a:tcPr marL="91440" marR="91440" marT="45720" marB="45720"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E8E5DF"/>
                    </a:solidFill>
                  </a:tcPr>
                </a:tc>
                <a:tc>
                  <a:txBody>
                    <a:bodyPr/>
                    <a:lstStyle/>
                    <a:p>
                      <a:pPr algn="r" indent="0" marL="0">
                        <a:buNone/>
                      </a:pPr>
                      <a:r>
                        <a:rPr lang="en-US" sz="1600" b="1" dirty="0">
                          <a:solidFill>
                            <a:srgbClr val="26352F"/>
                          </a:solidFill>
                          <a:latin typeface="Calibri" pitchFamily="34" charset="0"/>
                          <a:ea typeface="Calibri" pitchFamily="34" charset="-122"/>
                          <a:cs typeface="Calibri" pitchFamily="34" charset="-120"/>
                        </a:rPr>
                        <a:t>Dup rows</a:t>
                      </a:r>
                      <a:endParaRPr lang="en-US" sz="1600" dirty="0">
                        <a:latin typeface="Calibri" charset="0"/>
                        <a:ea typeface="Calibri" charset="0"/>
                        <a:cs typeface="Calibri" charset="0"/>
                      </a:endParaRPr>
                    </a:p>
                  </a:txBody>
                  <a:tcPr marL="91440" marR="91440" marT="45720" marB="45720"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E8E5DF"/>
                    </a:solidFill>
                  </a:tcPr>
                </a:tc>
                <a:tc>
                  <a:txBody>
                    <a:bodyPr/>
                    <a:lstStyle/>
                    <a:p>
                      <a:pPr algn="r" indent="0" marL="0">
                        <a:buNone/>
                      </a:pPr>
                      <a:r>
                        <a:rPr lang="en-US" sz="1600" b="1" dirty="0">
                          <a:solidFill>
                            <a:srgbClr val="26352F"/>
                          </a:solidFill>
                          <a:latin typeface="Calibri" pitchFamily="34" charset="0"/>
                          <a:ea typeface="Calibri" pitchFamily="34" charset="-122"/>
                          <a:cs typeface="Calibri" pitchFamily="34" charset="-120"/>
                        </a:rPr>
                        <a:t>Rows w/ null</a:t>
                      </a:r>
                      <a:endParaRPr lang="en-US" sz="1600" dirty="0">
                        <a:latin typeface="Calibri" charset="0"/>
                        <a:ea typeface="Calibri" charset="0"/>
                        <a:cs typeface="Calibri" charset="0"/>
                      </a:endParaRPr>
                    </a:p>
                  </a:txBody>
                  <a:tcPr marL="91440" marR="91440" marT="45720" marB="45720" anchor="ctr">
                    <a:lnL w="9525" cap="flat" cmpd="sng" algn="ctr">
                      <a:solidFill>
                        <a:srgbClr val="D8D3C6"/>
                      </a:solidFill>
                      <a:prstDash val="solid"/>
                      <a:round/>
                      <a:headEnd type="none" w="med" len="med"/>
                      <a:tailEnd type="none" w="med" len="med"/>
                    </a:lnL>
                    <a:lnR w="9525" cap="flat" cmpd="sng" algn="ctr">
                      <a:solidFill>
                        <a:srgbClr val="D8D3C6"/>
                      </a:solidFill>
                      <a:prstDash val="solid"/>
                      <a:round/>
                      <a:headEnd type="none" w="med" len="med"/>
                      <a:tailEnd type="none" w="med" len="med"/>
                    </a:lnR>
                    <a:lnT w="9525" cap="flat" cmpd="sng" algn="ctr">
                      <a:solidFill>
                        <a:srgbClr val="D8D3C6"/>
                      </a:solidFill>
                      <a:prstDash val="solid"/>
                      <a:round/>
                      <a:headEnd type="none" w="med" len="med"/>
                      <a:tailEnd type="none" w="med" len="med"/>
                    </a:lnT>
                    <a:lnB w="9525" cap="flat" cmpd="sng" algn="ctr">
                      <a:solidFill>
                        <a:srgbClr val="D8D3C6"/>
                      </a:solidFill>
                      <a:prstDash val="solid"/>
                      <a:round/>
                      <a:headEnd type="none" w="med" len="med"/>
                      <a:tailEnd type="none" w="med" len="med"/>
                    </a:lnB>
                    <a:solidFill>
                      <a:srgbClr val="E8E5DF"/>
                    </a:solidFill>
                  </a:tcPr>
                </a:tc>
              </a:tr>
              <a:tr h="274320">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EEA meas.</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54,099</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14</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131</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r>
              <a:tr h="274320">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TED notices</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61,794</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13</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41,231</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r>
              <a:tr h="274320">
                <a:tc>
                  <a:txBody>
                    <a:bodyPr/>
                    <a:lstStyle/>
                    <a:p>
                      <a:pPr algn="l" indent="0" marL="0">
                        <a:buNone/>
                      </a:pPr>
                      <a:r>
                        <a:rPr lang="en-US" sz="1600" dirty="0">
                          <a:solidFill>
                            <a:srgbClr val="26352F"/>
                          </a:solidFill>
                          <a:latin typeface="Calibri" pitchFamily="34" charset="0"/>
                          <a:ea typeface="Calibri" pitchFamily="34" charset="-122"/>
                          <a:cs typeface="Calibri" pitchFamily="34" charset="-120"/>
                        </a:rPr>
                        <a:t>Eurostat agri</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27,585</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26352F"/>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91440" marR="91440" marT="45720" marB="45720" anchor="ctr">
                    <a:lnL w="6350" cap="flat" cmpd="sng" algn="ctr">
                      <a:solidFill>
                        <a:srgbClr val="E3DFD3"/>
                      </a:solidFill>
                      <a:prstDash val="solid"/>
                      <a:round/>
                      <a:headEnd type="none" w="med" len="med"/>
                      <a:tailEnd type="none" w="med" len="med"/>
                    </a:lnL>
                    <a:lnR w="6350" cap="flat" cmpd="sng" algn="ctr">
                      <a:solidFill>
                        <a:srgbClr val="E3DFD3"/>
                      </a:solidFill>
                      <a:prstDash val="solid"/>
                      <a:round/>
                      <a:headEnd type="none" w="med" len="med"/>
                      <a:tailEnd type="none" w="med" len="med"/>
                    </a:lnR>
                    <a:lnT w="6350" cap="flat" cmpd="sng" algn="ctr">
                      <a:solidFill>
                        <a:srgbClr val="E3DFD3"/>
                      </a:solidFill>
                      <a:prstDash val="solid"/>
                      <a:round/>
                      <a:headEnd type="none" w="med" len="med"/>
                      <a:tailEnd type="none" w="med" len="med"/>
                    </a:lnT>
                    <a:lnB w="6350" cap="flat" cmpd="sng" algn="ctr">
                      <a:solidFill>
                        <a:srgbClr val="E3DFD3"/>
                      </a:solidFill>
                      <a:prstDash val="solid"/>
                      <a:round/>
                      <a:headEnd type="none" w="med" len="med"/>
                      <a:tailEnd type="none" w="med" len="med"/>
                    </a:lnB>
                    <a:solidFill>
                      <a:srgbClr val="FFFFFF"/>
                    </a:solidFill>
                  </a:tcPr>
                </a:tc>
              </a:tr>
            </a:tbl>
          </a:graphicData>
        </a:graphic>
      </p:graphicFrame>
      <p:sp>
        <p:nvSpPr>
          <p:cNvPr id="21" name="Shape 17"/>
          <p:cNvSpPr/>
          <p:nvPr/>
        </p:nvSpPr>
        <p:spPr>
          <a:xfrm>
            <a:off x="6172200" y="3808476"/>
            <a:ext cx="5623560" cy="420624"/>
          </a:xfrm>
          <a:prstGeom prst="roundRect">
            <a:avLst>
              <a:gd name="adj" fmla="val 17391"/>
            </a:avLst>
          </a:prstGeom>
          <a:solidFill>
            <a:srgbClr val="CFE8FF"/>
          </a:solidFill>
          <a:ln/>
        </p:spPr>
      </p:sp>
      <p:sp>
        <p:nvSpPr>
          <p:cNvPr id="22" name="Text 18"/>
          <p:cNvSpPr txBox="1"/>
          <p:nvPr/>
        </p:nvSpPr>
        <p:spPr>
          <a:xfrm>
            <a:off x="6300216" y="3826764"/>
            <a:ext cx="5367528" cy="384048"/>
          </a:xfrm>
          <a:prstGeom prst="rect">
            <a:avLst/>
          </a:prstGeom>
          <a:noFill/>
          <a:ln/>
        </p:spPr>
        <p:txBody>
          <a:bodyPr wrap="square" lIns="0" tIns="0" rIns="0" bIns="0" rtlCol="0" anchor="ctr"/>
          <a:lstStyle/>
          <a:p>
            <a:pPr indent="0" marL="0">
              <a:lnSpc>
                <a:spcPct val="100000"/>
              </a:lnSpc>
              <a:buNone/>
            </a:pPr>
            <a:r>
              <a:rPr lang="en-US" sz="1600" b="1" dirty="0">
                <a:solidFill>
                  <a:srgbClr val="26352F"/>
                </a:solidFill>
                <a:latin typeface="Calibri" pitchFamily="34" charset="0"/>
                <a:ea typeface="Calibri" pitchFamily="34" charset="-122"/>
                <a:cs typeface="Calibri" pitchFamily="34" charset="-120"/>
              </a:rPr>
              <a:t>EEA Gold</a:t>
            </a:r>
            <a:endParaRPr lang="en-US" sz="1600" dirty="0"/>
          </a:p>
          <a:p>
            <a:pPr indent="0" marL="0">
              <a:lnSpc>
                <a:spcPct val="100000"/>
              </a:lnSpc>
              <a:buNone/>
            </a:pPr>
            <a:r>
              <a:rPr lang="en-US" sz="1600" dirty="0">
                <a:solidFill>
                  <a:srgbClr val="26352F"/>
                </a:solidFill>
                <a:latin typeface="Calibri" pitchFamily="34" charset="0"/>
                <a:ea typeface="Calibri" pitchFamily="34" charset="-122"/>
                <a:cs typeface="Calibri" pitchFamily="34" charset="-120"/>
              </a:rPr>
              <a:t>PM10 + PM2.5 · valid 34,159 / 18,399</a:t>
            </a:r>
            <a:endParaRPr lang="en-US" sz="1600" dirty="0"/>
          </a:p>
        </p:txBody>
      </p:sp>
      <p:sp>
        <p:nvSpPr>
          <p:cNvPr id="23" name="Shape 19"/>
          <p:cNvSpPr/>
          <p:nvPr/>
        </p:nvSpPr>
        <p:spPr>
          <a:xfrm>
            <a:off x="6172200" y="4302252"/>
            <a:ext cx="5623560" cy="420624"/>
          </a:xfrm>
          <a:prstGeom prst="roundRect">
            <a:avLst>
              <a:gd name="adj" fmla="val 17391"/>
            </a:avLst>
          </a:prstGeom>
          <a:solidFill>
            <a:srgbClr val="FFF0B8"/>
          </a:solidFill>
          <a:ln/>
        </p:spPr>
      </p:sp>
      <p:sp>
        <p:nvSpPr>
          <p:cNvPr id="24" name="Text 20"/>
          <p:cNvSpPr txBox="1"/>
          <p:nvPr/>
        </p:nvSpPr>
        <p:spPr>
          <a:xfrm>
            <a:off x="6300216" y="4320540"/>
            <a:ext cx="5367528" cy="384048"/>
          </a:xfrm>
          <a:prstGeom prst="rect">
            <a:avLst/>
          </a:prstGeom>
          <a:noFill/>
          <a:ln/>
        </p:spPr>
        <p:txBody>
          <a:bodyPr wrap="square" lIns="0" tIns="0" rIns="0" bIns="0" rtlCol="0" anchor="ctr"/>
          <a:lstStyle/>
          <a:p>
            <a:pPr indent="0" marL="0">
              <a:lnSpc>
                <a:spcPct val="100000"/>
              </a:lnSpc>
              <a:buNone/>
            </a:pPr>
            <a:r>
              <a:rPr lang="en-US" sz="1600" b="1" dirty="0">
                <a:solidFill>
                  <a:srgbClr val="26352F"/>
                </a:solidFill>
                <a:latin typeface="Calibri" pitchFamily="34" charset="0"/>
                <a:ea typeface="Calibri" pitchFamily="34" charset="-122"/>
                <a:cs typeface="Calibri" pitchFamily="34" charset="-120"/>
              </a:rPr>
              <a:t>TED currencies</a:t>
            </a:r>
            <a:endParaRPr lang="en-US" sz="1600" dirty="0"/>
          </a:p>
          <a:p>
            <a:pPr indent="0" marL="0">
              <a:lnSpc>
                <a:spcPct val="100000"/>
              </a:lnSpc>
              <a:buNone/>
            </a:pPr>
            <a:r>
              <a:rPr lang="en-US" sz="1600" dirty="0">
                <a:solidFill>
                  <a:srgbClr val="26352F"/>
                </a:solidFill>
                <a:latin typeface="Calibri" pitchFamily="34" charset="0"/>
                <a:ea typeface="Calibri" pitchFamily="34" charset="-122"/>
                <a:cs typeface="Calibri" pitchFamily="34" charset="-120"/>
              </a:rPr>
              <a:t>PLN 29,832 · EUR 20,462 · Missing 8,944</a:t>
            </a:r>
            <a:endParaRPr lang="en-US" sz="1600" dirty="0"/>
          </a:p>
        </p:txBody>
      </p:sp>
      <p:sp>
        <p:nvSpPr>
          <p:cNvPr id="25" name="Shape 21"/>
          <p:cNvSpPr/>
          <p:nvPr/>
        </p:nvSpPr>
        <p:spPr>
          <a:xfrm>
            <a:off x="6172200" y="4796028"/>
            <a:ext cx="5623560" cy="420624"/>
          </a:xfrm>
          <a:prstGeom prst="roundRect">
            <a:avLst>
              <a:gd name="adj" fmla="val 17391"/>
            </a:avLst>
          </a:prstGeom>
          <a:solidFill>
            <a:srgbClr val="D7F4DE"/>
          </a:solidFill>
          <a:ln/>
        </p:spPr>
      </p:sp>
      <p:sp>
        <p:nvSpPr>
          <p:cNvPr id="26" name="Text 22"/>
          <p:cNvSpPr txBox="1"/>
          <p:nvPr/>
        </p:nvSpPr>
        <p:spPr>
          <a:xfrm>
            <a:off x="6300216" y="4814316"/>
            <a:ext cx="5367528" cy="384048"/>
          </a:xfrm>
          <a:prstGeom prst="rect">
            <a:avLst/>
          </a:prstGeom>
          <a:noFill/>
          <a:ln/>
        </p:spPr>
        <p:txBody>
          <a:bodyPr wrap="square" lIns="0" tIns="0" rIns="0" bIns="0" rtlCol="0" anchor="ctr"/>
          <a:lstStyle/>
          <a:p>
            <a:pPr indent="0" marL="0">
              <a:lnSpc>
                <a:spcPct val="100000"/>
              </a:lnSpc>
              <a:buNone/>
            </a:pPr>
            <a:r>
              <a:rPr lang="en-US" sz="1600" b="1" dirty="0">
                <a:solidFill>
                  <a:srgbClr val="26352F"/>
                </a:solidFill>
                <a:latin typeface="Calibri" pitchFamily="34" charset="0"/>
                <a:ea typeface="Calibri" pitchFamily="34" charset="-122"/>
                <a:cs typeface="Calibri" pitchFamily="34" charset="-120"/>
              </a:rPr>
              <a:t>Eurostat indicators</a:t>
            </a:r>
            <a:endParaRPr lang="en-US" sz="1600" dirty="0"/>
          </a:p>
          <a:p>
            <a:pPr indent="0" marL="0">
              <a:lnSpc>
                <a:spcPct val="100000"/>
              </a:lnSpc>
              <a:buNone/>
            </a:pPr>
            <a:r>
              <a:rPr lang="en-US" sz="1600" dirty="0">
                <a:solidFill>
                  <a:srgbClr val="26352F"/>
                </a:solidFill>
                <a:latin typeface="Calibri" pitchFamily="34" charset="0"/>
                <a:ea typeface="Calibri" pitchFamily="34" charset="-122"/>
                <a:cs typeface="Calibri" pitchFamily="34" charset="-120"/>
              </a:rPr>
              <a:t>Production value · Subsidies · Taxes</a:t>
            </a:r>
            <a:endParaRPr lang="en-US" sz="1600" dirty="0"/>
          </a:p>
        </p:txBody>
      </p:sp>
      <p:sp>
        <p:nvSpPr>
          <p:cNvPr id="27" name="Text 23"/>
          <p:cNvSpPr txBox="1"/>
          <p:nvPr/>
        </p:nvSpPr>
        <p:spPr>
          <a:xfrm>
            <a:off x="6172200" y="5381244"/>
            <a:ext cx="5623560" cy="219456"/>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PL EEA coverage is limited</a:t>
            </a:r>
            <a:endParaRPr lang="en-US" sz="1600" dirty="0"/>
          </a:p>
        </p:txBody>
      </p:sp>
      <p:sp>
        <p:nvSpPr>
          <p:cNvPr id="28" name="Text 24"/>
          <p:cNvSpPr txBox="1"/>
          <p:nvPr/>
        </p:nvSpPr>
        <p:spPr>
          <a:xfrm>
            <a:off x="6172200" y="5618988"/>
            <a:ext cx="5623560" cy="219456"/>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PL Eurostat 2022 is missing</a:t>
            </a:r>
            <a:endParaRPr lang="en-US" sz="1600" dirty="0"/>
          </a:p>
        </p:txBody>
      </p:sp>
      <p:sp>
        <p:nvSpPr>
          <p:cNvPr id="29" name="Text 25"/>
          <p:cNvSpPr txBox="1"/>
          <p:nvPr/>
        </p:nvSpPr>
        <p:spPr>
          <a:xfrm>
            <a:off x="6172200" y="5856732"/>
            <a:ext cx="5623560" cy="219456"/>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TED value fields are often nullable</a:t>
            </a:r>
            <a:endParaRPr lang="en-US" sz="1600" dirty="0"/>
          </a:p>
        </p:txBody>
      </p:sp>
      <p:sp>
        <p:nvSpPr>
          <p:cNvPr id="30" name="Text 26"/>
          <p:cNvSpPr txBox="1"/>
          <p:nvPr/>
        </p:nvSpPr>
        <p:spPr>
          <a:xfrm>
            <a:off x="6172200" y="6094476"/>
            <a:ext cx="5623560" cy="219456"/>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Pattern comparison, not causation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Text 0"/>
          <p:cNvSpPr txBox="1"/>
          <p:nvPr/>
        </p:nvSpPr>
        <p:spPr>
          <a:xfrm>
            <a:off x="11475720" y="6473952"/>
            <a:ext cx="502920" cy="274320"/>
          </a:xfrm>
          <a:prstGeom prst="rect">
            <a:avLst/>
          </a:prstGeom>
          <a:noFill/>
          <a:ln/>
        </p:spPr>
        <p:txBody>
          <a:bodyPr wrap="square" rtlCol="0" anchor="ctr"/>
          <a:lstStyle/>
          <a:p>
            <a:pPr algn="r" indent="0" marL="0">
              <a:buNone/>
            </a:pPr>
            <a:r>
              <a:rPr lang="en-US" sz="1100" b="1" dirty="0">
                <a:solidFill>
                  <a:srgbClr val="9969A8"/>
                </a:solidFill>
                <a:latin typeface="Courier New" pitchFamily="34" charset="0"/>
                <a:ea typeface="Courier New" pitchFamily="34" charset="-122"/>
                <a:cs typeface="Courier New" pitchFamily="34" charset="-120"/>
              </a:rPr>
              <a:t>14</a:t>
            </a:r>
            <a:endParaRPr lang="en-US" sz="1100" dirty="0"/>
          </a:p>
        </p:txBody>
      </p:sp>
      <p:sp>
        <p:nvSpPr>
          <p:cNvPr id="3" name="Text 1"/>
          <p:cNvSpPr txBox="1"/>
          <p:nvPr/>
        </p:nvSpPr>
        <p:spPr>
          <a:xfrm>
            <a:off x="365760" y="6473952"/>
            <a:ext cx="5029200" cy="274320"/>
          </a:xfrm>
          <a:prstGeom prst="rect">
            <a:avLst/>
          </a:prstGeom>
          <a:noFill/>
          <a:ln/>
        </p:spPr>
        <p:txBody>
          <a:bodyPr wrap="square" rtlCol="0" anchor="ctr"/>
          <a:lstStyle/>
          <a:p>
            <a:pPr algn="l" indent="0" marL="0">
              <a:buNone/>
            </a:pPr>
            <a:r>
              <a:rPr lang="en-US" sz="900" spc="100" kern="0" dirty="0">
                <a:solidFill>
                  <a:srgbClr val="6B7A72"/>
                </a:solidFill>
                <a:latin typeface="Calibri" pitchFamily="34" charset="0"/>
                <a:ea typeface="Calibri" pitchFamily="34" charset="-122"/>
                <a:cs typeface="Calibri" pitchFamily="34" charset="-120"/>
              </a:rPr>
              <a:t>PROCUREMENT &amp; ENVIRONMENT PIPELINE</a:t>
            </a:r>
            <a:endParaRPr lang="en-US" sz="900" dirty="0"/>
          </a:p>
        </p:txBody>
      </p:sp>
      <p:sp>
        <p:nvSpPr>
          <p:cNvPr id="4" name="Text 2"/>
          <p:cNvSpPr txBox="1"/>
          <p:nvPr/>
        </p:nvSpPr>
        <p:spPr>
          <a:xfrm>
            <a:off x="365760" y="347472"/>
            <a:ext cx="11430000" cy="868680"/>
          </a:xfrm>
          <a:prstGeom prst="rect">
            <a:avLst/>
          </a:prstGeom>
          <a:noFill/>
          <a:ln/>
        </p:spPr>
        <p:txBody>
          <a:bodyPr wrap="square" lIns="0" tIns="0" rIns="0" bIns="0" rtlCol="0" anchor="t"/>
          <a:lstStyle/>
          <a:p>
            <a:pPr algn="l" indent="0" marL="0">
              <a:lnSpc>
                <a:spcPct val="100000"/>
              </a:lnSpc>
              <a:buNone/>
            </a:pPr>
            <a:r>
              <a:rPr lang="en-US" sz="3500" b="1" dirty="0">
                <a:solidFill>
                  <a:srgbClr val="26352F"/>
                </a:solidFill>
                <a:latin typeface="Calibri" pitchFamily="34" charset="0"/>
                <a:ea typeface="Calibri" pitchFamily="34" charset="-122"/>
                <a:cs typeface="Calibri" pitchFamily="34" charset="-120"/>
              </a:rPr>
              <a:t>From MVP to Regional Decision Support</a:t>
            </a:r>
            <a:endParaRPr lang="en-US" sz="3500" dirty="0"/>
          </a:p>
        </p:txBody>
      </p:sp>
      <p:sp>
        <p:nvSpPr>
          <p:cNvPr id="5" name="Shape 3"/>
          <p:cNvSpPr/>
          <p:nvPr/>
        </p:nvSpPr>
        <p:spPr>
          <a:xfrm>
            <a:off x="365760" y="1207008"/>
            <a:ext cx="2331720" cy="457200"/>
          </a:xfrm>
          <a:prstGeom prst="roundRect">
            <a:avLst>
              <a:gd name="adj" fmla="val 50000"/>
            </a:avLst>
          </a:prstGeom>
          <a:solidFill>
            <a:srgbClr val="E8E5DF"/>
          </a:solidFill>
          <a:ln/>
        </p:spPr>
      </p:sp>
      <p:sp>
        <p:nvSpPr>
          <p:cNvPr id="6" name="Text 4"/>
          <p:cNvSpPr txBox="1"/>
          <p:nvPr/>
        </p:nvSpPr>
        <p:spPr>
          <a:xfrm>
            <a:off x="365760" y="1207008"/>
            <a:ext cx="2331720" cy="457200"/>
          </a:xfrm>
          <a:prstGeom prst="rect">
            <a:avLst/>
          </a:prstGeom>
          <a:noFill/>
          <a:ln/>
        </p:spPr>
        <p:txBody>
          <a:bodyPr wrap="square" lIns="0" tIns="0" rIns="0" bIns="0" rtlCol="0" anchor="ctr"/>
          <a:lstStyle/>
          <a:p>
            <a:pPr algn="ctr" indent="0" marL="0">
              <a:buNone/>
            </a:pPr>
            <a:r>
              <a:rPr lang="en-US" sz="1600" b="1" dirty="0">
                <a:solidFill>
                  <a:srgbClr val="26352F"/>
                </a:solidFill>
                <a:latin typeface="Calibri" pitchFamily="34" charset="0"/>
                <a:ea typeface="Calibri" pitchFamily="34" charset="-122"/>
                <a:cs typeface="Calibri" pitchFamily="34" charset="-120"/>
              </a:rPr>
              <a:t>Open EU data</a:t>
            </a:r>
            <a:endParaRPr lang="en-US" sz="1600" dirty="0"/>
          </a:p>
        </p:txBody>
      </p:sp>
      <p:sp>
        <p:nvSpPr>
          <p:cNvPr id="7" name="Text 5"/>
          <p:cNvSpPr txBox="1"/>
          <p:nvPr/>
        </p:nvSpPr>
        <p:spPr>
          <a:xfrm>
            <a:off x="2697480" y="1207008"/>
            <a:ext cx="228600" cy="457200"/>
          </a:xfrm>
          <a:prstGeom prst="rect">
            <a:avLst/>
          </a:prstGeom>
          <a:noFill/>
          <a:ln/>
        </p:spPr>
        <p:txBody>
          <a:bodyPr wrap="square" lIns="0" tIns="0" rIns="0" bIns="0" rtlCol="0" anchor="ctr"/>
          <a:lstStyle/>
          <a:p>
            <a:pPr algn="ctr" indent="0" marL="0">
              <a:buNone/>
            </a:pPr>
            <a:r>
              <a:rPr lang="en-US" sz="2000" b="1" dirty="0">
                <a:solidFill>
                  <a:srgbClr val="9969A8"/>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926080" y="1207008"/>
            <a:ext cx="3246120" cy="457200"/>
          </a:xfrm>
          <a:prstGeom prst="roundRect">
            <a:avLst>
              <a:gd name="adj" fmla="val 50000"/>
            </a:avLst>
          </a:prstGeom>
          <a:solidFill>
            <a:srgbClr val="E8E5DF"/>
          </a:solidFill>
          <a:ln/>
        </p:spPr>
      </p:sp>
      <p:sp>
        <p:nvSpPr>
          <p:cNvPr id="9" name="Text 7"/>
          <p:cNvSpPr txBox="1"/>
          <p:nvPr/>
        </p:nvSpPr>
        <p:spPr>
          <a:xfrm>
            <a:off x="2926080" y="1207008"/>
            <a:ext cx="3246120" cy="457200"/>
          </a:xfrm>
          <a:prstGeom prst="rect">
            <a:avLst/>
          </a:prstGeom>
          <a:noFill/>
          <a:ln/>
        </p:spPr>
        <p:txBody>
          <a:bodyPr wrap="square" lIns="0" tIns="0" rIns="0" bIns="0" rtlCol="0" anchor="ctr"/>
          <a:lstStyle/>
          <a:p>
            <a:pPr algn="ctr" indent="0" marL="0">
              <a:buNone/>
            </a:pPr>
            <a:r>
              <a:rPr lang="en-US" sz="1600" b="1" dirty="0">
                <a:solidFill>
                  <a:srgbClr val="26352F"/>
                </a:solidFill>
                <a:latin typeface="Calibri" pitchFamily="34" charset="0"/>
                <a:ea typeface="Calibri" pitchFamily="34" charset="-122"/>
                <a:cs typeface="Calibri" pitchFamily="34" charset="-120"/>
              </a:rPr>
              <a:t>Reproducible cloud pipeline</a:t>
            </a:r>
            <a:endParaRPr lang="en-US" sz="1600" dirty="0"/>
          </a:p>
        </p:txBody>
      </p:sp>
      <p:sp>
        <p:nvSpPr>
          <p:cNvPr id="10" name="Text 8"/>
          <p:cNvSpPr txBox="1"/>
          <p:nvPr/>
        </p:nvSpPr>
        <p:spPr>
          <a:xfrm>
            <a:off x="6172200" y="1207008"/>
            <a:ext cx="228600" cy="457200"/>
          </a:xfrm>
          <a:prstGeom prst="rect">
            <a:avLst/>
          </a:prstGeom>
          <a:noFill/>
          <a:ln/>
        </p:spPr>
        <p:txBody>
          <a:bodyPr wrap="square" lIns="0" tIns="0" rIns="0" bIns="0" rtlCol="0" anchor="ctr"/>
          <a:lstStyle/>
          <a:p>
            <a:pPr algn="ctr" indent="0" marL="0">
              <a:buNone/>
            </a:pPr>
            <a:r>
              <a:rPr lang="en-US" sz="2000" b="1" dirty="0">
                <a:solidFill>
                  <a:srgbClr val="9969A8"/>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6400800" y="1207008"/>
            <a:ext cx="3246120" cy="457200"/>
          </a:xfrm>
          <a:prstGeom prst="roundRect">
            <a:avLst>
              <a:gd name="adj" fmla="val 50000"/>
            </a:avLst>
          </a:prstGeom>
          <a:solidFill>
            <a:srgbClr val="E8E5DF"/>
          </a:solidFill>
          <a:ln/>
        </p:spPr>
      </p:sp>
      <p:sp>
        <p:nvSpPr>
          <p:cNvPr id="12" name="Text 10"/>
          <p:cNvSpPr txBox="1"/>
          <p:nvPr/>
        </p:nvSpPr>
        <p:spPr>
          <a:xfrm>
            <a:off x="6400800" y="1207008"/>
            <a:ext cx="3246120" cy="457200"/>
          </a:xfrm>
          <a:prstGeom prst="rect">
            <a:avLst/>
          </a:prstGeom>
          <a:noFill/>
          <a:ln/>
        </p:spPr>
        <p:txBody>
          <a:bodyPr wrap="square" lIns="0" tIns="0" rIns="0" bIns="0" rtlCol="0" anchor="ctr"/>
          <a:lstStyle/>
          <a:p>
            <a:pPr algn="ctr" indent="0" marL="0">
              <a:buNone/>
            </a:pPr>
            <a:r>
              <a:rPr lang="en-US" sz="1600" b="1" dirty="0">
                <a:solidFill>
                  <a:srgbClr val="26352F"/>
                </a:solidFill>
                <a:latin typeface="Calibri" pitchFamily="34" charset="0"/>
                <a:ea typeface="Calibri" pitchFamily="34" charset="-122"/>
                <a:cs typeface="Calibri" pitchFamily="34" charset="-120"/>
              </a:rPr>
              <a:t>Regional analytical context</a:t>
            </a:r>
            <a:endParaRPr lang="en-US" sz="1600" dirty="0"/>
          </a:p>
        </p:txBody>
      </p:sp>
      <p:sp>
        <p:nvSpPr>
          <p:cNvPr id="13" name="Text 11"/>
          <p:cNvSpPr txBox="1"/>
          <p:nvPr/>
        </p:nvSpPr>
        <p:spPr>
          <a:xfrm>
            <a:off x="9646920" y="1207008"/>
            <a:ext cx="228600" cy="457200"/>
          </a:xfrm>
          <a:prstGeom prst="rect">
            <a:avLst/>
          </a:prstGeom>
          <a:noFill/>
          <a:ln/>
        </p:spPr>
        <p:txBody>
          <a:bodyPr wrap="square" lIns="0" tIns="0" rIns="0" bIns="0" rtlCol="0" anchor="ctr"/>
          <a:lstStyle/>
          <a:p>
            <a:pPr algn="ctr" indent="0" marL="0">
              <a:buNone/>
            </a:pPr>
            <a:r>
              <a:rPr lang="en-US" sz="2000" b="1" dirty="0">
                <a:solidFill>
                  <a:srgbClr val="9969A8"/>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9875520" y="1207008"/>
            <a:ext cx="2331720" cy="457200"/>
          </a:xfrm>
          <a:prstGeom prst="roundRect">
            <a:avLst>
              <a:gd name="adj" fmla="val 50000"/>
            </a:avLst>
          </a:prstGeom>
          <a:solidFill>
            <a:srgbClr val="9969A8"/>
          </a:solidFill>
          <a:ln/>
        </p:spPr>
      </p:sp>
      <p:sp>
        <p:nvSpPr>
          <p:cNvPr id="15" name="Text 13"/>
          <p:cNvSpPr txBox="1"/>
          <p:nvPr/>
        </p:nvSpPr>
        <p:spPr>
          <a:xfrm>
            <a:off x="9875520" y="1207008"/>
            <a:ext cx="23317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Local dashboard</a:t>
            </a:r>
            <a:endParaRPr lang="en-US" sz="1600" dirty="0"/>
          </a:p>
        </p:txBody>
      </p:sp>
      <p:sp>
        <p:nvSpPr>
          <p:cNvPr id="16" name="Text 14"/>
          <p:cNvSpPr txBox="1"/>
          <p:nvPr/>
        </p:nvSpPr>
        <p:spPr>
          <a:xfrm>
            <a:off x="365760" y="1938528"/>
            <a:ext cx="5486400" cy="274320"/>
          </a:xfrm>
          <a:prstGeom prst="rect">
            <a:avLst/>
          </a:prstGeom>
          <a:noFill/>
          <a:ln/>
        </p:spPr>
        <p:txBody>
          <a:bodyPr wrap="square" lIns="0" tIns="0" rIns="0" bIns="0" rtlCol="0" anchor="ctr"/>
          <a:lstStyle/>
          <a:p>
            <a:pPr indent="0" marL="0">
              <a:buNone/>
            </a:pPr>
            <a:r>
              <a:rPr lang="en-US" sz="1600" b="1" spc="150" kern="0" dirty="0">
                <a:solidFill>
                  <a:srgbClr val="9969A8"/>
                </a:solidFill>
                <a:latin typeface="Calibri" pitchFamily="34" charset="0"/>
                <a:ea typeface="Calibri" pitchFamily="34" charset="-122"/>
                <a:cs typeface="Calibri" pitchFamily="34" charset="-120"/>
              </a:rPr>
              <a:t>NEXT STEPS</a:t>
            </a:r>
            <a:endParaRPr lang="en-US" sz="1600" dirty="0"/>
          </a:p>
        </p:txBody>
      </p:sp>
      <p:sp>
        <p:nvSpPr>
          <p:cNvPr id="17" name="Text 15"/>
          <p:cNvSpPr txBox="1"/>
          <p:nvPr/>
        </p:nvSpPr>
        <p:spPr>
          <a:xfrm>
            <a:off x="365760" y="2267712"/>
            <a:ext cx="5486400" cy="310896"/>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Add more countries</a:t>
            </a:r>
            <a:endParaRPr lang="en-US" sz="1600" dirty="0"/>
          </a:p>
        </p:txBody>
      </p:sp>
      <p:sp>
        <p:nvSpPr>
          <p:cNvPr id="18" name="Text 16"/>
          <p:cNvSpPr txBox="1"/>
          <p:nvPr/>
        </p:nvSpPr>
        <p:spPr>
          <a:xfrm>
            <a:off x="6309360" y="2267712"/>
            <a:ext cx="5486400" cy="310896"/>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Complete NO₂ · O₃ · SO₂ coverage</a:t>
            </a:r>
            <a:endParaRPr lang="en-US" sz="1600" dirty="0"/>
          </a:p>
        </p:txBody>
      </p:sp>
      <p:sp>
        <p:nvSpPr>
          <p:cNvPr id="19" name="Text 17"/>
          <p:cNvSpPr txBox="1"/>
          <p:nvPr/>
        </p:nvSpPr>
        <p:spPr>
          <a:xfrm>
            <a:off x="365760" y="2596896"/>
            <a:ext cx="5486400" cy="310896"/>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Add NUTS map visualizations</a:t>
            </a:r>
            <a:endParaRPr lang="en-US" sz="1600" dirty="0"/>
          </a:p>
        </p:txBody>
      </p:sp>
      <p:sp>
        <p:nvSpPr>
          <p:cNvPr id="20" name="Text 18"/>
          <p:cNvSpPr txBox="1"/>
          <p:nvPr/>
        </p:nvSpPr>
        <p:spPr>
          <a:xfrm>
            <a:off x="6309360" y="2596896"/>
            <a:ext cx="5486400" cy="310896"/>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Strengthen data-quality monitoring</a:t>
            </a:r>
            <a:endParaRPr lang="en-US" sz="1600" dirty="0"/>
          </a:p>
        </p:txBody>
      </p:sp>
      <p:sp>
        <p:nvSpPr>
          <p:cNvPr id="21" name="Text 19"/>
          <p:cNvSpPr txBox="1"/>
          <p:nvPr/>
        </p:nvSpPr>
        <p:spPr>
          <a:xfrm>
            <a:off x="365760" y="2926080"/>
            <a:ext cx="5486400" cy="310896"/>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Test cross-source regional consistency</a:t>
            </a:r>
            <a:endParaRPr lang="en-US" sz="1600" dirty="0"/>
          </a:p>
        </p:txBody>
      </p:sp>
      <p:sp>
        <p:nvSpPr>
          <p:cNvPr id="22" name="Text 20"/>
          <p:cNvSpPr txBox="1"/>
          <p:nvPr/>
        </p:nvSpPr>
        <p:spPr>
          <a:xfrm>
            <a:off x="6309360" y="2926080"/>
            <a:ext cx="5486400" cy="310896"/>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Add water and soil indicators</a:t>
            </a:r>
            <a:endParaRPr lang="en-US" sz="1600" dirty="0"/>
          </a:p>
        </p:txBody>
      </p:sp>
      <p:sp>
        <p:nvSpPr>
          <p:cNvPr id="23" name="Text 21"/>
          <p:cNvSpPr txBox="1"/>
          <p:nvPr/>
        </p:nvSpPr>
        <p:spPr>
          <a:xfrm>
            <a:off x="365760" y="3255264"/>
            <a:ext cx="5486400" cy="310896"/>
          </a:xfrm>
          <a:prstGeom prst="rect">
            <a:avLst/>
          </a:prstGeom>
          <a:noFill/>
          <a:ln/>
        </p:spPr>
        <p:txBody>
          <a:bodyPr wrap="square" lIns="0" tIns="0" rIns="0" bIns="0" rtlCol="0" anchor="ctr"/>
          <a:lstStyle/>
          <a:p>
            <a:pPr indent="0" marL="0">
              <a:buNone/>
            </a:pPr>
            <a:r>
              <a:rPr lang="en-US" sz="1600" dirty="0">
                <a:solidFill>
                  <a:srgbClr val="26352F"/>
                </a:solidFill>
                <a:latin typeface="Calibri" pitchFamily="34" charset="0"/>
                <a:ea typeface="Calibri" pitchFamily="34" charset="-122"/>
                <a:cs typeface="Calibri" pitchFamily="34" charset="-120"/>
              </a:rPr>
              <a:t>•  Deepen procurement-domain validation</a:t>
            </a:r>
            <a:endParaRPr lang="en-US" sz="1600" dirty="0"/>
          </a:p>
        </p:txBody>
      </p:sp>
      <p:sp>
        <p:nvSpPr>
          <p:cNvPr id="24" name="Shape 22"/>
          <p:cNvSpPr/>
          <p:nvPr/>
        </p:nvSpPr>
        <p:spPr>
          <a:xfrm>
            <a:off x="365760" y="5074920"/>
            <a:ext cx="6949440" cy="1051560"/>
          </a:xfrm>
          <a:prstGeom prst="roundRect">
            <a:avLst>
              <a:gd name="adj" fmla="val 10435"/>
            </a:avLst>
          </a:prstGeom>
          <a:solidFill>
            <a:srgbClr val="D9C7F2"/>
          </a:solidFill>
          <a:ln/>
        </p:spPr>
      </p:sp>
      <p:sp>
        <p:nvSpPr>
          <p:cNvPr id="25" name="Text 23"/>
          <p:cNvSpPr txBox="1"/>
          <p:nvPr/>
        </p:nvSpPr>
        <p:spPr>
          <a:xfrm>
            <a:off x="594360" y="5074920"/>
            <a:ext cx="6492240" cy="1051560"/>
          </a:xfrm>
          <a:prstGeom prst="rect">
            <a:avLst/>
          </a:prstGeom>
          <a:noFill/>
          <a:ln/>
        </p:spPr>
        <p:txBody>
          <a:bodyPr wrap="square" lIns="0" tIns="0" rIns="0" bIns="0" rtlCol="0" anchor="ctr"/>
          <a:lstStyle/>
          <a:p>
            <a:pPr indent="0" marL="0">
              <a:lnSpc>
                <a:spcPct val="115000"/>
              </a:lnSpc>
              <a:buNone/>
            </a:pPr>
            <a:r>
              <a:rPr lang="en-US" sz="2600" b="1" dirty="0">
                <a:solidFill>
                  <a:srgbClr val="26352F"/>
                </a:solidFill>
                <a:latin typeface="Calibri" pitchFamily="34" charset="0"/>
                <a:ea typeface="Calibri" pitchFamily="34" charset="-122"/>
                <a:cs typeface="Calibri" pitchFamily="34" charset="-120"/>
              </a:rPr>
              <a:t>Better evidence for</a:t>
            </a:r>
            <a:endParaRPr lang="en-US" sz="2600" dirty="0"/>
          </a:p>
          <a:p>
            <a:pPr indent="0" marL="0">
              <a:lnSpc>
                <a:spcPct val="115000"/>
              </a:lnSpc>
              <a:buNone/>
            </a:pPr>
            <a:r>
              <a:rPr lang="en-US" sz="2600" b="1" dirty="0">
                <a:solidFill>
                  <a:srgbClr val="26352F"/>
                </a:solidFill>
                <a:latin typeface="Calibri" pitchFamily="34" charset="0"/>
                <a:ea typeface="Calibri" pitchFamily="34" charset="-122"/>
                <a:cs typeface="Calibri" pitchFamily="34" charset="-120"/>
              </a:rPr>
              <a:t>better regional decisions</a:t>
            </a:r>
            <a:endParaRPr lang="en-US" sz="2600" dirty="0"/>
          </a:p>
        </p:txBody>
      </p:sp>
      <p:sp>
        <p:nvSpPr>
          <p:cNvPr id="26" name="Shape 24"/>
          <p:cNvSpPr/>
          <p:nvPr/>
        </p:nvSpPr>
        <p:spPr>
          <a:xfrm>
            <a:off x="7452360" y="5074920"/>
            <a:ext cx="1737360" cy="1051560"/>
          </a:xfrm>
          <a:prstGeom prst="roundRect">
            <a:avLst>
              <a:gd name="adj" fmla="val 8696"/>
            </a:avLst>
          </a:prstGeom>
          <a:solidFill>
            <a:srgbClr val="FFFFFF"/>
          </a:solidFill>
          <a:ln w="12700">
            <a:solidFill>
              <a:srgbClr val="D8D3C6"/>
            </a:solidFill>
            <a:prstDash val="solid"/>
          </a:ln>
        </p:spPr>
      </p:sp>
      <p:sp>
        <p:nvSpPr>
          <p:cNvPr id="27" name="Text 25"/>
          <p:cNvSpPr txBox="1"/>
          <p:nvPr/>
        </p:nvSpPr>
        <p:spPr>
          <a:xfrm>
            <a:off x="7452360" y="5129784"/>
            <a:ext cx="1737360" cy="201168"/>
          </a:xfrm>
          <a:prstGeom prst="rect">
            <a:avLst/>
          </a:prstGeom>
          <a:noFill/>
          <a:ln/>
        </p:spPr>
        <p:txBody>
          <a:bodyPr wrap="square" lIns="0" tIns="0" rIns="0" bIns="0" rtlCol="0" anchor="ctr"/>
          <a:lstStyle/>
          <a:p>
            <a:pPr algn="ctr" indent="0" marL="0">
              <a:buNone/>
            </a:pPr>
            <a:r>
              <a:rPr lang="en-US" sz="1600" b="1" dirty="0">
                <a:solidFill>
                  <a:srgbClr val="26352F"/>
                </a:solidFill>
                <a:latin typeface="Calibri" pitchFamily="34" charset="0"/>
                <a:ea typeface="Calibri" pitchFamily="34" charset="-122"/>
                <a:cs typeface="Calibri" pitchFamily="34" charset="-120"/>
              </a:rPr>
              <a:t>GitHub</a:t>
            </a:r>
            <a:endParaRPr lang="en-US" sz="1600" dirty="0"/>
          </a:p>
        </p:txBody>
      </p:sp>
      <p:sp>
        <p:nvSpPr>
          <p:cNvPr id="28" name="Shape 26"/>
          <p:cNvSpPr/>
          <p:nvPr/>
        </p:nvSpPr>
        <p:spPr>
          <a:xfrm>
            <a:off x="7964424" y="5349240"/>
            <a:ext cx="713232" cy="713232"/>
          </a:xfrm>
          <a:prstGeom prst="rect">
            <a:avLst/>
          </a:prstGeom>
          <a:solidFill>
            <a:srgbClr val="FFFFFF"/>
          </a:solidFill>
          <a:ln w="12700">
            <a:solidFill>
              <a:srgbClr val="315B4C"/>
            </a:solidFill>
            <a:prstDash val="solid"/>
          </a:ln>
        </p:spPr>
      </p:sp>
      <p:sp>
        <p:nvSpPr>
          <p:cNvPr id="29" name="Shape 27"/>
          <p:cNvSpPr/>
          <p:nvPr/>
        </p:nvSpPr>
        <p:spPr>
          <a:xfrm>
            <a:off x="7964424" y="5349240"/>
            <a:ext cx="142646" cy="142646"/>
          </a:xfrm>
          <a:prstGeom prst="rect">
            <a:avLst/>
          </a:prstGeom>
          <a:solidFill>
            <a:srgbClr val="315B4C"/>
          </a:solidFill>
          <a:ln/>
        </p:spPr>
      </p:sp>
      <p:sp>
        <p:nvSpPr>
          <p:cNvPr id="30" name="Shape 28"/>
          <p:cNvSpPr/>
          <p:nvPr/>
        </p:nvSpPr>
        <p:spPr>
          <a:xfrm>
            <a:off x="8107070" y="5349240"/>
            <a:ext cx="142646" cy="142646"/>
          </a:xfrm>
          <a:prstGeom prst="rect">
            <a:avLst/>
          </a:prstGeom>
          <a:solidFill>
            <a:srgbClr val="315B4C"/>
          </a:solidFill>
          <a:ln/>
        </p:spPr>
      </p:sp>
      <p:sp>
        <p:nvSpPr>
          <p:cNvPr id="31" name="Shape 29"/>
          <p:cNvSpPr/>
          <p:nvPr/>
        </p:nvSpPr>
        <p:spPr>
          <a:xfrm>
            <a:off x="8249717" y="5349240"/>
            <a:ext cx="142646" cy="142646"/>
          </a:xfrm>
          <a:prstGeom prst="rect">
            <a:avLst/>
          </a:prstGeom>
          <a:solidFill>
            <a:srgbClr val="315B4C"/>
          </a:solidFill>
          <a:ln/>
        </p:spPr>
      </p:sp>
      <p:sp>
        <p:nvSpPr>
          <p:cNvPr id="32" name="Shape 30"/>
          <p:cNvSpPr/>
          <p:nvPr/>
        </p:nvSpPr>
        <p:spPr>
          <a:xfrm>
            <a:off x="8535010" y="5349240"/>
            <a:ext cx="142646" cy="142646"/>
          </a:xfrm>
          <a:prstGeom prst="rect">
            <a:avLst/>
          </a:prstGeom>
          <a:solidFill>
            <a:srgbClr val="315B4C"/>
          </a:solidFill>
          <a:ln/>
        </p:spPr>
      </p:sp>
      <p:sp>
        <p:nvSpPr>
          <p:cNvPr id="33" name="Shape 31"/>
          <p:cNvSpPr/>
          <p:nvPr/>
        </p:nvSpPr>
        <p:spPr>
          <a:xfrm>
            <a:off x="7964424" y="5491886"/>
            <a:ext cx="142646" cy="142646"/>
          </a:xfrm>
          <a:prstGeom prst="rect">
            <a:avLst/>
          </a:prstGeom>
          <a:solidFill>
            <a:srgbClr val="315B4C"/>
          </a:solidFill>
          <a:ln/>
        </p:spPr>
      </p:sp>
      <p:sp>
        <p:nvSpPr>
          <p:cNvPr id="34" name="Shape 32"/>
          <p:cNvSpPr/>
          <p:nvPr/>
        </p:nvSpPr>
        <p:spPr>
          <a:xfrm>
            <a:off x="8249717" y="5491886"/>
            <a:ext cx="142646" cy="142646"/>
          </a:xfrm>
          <a:prstGeom prst="rect">
            <a:avLst/>
          </a:prstGeom>
          <a:solidFill>
            <a:srgbClr val="315B4C"/>
          </a:solidFill>
          <a:ln/>
        </p:spPr>
      </p:sp>
      <p:sp>
        <p:nvSpPr>
          <p:cNvPr id="35" name="Shape 33"/>
          <p:cNvSpPr/>
          <p:nvPr/>
        </p:nvSpPr>
        <p:spPr>
          <a:xfrm>
            <a:off x="7964424" y="5634533"/>
            <a:ext cx="142646" cy="142646"/>
          </a:xfrm>
          <a:prstGeom prst="rect">
            <a:avLst/>
          </a:prstGeom>
          <a:solidFill>
            <a:srgbClr val="315B4C"/>
          </a:solidFill>
          <a:ln/>
        </p:spPr>
      </p:sp>
      <p:sp>
        <p:nvSpPr>
          <p:cNvPr id="36" name="Shape 34"/>
          <p:cNvSpPr/>
          <p:nvPr/>
        </p:nvSpPr>
        <p:spPr>
          <a:xfrm>
            <a:off x="8107070" y="5634533"/>
            <a:ext cx="142646" cy="142646"/>
          </a:xfrm>
          <a:prstGeom prst="rect">
            <a:avLst/>
          </a:prstGeom>
          <a:solidFill>
            <a:srgbClr val="315B4C"/>
          </a:solidFill>
          <a:ln/>
        </p:spPr>
      </p:sp>
      <p:sp>
        <p:nvSpPr>
          <p:cNvPr id="37" name="Shape 35"/>
          <p:cNvSpPr/>
          <p:nvPr/>
        </p:nvSpPr>
        <p:spPr>
          <a:xfrm>
            <a:off x="8392363" y="5634533"/>
            <a:ext cx="142646" cy="142646"/>
          </a:xfrm>
          <a:prstGeom prst="rect">
            <a:avLst/>
          </a:prstGeom>
          <a:solidFill>
            <a:srgbClr val="315B4C"/>
          </a:solidFill>
          <a:ln/>
        </p:spPr>
      </p:sp>
      <p:sp>
        <p:nvSpPr>
          <p:cNvPr id="38" name="Shape 36"/>
          <p:cNvSpPr/>
          <p:nvPr/>
        </p:nvSpPr>
        <p:spPr>
          <a:xfrm>
            <a:off x="8535010" y="5634533"/>
            <a:ext cx="142646" cy="142646"/>
          </a:xfrm>
          <a:prstGeom prst="rect">
            <a:avLst/>
          </a:prstGeom>
          <a:solidFill>
            <a:srgbClr val="315B4C"/>
          </a:solidFill>
          <a:ln/>
        </p:spPr>
      </p:sp>
      <p:sp>
        <p:nvSpPr>
          <p:cNvPr id="39" name="Shape 37"/>
          <p:cNvSpPr/>
          <p:nvPr/>
        </p:nvSpPr>
        <p:spPr>
          <a:xfrm>
            <a:off x="8249717" y="5777179"/>
            <a:ext cx="142646" cy="142646"/>
          </a:xfrm>
          <a:prstGeom prst="rect">
            <a:avLst/>
          </a:prstGeom>
          <a:solidFill>
            <a:srgbClr val="315B4C"/>
          </a:solidFill>
          <a:ln/>
        </p:spPr>
      </p:sp>
      <p:sp>
        <p:nvSpPr>
          <p:cNvPr id="40" name="Shape 38"/>
          <p:cNvSpPr/>
          <p:nvPr/>
        </p:nvSpPr>
        <p:spPr>
          <a:xfrm>
            <a:off x="8535010" y="5777179"/>
            <a:ext cx="142646" cy="142646"/>
          </a:xfrm>
          <a:prstGeom prst="rect">
            <a:avLst/>
          </a:prstGeom>
          <a:solidFill>
            <a:srgbClr val="315B4C"/>
          </a:solidFill>
          <a:ln/>
        </p:spPr>
      </p:sp>
      <p:sp>
        <p:nvSpPr>
          <p:cNvPr id="41" name="Shape 39"/>
          <p:cNvSpPr/>
          <p:nvPr/>
        </p:nvSpPr>
        <p:spPr>
          <a:xfrm>
            <a:off x="7964424" y="5919826"/>
            <a:ext cx="142646" cy="142646"/>
          </a:xfrm>
          <a:prstGeom prst="rect">
            <a:avLst/>
          </a:prstGeom>
          <a:solidFill>
            <a:srgbClr val="315B4C"/>
          </a:solidFill>
          <a:ln/>
        </p:spPr>
      </p:sp>
      <p:sp>
        <p:nvSpPr>
          <p:cNvPr id="42" name="Shape 40"/>
          <p:cNvSpPr/>
          <p:nvPr/>
        </p:nvSpPr>
        <p:spPr>
          <a:xfrm>
            <a:off x="8249717" y="5919826"/>
            <a:ext cx="142646" cy="142646"/>
          </a:xfrm>
          <a:prstGeom prst="rect">
            <a:avLst/>
          </a:prstGeom>
          <a:solidFill>
            <a:srgbClr val="315B4C"/>
          </a:solidFill>
          <a:ln/>
        </p:spPr>
      </p:sp>
      <p:sp>
        <p:nvSpPr>
          <p:cNvPr id="43" name="Shape 41"/>
          <p:cNvSpPr/>
          <p:nvPr/>
        </p:nvSpPr>
        <p:spPr>
          <a:xfrm>
            <a:off x="8392363" y="5919826"/>
            <a:ext cx="142646" cy="142646"/>
          </a:xfrm>
          <a:prstGeom prst="rect">
            <a:avLst/>
          </a:prstGeom>
          <a:solidFill>
            <a:srgbClr val="315B4C"/>
          </a:solidFill>
          <a:ln/>
        </p:spPr>
      </p:sp>
      <p:sp>
        <p:nvSpPr>
          <p:cNvPr id="44" name="Shape 42"/>
          <p:cNvSpPr/>
          <p:nvPr/>
        </p:nvSpPr>
        <p:spPr>
          <a:xfrm>
            <a:off x="8535010" y="5919826"/>
            <a:ext cx="142646" cy="142646"/>
          </a:xfrm>
          <a:prstGeom prst="rect">
            <a:avLst/>
          </a:prstGeom>
          <a:solidFill>
            <a:srgbClr val="315B4C"/>
          </a:solidFill>
          <a:ln/>
        </p:spPr>
      </p:sp>
      <p:sp>
        <p:nvSpPr>
          <p:cNvPr id="45" name="Shape 43"/>
          <p:cNvSpPr/>
          <p:nvPr/>
        </p:nvSpPr>
        <p:spPr>
          <a:xfrm>
            <a:off x="9372600" y="5074920"/>
            <a:ext cx="1737360" cy="1051560"/>
          </a:xfrm>
          <a:prstGeom prst="roundRect">
            <a:avLst>
              <a:gd name="adj" fmla="val 8696"/>
            </a:avLst>
          </a:prstGeom>
          <a:solidFill>
            <a:srgbClr val="FFFFFF"/>
          </a:solidFill>
          <a:ln w="12700">
            <a:solidFill>
              <a:srgbClr val="D8D3C6"/>
            </a:solidFill>
            <a:prstDash val="solid"/>
          </a:ln>
        </p:spPr>
      </p:sp>
      <p:sp>
        <p:nvSpPr>
          <p:cNvPr id="46" name="Text 44"/>
          <p:cNvSpPr txBox="1"/>
          <p:nvPr/>
        </p:nvSpPr>
        <p:spPr>
          <a:xfrm>
            <a:off x="9372600" y="5129784"/>
            <a:ext cx="1737360" cy="201168"/>
          </a:xfrm>
          <a:prstGeom prst="rect">
            <a:avLst/>
          </a:prstGeom>
          <a:noFill/>
          <a:ln/>
        </p:spPr>
        <p:txBody>
          <a:bodyPr wrap="square" lIns="0" tIns="0" rIns="0" bIns="0" rtlCol="0" anchor="ctr"/>
          <a:lstStyle/>
          <a:p>
            <a:pPr algn="ctr" indent="0" marL="0">
              <a:buNone/>
            </a:pPr>
            <a:r>
              <a:rPr lang="en-US" sz="1600" b="1" dirty="0">
                <a:solidFill>
                  <a:srgbClr val="26352F"/>
                </a:solidFill>
                <a:latin typeface="Calibri" pitchFamily="34" charset="0"/>
                <a:ea typeface="Calibri" pitchFamily="34" charset="-122"/>
                <a:cs typeface="Calibri" pitchFamily="34" charset="-120"/>
              </a:rPr>
              <a:t>LinkedIn</a:t>
            </a:r>
            <a:endParaRPr lang="en-US" sz="1600" dirty="0"/>
          </a:p>
        </p:txBody>
      </p:sp>
      <p:sp>
        <p:nvSpPr>
          <p:cNvPr id="47" name="Shape 45"/>
          <p:cNvSpPr/>
          <p:nvPr/>
        </p:nvSpPr>
        <p:spPr>
          <a:xfrm>
            <a:off x="9884664" y="5349240"/>
            <a:ext cx="713232" cy="713232"/>
          </a:xfrm>
          <a:prstGeom prst="rect">
            <a:avLst/>
          </a:prstGeom>
          <a:solidFill>
            <a:srgbClr val="FFFFFF"/>
          </a:solidFill>
          <a:ln w="12700">
            <a:solidFill>
              <a:srgbClr val="315B4C"/>
            </a:solidFill>
            <a:prstDash val="solid"/>
          </a:ln>
        </p:spPr>
      </p:sp>
      <p:sp>
        <p:nvSpPr>
          <p:cNvPr id="48" name="Shape 46"/>
          <p:cNvSpPr/>
          <p:nvPr/>
        </p:nvSpPr>
        <p:spPr>
          <a:xfrm>
            <a:off x="9884664" y="5349240"/>
            <a:ext cx="142646" cy="142646"/>
          </a:xfrm>
          <a:prstGeom prst="rect">
            <a:avLst/>
          </a:prstGeom>
          <a:solidFill>
            <a:srgbClr val="315B4C"/>
          </a:solidFill>
          <a:ln/>
        </p:spPr>
      </p:sp>
      <p:sp>
        <p:nvSpPr>
          <p:cNvPr id="49" name="Shape 47"/>
          <p:cNvSpPr/>
          <p:nvPr/>
        </p:nvSpPr>
        <p:spPr>
          <a:xfrm>
            <a:off x="10027310" y="5349240"/>
            <a:ext cx="142646" cy="142646"/>
          </a:xfrm>
          <a:prstGeom prst="rect">
            <a:avLst/>
          </a:prstGeom>
          <a:solidFill>
            <a:srgbClr val="315B4C"/>
          </a:solidFill>
          <a:ln/>
        </p:spPr>
      </p:sp>
      <p:sp>
        <p:nvSpPr>
          <p:cNvPr id="50" name="Shape 48"/>
          <p:cNvSpPr/>
          <p:nvPr/>
        </p:nvSpPr>
        <p:spPr>
          <a:xfrm>
            <a:off x="10169957" y="5349240"/>
            <a:ext cx="142646" cy="142646"/>
          </a:xfrm>
          <a:prstGeom prst="rect">
            <a:avLst/>
          </a:prstGeom>
          <a:solidFill>
            <a:srgbClr val="315B4C"/>
          </a:solidFill>
          <a:ln/>
        </p:spPr>
      </p:sp>
      <p:sp>
        <p:nvSpPr>
          <p:cNvPr id="51" name="Shape 49"/>
          <p:cNvSpPr/>
          <p:nvPr/>
        </p:nvSpPr>
        <p:spPr>
          <a:xfrm>
            <a:off x="10455250" y="5349240"/>
            <a:ext cx="142646" cy="142646"/>
          </a:xfrm>
          <a:prstGeom prst="rect">
            <a:avLst/>
          </a:prstGeom>
          <a:solidFill>
            <a:srgbClr val="315B4C"/>
          </a:solidFill>
          <a:ln/>
        </p:spPr>
      </p:sp>
      <p:sp>
        <p:nvSpPr>
          <p:cNvPr id="52" name="Shape 50"/>
          <p:cNvSpPr/>
          <p:nvPr/>
        </p:nvSpPr>
        <p:spPr>
          <a:xfrm>
            <a:off x="9884664" y="5491886"/>
            <a:ext cx="142646" cy="142646"/>
          </a:xfrm>
          <a:prstGeom prst="rect">
            <a:avLst/>
          </a:prstGeom>
          <a:solidFill>
            <a:srgbClr val="315B4C"/>
          </a:solidFill>
          <a:ln/>
        </p:spPr>
      </p:sp>
      <p:sp>
        <p:nvSpPr>
          <p:cNvPr id="53" name="Shape 51"/>
          <p:cNvSpPr/>
          <p:nvPr/>
        </p:nvSpPr>
        <p:spPr>
          <a:xfrm>
            <a:off x="10169957" y="5491886"/>
            <a:ext cx="142646" cy="142646"/>
          </a:xfrm>
          <a:prstGeom prst="rect">
            <a:avLst/>
          </a:prstGeom>
          <a:solidFill>
            <a:srgbClr val="315B4C"/>
          </a:solidFill>
          <a:ln/>
        </p:spPr>
      </p:sp>
      <p:sp>
        <p:nvSpPr>
          <p:cNvPr id="54" name="Shape 52"/>
          <p:cNvSpPr/>
          <p:nvPr/>
        </p:nvSpPr>
        <p:spPr>
          <a:xfrm>
            <a:off x="9884664" y="5634533"/>
            <a:ext cx="142646" cy="142646"/>
          </a:xfrm>
          <a:prstGeom prst="rect">
            <a:avLst/>
          </a:prstGeom>
          <a:solidFill>
            <a:srgbClr val="315B4C"/>
          </a:solidFill>
          <a:ln/>
        </p:spPr>
      </p:sp>
      <p:sp>
        <p:nvSpPr>
          <p:cNvPr id="55" name="Shape 53"/>
          <p:cNvSpPr/>
          <p:nvPr/>
        </p:nvSpPr>
        <p:spPr>
          <a:xfrm>
            <a:off x="10027310" y="5634533"/>
            <a:ext cx="142646" cy="142646"/>
          </a:xfrm>
          <a:prstGeom prst="rect">
            <a:avLst/>
          </a:prstGeom>
          <a:solidFill>
            <a:srgbClr val="315B4C"/>
          </a:solidFill>
          <a:ln/>
        </p:spPr>
      </p:sp>
      <p:sp>
        <p:nvSpPr>
          <p:cNvPr id="56" name="Shape 54"/>
          <p:cNvSpPr/>
          <p:nvPr/>
        </p:nvSpPr>
        <p:spPr>
          <a:xfrm>
            <a:off x="10312603" y="5634533"/>
            <a:ext cx="142646" cy="142646"/>
          </a:xfrm>
          <a:prstGeom prst="rect">
            <a:avLst/>
          </a:prstGeom>
          <a:solidFill>
            <a:srgbClr val="315B4C"/>
          </a:solidFill>
          <a:ln/>
        </p:spPr>
      </p:sp>
      <p:sp>
        <p:nvSpPr>
          <p:cNvPr id="57" name="Shape 55"/>
          <p:cNvSpPr/>
          <p:nvPr/>
        </p:nvSpPr>
        <p:spPr>
          <a:xfrm>
            <a:off x="10455250" y="5634533"/>
            <a:ext cx="142646" cy="142646"/>
          </a:xfrm>
          <a:prstGeom prst="rect">
            <a:avLst/>
          </a:prstGeom>
          <a:solidFill>
            <a:srgbClr val="315B4C"/>
          </a:solidFill>
          <a:ln/>
        </p:spPr>
      </p:sp>
      <p:sp>
        <p:nvSpPr>
          <p:cNvPr id="58" name="Shape 56"/>
          <p:cNvSpPr/>
          <p:nvPr/>
        </p:nvSpPr>
        <p:spPr>
          <a:xfrm>
            <a:off x="10169957" y="5777179"/>
            <a:ext cx="142646" cy="142646"/>
          </a:xfrm>
          <a:prstGeom prst="rect">
            <a:avLst/>
          </a:prstGeom>
          <a:solidFill>
            <a:srgbClr val="315B4C"/>
          </a:solidFill>
          <a:ln/>
        </p:spPr>
      </p:sp>
      <p:sp>
        <p:nvSpPr>
          <p:cNvPr id="59" name="Shape 57"/>
          <p:cNvSpPr/>
          <p:nvPr/>
        </p:nvSpPr>
        <p:spPr>
          <a:xfrm>
            <a:off x="10455250" y="5777179"/>
            <a:ext cx="142646" cy="142646"/>
          </a:xfrm>
          <a:prstGeom prst="rect">
            <a:avLst/>
          </a:prstGeom>
          <a:solidFill>
            <a:srgbClr val="315B4C"/>
          </a:solidFill>
          <a:ln/>
        </p:spPr>
      </p:sp>
      <p:sp>
        <p:nvSpPr>
          <p:cNvPr id="60" name="Shape 58"/>
          <p:cNvSpPr/>
          <p:nvPr/>
        </p:nvSpPr>
        <p:spPr>
          <a:xfrm>
            <a:off x="9884664" y="5919826"/>
            <a:ext cx="142646" cy="142646"/>
          </a:xfrm>
          <a:prstGeom prst="rect">
            <a:avLst/>
          </a:prstGeom>
          <a:solidFill>
            <a:srgbClr val="315B4C"/>
          </a:solidFill>
          <a:ln/>
        </p:spPr>
      </p:sp>
      <p:sp>
        <p:nvSpPr>
          <p:cNvPr id="61" name="Shape 59"/>
          <p:cNvSpPr/>
          <p:nvPr/>
        </p:nvSpPr>
        <p:spPr>
          <a:xfrm>
            <a:off x="10169957" y="5919826"/>
            <a:ext cx="142646" cy="142646"/>
          </a:xfrm>
          <a:prstGeom prst="rect">
            <a:avLst/>
          </a:prstGeom>
          <a:solidFill>
            <a:srgbClr val="315B4C"/>
          </a:solidFill>
          <a:ln/>
        </p:spPr>
      </p:sp>
      <p:sp>
        <p:nvSpPr>
          <p:cNvPr id="62" name="Shape 60"/>
          <p:cNvSpPr/>
          <p:nvPr/>
        </p:nvSpPr>
        <p:spPr>
          <a:xfrm>
            <a:off x="10312603" y="5919826"/>
            <a:ext cx="142646" cy="142646"/>
          </a:xfrm>
          <a:prstGeom prst="rect">
            <a:avLst/>
          </a:prstGeom>
          <a:solidFill>
            <a:srgbClr val="315B4C"/>
          </a:solidFill>
          <a:ln/>
        </p:spPr>
      </p:sp>
      <p:sp>
        <p:nvSpPr>
          <p:cNvPr id="63" name="Shape 61"/>
          <p:cNvSpPr/>
          <p:nvPr/>
        </p:nvSpPr>
        <p:spPr>
          <a:xfrm>
            <a:off x="10455250" y="5919826"/>
            <a:ext cx="142646" cy="142646"/>
          </a:xfrm>
          <a:prstGeom prst="rect">
            <a:avLst/>
          </a:prstGeom>
          <a:solidFill>
            <a:srgbClr val="315B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Procurement &amp; Environment Data Pipeline</dc:title>
  <dc:subject>PptxGenJS Presentation</dc:subject>
  <dc:creator>Procurement &amp; Environment Data Pipeline</dc:creator>
  <cp:lastModifiedBy>Procurement &amp; Environment Data Pipeline</cp:lastModifiedBy>
  <cp:revision>1</cp:revision>
  <dcterms:created xsi:type="dcterms:W3CDTF">2026-08-26T10:34:32Z</dcterms:created>
  <dcterms:modified xsi:type="dcterms:W3CDTF">2026-08-26T10:34:32Z</dcterms:modified>
</cp:coreProperties>
</file>